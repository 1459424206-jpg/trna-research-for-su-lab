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2900" b="1">
                <a:solidFill>
                  <a:srgbClr val="1F2937"/>
                </a:solidFill>
                <a:latin typeface="Microsoft YaHei"/>
              </a:defRPr>
            </a:pPr>
            <a:r>
              <a:t>tRNA 相关湿实验与早期胚胎发育研究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1600" b="0">
                <a:solidFill>
                  <a:srgbClr val="237A5C"/>
                </a:solidFill>
                <a:latin typeface="Microsoft YaHei"/>
              </a:defRPr>
            </a:pPr>
            <a:r>
              <a:t>文献精读、方法整合与可执行实验路线</a:t>
            </a:r>
          </a:p>
        </p:txBody>
      </p:sp>
      <p:sp>
        <p:nvSpPr>
          <p:cNvPr id="4" name="Oval 3"/>
          <p:cNvSpPr/>
          <p:nvPr/>
        </p:nvSpPr>
        <p:spPr>
          <a:xfrm>
            <a:off x="2834640" y="3547872"/>
            <a:ext cx="1554480" cy="768096"/>
          </a:xfrm>
          <a:prstGeom prst="ellipse">
            <a:avLst/>
          </a:prstGeom>
          <a:solidFill>
            <a:srgbClr val="EBF6F1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200" b="1">
                <a:solidFill>
                  <a:srgbClr val="237A5C"/>
                </a:solidFill>
                <a:latin typeface="Microsoft YaHei"/>
              </a:defRPr>
            </a:pPr>
            <a:r>
              <a:t>早期胚胎</a:t>
            </a:r>
            <a:br/>
            <a:r>
              <a:t>翻译重编程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51760" y="2333548"/>
            <a:ext cx="1920240" cy="621792"/>
          </a:xfrm>
          <a:prstGeom prst="roundRect">
            <a:avLst/>
          </a:prstGeom>
          <a:solidFill>
            <a:srgbClr val="F7F9FB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50" b="1">
                <a:solidFill>
                  <a:srgbClr val="1F2937"/>
                </a:solidFill>
                <a:latin typeface="Microsoft YaHei"/>
              </a:defRPr>
            </a:pPr>
            <a:r>
              <a:t>tRNA pool</a:t>
            </a:r>
            <a:br/>
            <a:r>
              <a:t>丰度 / isodecoder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3611880.0" y="2644444.8"/>
            <a:ext cx="0.0" cy="1287475.2000000002"/>
          </a:xfrm>
          <a:prstGeom prst="line">
            <a:avLst/>
          </a:prstGeom>
          <a:ln w="12700">
            <a:solidFill>
              <a:srgbClr val="BD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766746" y="2977286"/>
            <a:ext cx="1920240" cy="621792"/>
          </a:xfrm>
          <a:prstGeom prst="roundRect">
            <a:avLst/>
          </a:prstGeom>
          <a:solidFill>
            <a:srgbClr val="F7F9FB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50" b="1">
                <a:solidFill>
                  <a:srgbClr val="1F2937"/>
                </a:solidFill>
                <a:latin typeface="Microsoft YaHei"/>
              </a:defRPr>
            </a:pPr>
            <a:r>
              <a:t>Modification</a:t>
            </a:r>
            <a:br/>
            <a:r>
              <a:t>m1A / m7G / Ψ / xm5s2U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3611880.0" y="3288182.4"/>
            <a:ext cx="1114986.2299424503" cy="643737.6000000001"/>
          </a:xfrm>
          <a:prstGeom prst="line">
            <a:avLst/>
          </a:prstGeom>
          <a:ln w="12700">
            <a:solidFill>
              <a:srgbClr val="BD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766746" y="4264761"/>
            <a:ext cx="1920240" cy="621792"/>
          </a:xfrm>
          <a:prstGeom prst="roundRect">
            <a:avLst/>
          </a:prstGeom>
          <a:solidFill>
            <a:srgbClr val="F7F9FB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50" b="1">
                <a:solidFill>
                  <a:srgbClr val="1F2937"/>
                </a:solidFill>
                <a:latin typeface="Microsoft YaHei"/>
              </a:defRPr>
            </a:pPr>
            <a:r>
              <a:t>Charging</a:t>
            </a:r>
            <a:br/>
            <a:r>
              <a:t>aminoacylation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11880.0" y="3931920.0"/>
            <a:ext cx="1114986.2299424512" cy="643737.5999999996"/>
          </a:xfrm>
          <a:prstGeom prst="line">
            <a:avLst/>
          </a:prstGeom>
          <a:ln w="12700">
            <a:solidFill>
              <a:srgbClr val="BD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651760" y="4908499"/>
            <a:ext cx="1920240" cy="621792"/>
          </a:xfrm>
          <a:prstGeom prst="roundRect">
            <a:avLst/>
          </a:prstGeom>
          <a:solidFill>
            <a:srgbClr val="F7F9FB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50" b="1">
                <a:solidFill>
                  <a:srgbClr val="1F2937"/>
                </a:solidFill>
                <a:latin typeface="Microsoft YaHei"/>
              </a:defRPr>
            </a:pPr>
            <a:r>
              <a:t>Structure</a:t>
            </a:r>
            <a:br/>
            <a:r>
              <a:t>in vivo folding / interactome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11880.0" y="3931920.0"/>
            <a:ext cx="0.0" cy="1287475.2000000002"/>
          </a:xfrm>
          <a:prstGeom prst="line">
            <a:avLst/>
          </a:prstGeom>
          <a:ln w="12700">
            <a:solidFill>
              <a:srgbClr val="BD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536773" y="4264761"/>
            <a:ext cx="1920240" cy="621792"/>
          </a:xfrm>
          <a:prstGeom prst="roundRect">
            <a:avLst/>
          </a:prstGeom>
          <a:solidFill>
            <a:srgbClr val="F7F9FB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50" b="1">
                <a:solidFill>
                  <a:srgbClr val="1F2937"/>
                </a:solidFill>
                <a:latin typeface="Microsoft YaHei"/>
              </a:defRPr>
            </a:pPr>
            <a:r>
              <a:t>Fragments</a:t>
            </a:r>
            <a:br/>
            <a:r>
              <a:t>tRF / tsRNA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496893.7700575492" y="3931920.0"/>
            <a:ext cx="1114986.2299424508" cy="643737.6000000006"/>
          </a:xfrm>
          <a:prstGeom prst="line">
            <a:avLst/>
          </a:prstGeom>
          <a:ln w="12700">
            <a:solidFill>
              <a:srgbClr val="BD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536773" y="2977286"/>
            <a:ext cx="1920240" cy="621792"/>
          </a:xfrm>
          <a:prstGeom prst="roundRect">
            <a:avLst/>
          </a:prstGeom>
          <a:solidFill>
            <a:srgbClr val="F7F9FB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50" b="1">
                <a:solidFill>
                  <a:srgbClr val="1F2937"/>
                </a:solidFill>
                <a:latin typeface="Microsoft YaHei"/>
              </a:defRPr>
            </a:pPr>
            <a:r>
              <a:t>Translation</a:t>
            </a:r>
            <a:br/>
            <a:r>
              <a:t>codon demand / MZT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2496893.7700575492" y="3288182.4"/>
            <a:ext cx="1114986.2299424508" cy="643737.6000000001"/>
          </a:xfrm>
          <a:prstGeom prst="line">
            <a:avLst/>
          </a:prstGeom>
          <a:ln w="12700">
            <a:solidFill>
              <a:srgbClr val="BD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12280" y="2057400"/>
            <a:ext cx="4389120" cy="324612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核心问题：MZT/ZGA 期间，tRNA 丰度、修饰、charging 与 tRF 是否共同塑造翻译选择性？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文献范围：本地 tRNA 湿实验文献 + 新增早期胚胎/生殖发育核心研究。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汇报结构：筛选逻辑 → 逐篇精读 → 方法矩阵 → 胚胎研究方案。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46520"/>
            <a:ext cx="113385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750" b="0">
                <a:solidFill>
                  <a:srgbClr val="637180"/>
                </a:solidFill>
                <a:latin typeface="Microsoft YaHei"/>
              </a:defRPr>
            </a:pPr>
            <a:r>
              <a:t>汇报用途：正式组会/课题设计讨论；每个文献页均注明 PMID 与标题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文献重筛选：主线保留“湿实验 + 胚胎可迁移性”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85800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900" b="0">
                <a:solidFill>
                  <a:srgbClr val="637180"/>
                </a:solidFill>
                <a:latin typeface="Microsoft YaHei"/>
              </a:defRPr>
            </a:pPr>
            <a:r>
              <a:t>本页说明哪些文献进入逐篇精读，哪些仅作为背景参考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84280" cy="18288"/>
          </a:xfrm>
          <a:prstGeom prst="rect">
            <a:avLst/>
          </a:prstGeom>
          <a:solidFill>
            <a:srgbClr val="D5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234440"/>
          <a:ext cx="1106424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069080"/>
                <a:gridCol w="5532120"/>
              </a:tblGrid>
              <a:tr h="777240">
                <a:tc>
                  <a:txBody>
                    <a:bodyPr/>
                    <a:lstStyle/>
                    <a:p>
                      <a:pPr>
                        <a:defRPr b="1" sz="1100">
                          <a:latin typeface="Microsoft YaHei"/>
                        </a:defRPr>
                      </a:pPr>
                      <a:r>
                        <a:t>处理</a:t>
                      </a:r>
                    </a:p>
                  </a:txBody>
                  <a:tcPr>
                    <a:solidFill>
                      <a:srgbClr val="E5E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latin typeface="Microsoft YaHei"/>
                        </a:defRPr>
                      </a:pPr>
                      <a:r>
                        <a:t>PMID</a:t>
                      </a:r>
                    </a:p>
                  </a:txBody>
                  <a:tcPr>
                    <a:solidFill>
                      <a:srgbClr val="E5E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latin typeface="Microsoft YaHei"/>
                        </a:defRPr>
                      </a:pPr>
                      <a:r>
                        <a:t>理由</a:t>
                      </a:r>
                    </a:p>
                  </a:txBody>
                  <a:tcPr>
                    <a:solidFill>
                      <a:srgbClr val="E5EFE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主线新增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42062277, 39402326, 38989621, 34797706, 41042673, 26721685, 26721680, 29628141, 29983320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直接涉及 oocyte / MZT / zygote / preimplantation / ESC 的 tRNA 或 tRF 湿实验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本地保留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37024678, 33581077, 40835813, 40447571, 39096899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可作为低输入胚胎 tRNA-seq、修饰、charging、结构和小 RNA 捕获的方法工具箱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本地保留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38977676, 39892392, 41807381, 41501459, 35322228, 41555020, 34174184, 37944512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机制或工程扰动模型，可转化为胚胎中 tRNA 翻译调控的因果验证思路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降为背景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35032425, 37173525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综述 / commentary，不作为逐篇精读主线；用于方法背景和概念框架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5806440"/>
            <a:ext cx="10972800" cy="475488"/>
          </a:xfrm>
          <a:prstGeom prst="roundRect">
            <a:avLst/>
          </a:prstGeom>
          <a:solidFill>
            <a:srgbClr val="ECF5F2"/>
          </a:solidFill>
          <a:ln>
            <a:solidFill>
              <a:srgbClr val="B9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50" b="1">
                <a:solidFill>
                  <a:srgbClr val="237A5C"/>
                </a:solidFill>
                <a:latin typeface="Microsoft YaHei"/>
              </a:defRPr>
            </a:pPr>
            <a:r>
              <a:t>Take-home: 主线不是简单按文件名排序，而是围绕“早期胚胎翻译重编程可如何被 tRNA 湿实验解析”。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385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750" b="0">
                <a:solidFill>
                  <a:srgbClr val="637180"/>
                </a:solidFill>
                <a:latin typeface="Microsoft YaHei"/>
              </a:defRPr>
            </a:pPr>
            <a:r>
              <a:t>来源：本地文件夹题录 + PubMed 复核；每篇精读页均列出 PMID 和标题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研究主线：把 tRNA 从“翻译适配器”推进到胚胎命运调控变量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85800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900" b="0">
                <a:solidFill>
                  <a:srgbClr val="637180"/>
                </a:solidFill>
                <a:latin typeface="Microsoft YaHei"/>
              </a:defRPr>
            </a:pPr>
            <a:r>
              <a:t>围绕 oocyte-to-embryo transition / MZT / ZGA 组织证据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84280" cy="18288"/>
          </a:xfrm>
          <a:prstGeom prst="rect">
            <a:avLst/>
          </a:prstGeom>
          <a:solidFill>
            <a:srgbClr val="D5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86000" y="2953512"/>
            <a:ext cx="1554480" cy="768096"/>
          </a:xfrm>
          <a:prstGeom prst="ellipse">
            <a:avLst/>
          </a:prstGeom>
          <a:solidFill>
            <a:srgbClr val="EBF6F1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200" b="1">
                <a:solidFill>
                  <a:srgbClr val="237A5C"/>
                </a:solidFill>
                <a:latin typeface="Microsoft YaHei"/>
              </a:defRPr>
            </a:pPr>
            <a:r>
              <a:t>早期胚胎</a:t>
            </a:r>
            <a:br/>
            <a:r>
              <a:t>翻译重编程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1739188"/>
            <a:ext cx="1920240" cy="621792"/>
          </a:xfrm>
          <a:prstGeom prst="roundRect">
            <a:avLst/>
          </a:prstGeom>
          <a:solidFill>
            <a:srgbClr val="F7F9FB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50" b="1">
                <a:solidFill>
                  <a:srgbClr val="1F2937"/>
                </a:solidFill>
                <a:latin typeface="Microsoft YaHei"/>
              </a:defRPr>
            </a:pPr>
            <a:r>
              <a:t>tRNA pool</a:t>
            </a:r>
            <a:br/>
            <a:r>
              <a:t>丰度 / isodecoder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3063240.0" y="2050084.8"/>
            <a:ext cx="0.0" cy="1287475.2"/>
          </a:xfrm>
          <a:prstGeom prst="line">
            <a:avLst/>
          </a:prstGeom>
          <a:ln w="12700">
            <a:solidFill>
              <a:srgbClr val="BD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218106" y="2382926"/>
            <a:ext cx="1920240" cy="621792"/>
          </a:xfrm>
          <a:prstGeom prst="roundRect">
            <a:avLst/>
          </a:prstGeom>
          <a:solidFill>
            <a:srgbClr val="F7F9FB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50" b="1">
                <a:solidFill>
                  <a:srgbClr val="1F2937"/>
                </a:solidFill>
                <a:latin typeface="Microsoft YaHei"/>
              </a:defRPr>
            </a:pPr>
            <a:r>
              <a:t>Modification</a:t>
            </a:r>
            <a:br/>
            <a:r>
              <a:t>m1A / m7G / Ψ / xm5s2U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063240.0" y="2693822.4"/>
            <a:ext cx="1114986.2299424508" cy="643737.6000000001"/>
          </a:xfrm>
          <a:prstGeom prst="line">
            <a:avLst/>
          </a:prstGeom>
          <a:ln w="12700">
            <a:solidFill>
              <a:srgbClr val="BD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18106" y="3670401"/>
            <a:ext cx="1920240" cy="621792"/>
          </a:xfrm>
          <a:prstGeom prst="roundRect">
            <a:avLst/>
          </a:prstGeom>
          <a:solidFill>
            <a:srgbClr val="F7F9FB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50" b="1">
                <a:solidFill>
                  <a:srgbClr val="1F2937"/>
                </a:solidFill>
                <a:latin typeface="Microsoft YaHei"/>
              </a:defRPr>
            </a:pPr>
            <a:r>
              <a:t>Charging</a:t>
            </a:r>
            <a:br/>
            <a:r>
              <a:t>aminoacylation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63240.0" y="3337560.0"/>
            <a:ext cx="1114986.2299424512" cy="643737.5999999996"/>
          </a:xfrm>
          <a:prstGeom prst="line">
            <a:avLst/>
          </a:prstGeom>
          <a:ln w="12700">
            <a:solidFill>
              <a:srgbClr val="BD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103120" y="4314139"/>
            <a:ext cx="1920240" cy="621792"/>
          </a:xfrm>
          <a:prstGeom prst="roundRect">
            <a:avLst/>
          </a:prstGeom>
          <a:solidFill>
            <a:srgbClr val="F7F9FB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50" b="1">
                <a:solidFill>
                  <a:srgbClr val="1F2937"/>
                </a:solidFill>
                <a:latin typeface="Microsoft YaHei"/>
              </a:defRPr>
            </a:pPr>
            <a:r>
              <a:t>Structure</a:t>
            </a:r>
            <a:br/>
            <a:r>
              <a:t>in vivo folding / interactome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63240.0" y="3337560.0"/>
            <a:ext cx="0.0" cy="1287475.2000000002"/>
          </a:xfrm>
          <a:prstGeom prst="line">
            <a:avLst/>
          </a:prstGeom>
          <a:ln w="12700">
            <a:solidFill>
              <a:srgbClr val="BD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88133" y="3670401"/>
            <a:ext cx="1920240" cy="621792"/>
          </a:xfrm>
          <a:prstGeom prst="roundRect">
            <a:avLst/>
          </a:prstGeom>
          <a:solidFill>
            <a:srgbClr val="F7F9FB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50" b="1">
                <a:solidFill>
                  <a:srgbClr val="1F2937"/>
                </a:solidFill>
                <a:latin typeface="Microsoft YaHei"/>
              </a:defRPr>
            </a:pPr>
            <a:r>
              <a:t>Fragments</a:t>
            </a:r>
            <a:br/>
            <a:r>
              <a:t>tRF / tsRNA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1948253.7700575492" y="3337560.0"/>
            <a:ext cx="1114986.2299424508" cy="643737.6000000006"/>
          </a:xfrm>
          <a:prstGeom prst="line">
            <a:avLst/>
          </a:prstGeom>
          <a:ln w="12700">
            <a:solidFill>
              <a:srgbClr val="BD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88133" y="2382926"/>
            <a:ext cx="1920240" cy="621792"/>
          </a:xfrm>
          <a:prstGeom prst="roundRect">
            <a:avLst/>
          </a:prstGeom>
          <a:solidFill>
            <a:srgbClr val="F7F9FB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50" b="1">
                <a:solidFill>
                  <a:srgbClr val="1F2937"/>
                </a:solidFill>
                <a:latin typeface="Microsoft YaHei"/>
              </a:defRPr>
            </a:pPr>
            <a:r>
              <a:t>Translation</a:t>
            </a:r>
            <a:br/>
            <a:r>
              <a:t>codon demand / MZT</a:t>
            </a:r>
          </a:p>
        </p:txBody>
      </p:sp>
      <p:cxnSp>
        <p:nvCxnSpPr>
          <p:cNvPr id="17" name="Connector 16"/>
          <p:cNvCxnSpPr/>
          <p:nvPr/>
        </p:nvCxnSpPr>
        <p:spPr>
          <a:xfrm flipH="1" flipV="1">
            <a:off x="1948253.7700575492" y="2693822.4"/>
            <a:ext cx="1114986.2299424508" cy="643737.6000000001"/>
          </a:xfrm>
          <a:prstGeom prst="line">
            <a:avLst/>
          </a:prstGeom>
          <a:ln w="12700">
            <a:solidFill>
              <a:srgbClr val="BD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89320" y="1417320"/>
            <a:ext cx="5303520" cy="379476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母源 mRNA 清除、ZGA 与细胞周期加速要求快速重排翻译供给。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tRNA 层面可拆成 5 个湿实验读出：丰度、修饰、charging、结构/互作、tRNA-derived fragments。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早期胚胎样本量极低，核心技术瓶颈是低输入、修饰阻断、异构体分辨率和功能扰动。</a:t>
            </a:r>
          </a:p>
          <a:p>
            <a:pPr>
              <a:spcAft>
                <a:spcPts val="500"/>
              </a:spcAft>
              <a:defRPr sz="1400">
                <a:solidFill>
                  <a:srgbClr val="1F2937"/>
                </a:solidFill>
                <a:latin typeface="Microsoft YaHei"/>
              </a:defRPr>
            </a:pPr>
            <a:r>
              <a:t>汇报重点不是泛讲 tRNA，而是判断哪些技术和机制能直接转化为胚胎实验。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806440"/>
            <a:ext cx="10972800" cy="475488"/>
          </a:xfrm>
          <a:prstGeom prst="roundRect">
            <a:avLst/>
          </a:prstGeom>
          <a:solidFill>
            <a:srgbClr val="ECF5F2"/>
          </a:solidFill>
          <a:ln>
            <a:solidFill>
              <a:srgbClr val="B9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50" b="1">
                <a:solidFill>
                  <a:srgbClr val="237A5C"/>
                </a:solidFill>
                <a:latin typeface="Microsoft YaHei"/>
              </a:defRPr>
            </a:pPr>
            <a:r>
              <a:t>Take-home: 一个可检验假说：胚胎并非被动继承母源 tRNA，而是在 ZGA 前后主动建立与翻译需求匹配的 tRNA 层调控。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113385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750" b="0">
                <a:solidFill>
                  <a:srgbClr val="637180"/>
                </a:solidFill>
                <a:latin typeface="Microsoft YaHei"/>
              </a:defRPr>
            </a:pPr>
            <a:r>
              <a:t>来源：本报告综合整理自所有入选文献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5156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3000" b="1">
                <a:solidFill>
                  <a:srgbClr val="237A5C"/>
                </a:solidFill>
                <a:latin typeface="Microsoft YaHei"/>
              </a:defRPr>
            </a:pPr>
            <a:r>
              <a:t>第一部分：早期胚胎与生殖发育中的 tRNA/tRF 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755648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1300" b="0">
                <a:solidFill>
                  <a:srgbClr val="637180"/>
                </a:solidFill>
                <a:latin typeface="Microsoft YaHei"/>
              </a:defRPr>
            </a:pPr>
            <a:r>
              <a:t>优先阅读直接涉及 oocyte、MZT/ZGA、zygote、preimplantation embryo 或 ESC commitment 的论文</a:t>
            </a:r>
          </a:p>
        </p:txBody>
      </p:sp>
      <p:sp>
        <p:nvSpPr>
          <p:cNvPr id="4" name="Oval 3"/>
          <p:cNvSpPr/>
          <p:nvPr/>
        </p:nvSpPr>
        <p:spPr>
          <a:xfrm>
            <a:off x="2194560" y="3639312"/>
            <a:ext cx="1554480" cy="768096"/>
          </a:xfrm>
          <a:prstGeom prst="ellipse">
            <a:avLst/>
          </a:prstGeom>
          <a:solidFill>
            <a:srgbClr val="EBF6F1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200" b="1">
                <a:solidFill>
                  <a:srgbClr val="237A5C"/>
                </a:solidFill>
                <a:latin typeface="Microsoft YaHei"/>
              </a:defRPr>
            </a:pPr>
            <a:r>
              <a:t>早期胚胎</a:t>
            </a:r>
            <a:br/>
            <a:r>
              <a:t>翻译重编程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2629814"/>
            <a:ext cx="1920240" cy="621792"/>
          </a:xfrm>
          <a:prstGeom prst="roundRect">
            <a:avLst/>
          </a:prstGeom>
          <a:solidFill>
            <a:srgbClr val="F7F9FB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50" b="1">
                <a:solidFill>
                  <a:srgbClr val="1F2937"/>
                </a:solidFill>
                <a:latin typeface="Microsoft YaHei"/>
              </a:defRPr>
            </a:pPr>
            <a:r>
              <a:t>tRNA pool</a:t>
            </a:r>
            <a:br/>
            <a:r>
              <a:t>丰度 / isodecoder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2971800.0" y="2940710.4"/>
            <a:ext cx="0.0" cy="1082649.6"/>
          </a:xfrm>
          <a:prstGeom prst="line">
            <a:avLst/>
          </a:prstGeom>
          <a:ln w="12700">
            <a:solidFill>
              <a:srgbClr val="BD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949282" y="3171139"/>
            <a:ext cx="1920240" cy="621792"/>
          </a:xfrm>
          <a:prstGeom prst="roundRect">
            <a:avLst/>
          </a:prstGeom>
          <a:solidFill>
            <a:srgbClr val="F7F9FB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50" b="1">
                <a:solidFill>
                  <a:srgbClr val="1F2937"/>
                </a:solidFill>
                <a:latin typeface="Microsoft YaHei"/>
              </a:defRPr>
            </a:pPr>
            <a:r>
              <a:t>Modification</a:t>
            </a:r>
            <a:br/>
            <a:r>
              <a:t>m1A / m7G / Ψ / xm5s2U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971800.0" y="3482035.2"/>
            <a:ext cx="937602.0569970608" cy="541324.7999999998"/>
          </a:xfrm>
          <a:prstGeom prst="line">
            <a:avLst/>
          </a:prstGeom>
          <a:ln w="12700">
            <a:solidFill>
              <a:srgbClr val="BD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49282" y="4253788"/>
            <a:ext cx="1920240" cy="621792"/>
          </a:xfrm>
          <a:prstGeom prst="roundRect">
            <a:avLst/>
          </a:prstGeom>
          <a:solidFill>
            <a:srgbClr val="F7F9FB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50" b="1">
                <a:solidFill>
                  <a:srgbClr val="1F2937"/>
                </a:solidFill>
                <a:latin typeface="Microsoft YaHei"/>
              </a:defRPr>
            </a:pPr>
            <a:r>
              <a:t>Charging</a:t>
            </a:r>
            <a:br/>
            <a:r>
              <a:t>aminoacylation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71800.0" y="4023360.0"/>
            <a:ext cx="937602.0569970612" cy="541324.7999999998"/>
          </a:xfrm>
          <a:prstGeom prst="line">
            <a:avLst/>
          </a:prstGeom>
          <a:ln w="12700">
            <a:solidFill>
              <a:srgbClr val="BD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011680" y="4795113"/>
            <a:ext cx="1920240" cy="621792"/>
          </a:xfrm>
          <a:prstGeom prst="roundRect">
            <a:avLst/>
          </a:prstGeom>
          <a:solidFill>
            <a:srgbClr val="F7F9FB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50" b="1">
                <a:solidFill>
                  <a:srgbClr val="1F2937"/>
                </a:solidFill>
                <a:latin typeface="Microsoft YaHei"/>
              </a:defRPr>
            </a:pPr>
            <a:r>
              <a:t>Structure</a:t>
            </a:r>
            <a:br/>
            <a:r>
              <a:t>in vivo folding / interactome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71800.0" y="4023360.0"/>
            <a:ext cx="0.0" cy="1082649.5999999996"/>
          </a:xfrm>
          <a:prstGeom prst="line">
            <a:avLst/>
          </a:prstGeom>
          <a:ln w="12700">
            <a:solidFill>
              <a:srgbClr val="BD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74077" y="4253788"/>
            <a:ext cx="1920240" cy="621792"/>
          </a:xfrm>
          <a:prstGeom prst="roundRect">
            <a:avLst/>
          </a:prstGeom>
          <a:solidFill>
            <a:srgbClr val="F7F9FB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50" b="1">
                <a:solidFill>
                  <a:srgbClr val="1F2937"/>
                </a:solidFill>
                <a:latin typeface="Microsoft YaHei"/>
              </a:defRPr>
            </a:pPr>
            <a:r>
              <a:t>Fragments</a:t>
            </a:r>
            <a:br/>
            <a:r>
              <a:t>tRF / tsRNA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034197.9430029392" y="4023360.0"/>
            <a:ext cx="937602.0569970608" cy="541324.8000000007"/>
          </a:xfrm>
          <a:prstGeom prst="line">
            <a:avLst/>
          </a:prstGeom>
          <a:ln w="12700">
            <a:solidFill>
              <a:srgbClr val="BD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74077" y="3171139"/>
            <a:ext cx="1920240" cy="621792"/>
          </a:xfrm>
          <a:prstGeom prst="roundRect">
            <a:avLst/>
          </a:prstGeom>
          <a:solidFill>
            <a:srgbClr val="F7F9FB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50" b="1">
                <a:solidFill>
                  <a:srgbClr val="1F2937"/>
                </a:solidFill>
                <a:latin typeface="Microsoft YaHei"/>
              </a:defRPr>
            </a:pPr>
            <a:r>
              <a:t>Translation</a:t>
            </a:r>
            <a:br/>
            <a:r>
              <a:t>codon demand / MZT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2034197.943002939" y="3482035.1999999997"/>
            <a:ext cx="937602.056997061" cy="541324.8000000003"/>
          </a:xfrm>
          <a:prstGeom prst="line">
            <a:avLst/>
          </a:prstGeom>
          <a:ln w="12700">
            <a:solidFill>
              <a:srgbClr val="BD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715000" y="2423160"/>
            <a:ext cx="5303520" cy="306324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Microsoft YaHei"/>
              </a:defRPr>
            </a:pPr>
            <a:r>
              <a:t>重点看是否有分期样本、低输入方法、胚胎内 perturbation 或 rescue。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Microsoft YaHei"/>
              </a:defRPr>
            </a:pPr>
            <a:r>
              <a:t>tRF 文献提供最强因果证据；mature tRNA landscape 文献提供最强系统框架。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Microsoft YaHei"/>
              </a:defRPr>
            </a:pPr>
            <a:r>
              <a:t>ESC 文献作为 early lineage commitment 的机制近似模型。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46520"/>
            <a:ext cx="113385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750" b="0">
                <a:solidFill>
                  <a:srgbClr val="637180"/>
                </a:solidFill>
                <a:latin typeface="Microsoft YaHei"/>
              </a:defRPr>
            </a:pPr>
            <a:r>
              <a:t>来源：本报告综合整理自入选文献；后续逐篇页面列出 PMID 和标题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ORACLE-tRNAseq 让 mouse early embryo 的 tRNA landscape 可被低输入解析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85800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900" b="0">
                <a:solidFill>
                  <a:srgbClr val="637180"/>
                </a:solidFill>
                <a:latin typeface="Microsoft YaHei"/>
              </a:defRPr>
            </a:pPr>
            <a:r>
              <a:t>Nature Communications, 2026 | PMID 42062277 | Deciphering tRNA repertoires and translation coordination during mouse early embryogenesis by ORACLE-tRNAseq.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84280" cy="18288"/>
          </a:xfrm>
          <a:prstGeom prst="rect">
            <a:avLst/>
          </a:prstGeom>
          <a:solidFill>
            <a:srgbClr val="D5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6812280" cy="4434840"/>
          </a:xfrm>
          <a:prstGeom prst="roundRect">
            <a:avLst/>
          </a:prstGeom>
          <a:solidFill>
            <a:srgbClr val="FCFDFE"/>
          </a:solidFill>
          <a:ln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oracle_mouse_p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690" y="1252728"/>
            <a:ext cx="3100739" cy="4215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559552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800" b="0">
                <a:solidFill>
                  <a:srgbClr val="637180"/>
                </a:solidFill>
                <a:latin typeface="Microsoft YaHei"/>
              </a:defRPr>
            </a:pPr>
            <a:r>
              <a:t>图：原文关键图/流程图；无开放图时为按论文逻辑重绘的实验示意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143000"/>
            <a:ext cx="416052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298448"/>
            <a:ext cx="3794760" cy="406908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逻辑 / 假说：MZT 期间是否存在从母源到胚胎型 tRNA repertoires 的主动切换，并与 ZGA 和翻译效率耦合。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方法步骤：建立低输入 ORACLE-tRNAseq，从少量 mouse oocytes/embryos 获取 tRNA profiles；结合 Ribo-seq、多组学和染色质信息。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关键结果：oocyte-to-blastocyst 期间出现 distinct embryonic tRNA repertoires；4-cell stage 伴随 tRNA pseudogene 上调，tRNA activation 与 ZGA、H3K4me3 和 chromatin remodeling 同步。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讨论与局限：局限在于相关性仍多于因果；下一步需要 tRNA gene/tRF/修饰酶的胚胎内扰动验证。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对早期胚胎研究的用途：这是本报告最直接的胚胎主线论文，可作为 low-input tRNA-seq 方案和分期采样设计的模板。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806440"/>
            <a:ext cx="10972800" cy="475488"/>
          </a:xfrm>
          <a:prstGeom prst="roundRect">
            <a:avLst/>
          </a:prstGeom>
          <a:solidFill>
            <a:srgbClr val="ECF5F2"/>
          </a:solidFill>
          <a:ln>
            <a:solidFill>
              <a:srgbClr val="B9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50" b="1">
                <a:solidFill>
                  <a:srgbClr val="237A5C"/>
                </a:solidFill>
                <a:latin typeface="Microsoft YaHei"/>
              </a:defRPr>
            </a:pPr>
            <a:r>
              <a:t>Take-home: 这是本报告最直接的胚胎主线论文，可作为 low-input tRNA-seq 方案和分期采样设计的模板。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46520"/>
            <a:ext cx="113385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750" b="0">
                <a:solidFill>
                  <a:srgbClr val="637180"/>
                </a:solidFill>
                <a:latin typeface="Microsoft YaHei"/>
              </a:defRPr>
            </a:pPr>
            <a:r>
              <a:t>Source: PMID 42062277 | Deciphering tRNA repertoires and translation coordination during mouse early embryogenesis by ORACLE-tRNAseq.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zebrafish 胚胎显示 tRNA pool 重编程会改变解码速率与 maternal mRNA 稳定性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85800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900" b="0">
                <a:solidFill>
                  <a:srgbClr val="637180"/>
                </a:solidFill>
                <a:latin typeface="Microsoft YaHei"/>
              </a:defRPr>
            </a:pPr>
            <a:r>
              <a:t>The EMBO Journal, 2024 | PMID 39402326 | The dynamics and functional impact of tRNA repertoires during early embryogenesis in zebrafish.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84280" cy="18288"/>
          </a:xfrm>
          <a:prstGeom prst="rect">
            <a:avLst/>
          </a:prstGeom>
          <a:solidFill>
            <a:srgbClr val="D5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6812280" cy="4434840"/>
          </a:xfrm>
          <a:prstGeom prst="roundRect">
            <a:avLst/>
          </a:prstGeom>
          <a:solidFill>
            <a:srgbClr val="FCFDFE"/>
          </a:solidFill>
          <a:ln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7512" y="2560320"/>
            <a:ext cx="1538478" cy="1325880"/>
          </a:xfrm>
          <a:prstGeom prst="roundRect">
            <a:avLst/>
          </a:prstGeom>
          <a:solidFill>
            <a:srgbClr val="E5F1F7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假说</a:t>
            </a:r>
            <a:br/>
            <a:r>
              <a:t>早期胚胎 tRNA pool 是否与 zygotic transcriptome codon demand 匹配，并通过 decoding rate 影响 mRNA turnover。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60270" y="3113532"/>
            <a:ext cx="201168" cy="219456"/>
          </a:xfrm>
          <a:prstGeom prst="rightArrow">
            <a:avLst/>
          </a:prstGeom>
          <a:solidFill>
            <a:srgbClr val="7A8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15718" y="2560320"/>
            <a:ext cx="1538478" cy="1325880"/>
          </a:xfrm>
          <a:prstGeom prst="roundRect">
            <a:avLst/>
          </a:prstGeom>
          <a:solidFill>
            <a:srgbClr val="F1EEF9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湿实验路线</a:t>
            </a:r>
            <a:br/>
            <a:r>
              <a:t>定量测定 zebrafish MZT 前后 tRNA repertoires；将 tRNA supply、codon composition、translation output 和 mRNA stability 联合分析。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808476" y="3113532"/>
            <a:ext cx="201168" cy="219456"/>
          </a:xfrm>
          <a:prstGeom prst="rightArrow">
            <a:avLst/>
          </a:prstGeom>
          <a:solidFill>
            <a:srgbClr val="7A8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63924" y="2560320"/>
            <a:ext cx="1538478" cy="1325880"/>
          </a:xfrm>
          <a:prstGeom prst="roundRect">
            <a:avLst/>
          </a:prstGeom>
          <a:solidFill>
            <a:srgbClr val="EFF7EF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关键结果</a:t>
            </a:r>
            <a:br/>
            <a:r>
              <a:t>maternal 与 zygotic tRNA pools 明显不同；gastrulation 伴随全局翻译增强，使低供给 tRNA 对应 codon 的解码变慢，并促进某些 maternal mRNA destabilization。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456682" y="3113532"/>
            <a:ext cx="201168" cy="219456"/>
          </a:xfrm>
          <a:prstGeom prst="rightArrow">
            <a:avLst/>
          </a:prstGeom>
          <a:solidFill>
            <a:srgbClr val="7A8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12130" y="2560320"/>
            <a:ext cx="1538478" cy="1325880"/>
          </a:xfrm>
          <a:prstGeom prst="roundRect">
            <a:avLst/>
          </a:prstGeom>
          <a:solidFill>
            <a:srgbClr val="FAF2E5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胚胎启发</a:t>
            </a:r>
            <a:br/>
            <a:r>
              <a:t>适合指导我们把胚胎时期分成 MZT 前、ZGA、gastrulation 后，分别测 tRNA 与翻译读出。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554480"/>
            <a:ext cx="61722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ctr">
              <a:defRPr sz="1500" b="1">
                <a:solidFill>
                  <a:srgbClr val="227C9D"/>
                </a:solidFill>
                <a:latin typeface="Microsoft YaHei"/>
              </a:defRPr>
            </a:pPr>
            <a:r>
              <a:t>精读示意图：从科学问题到可转化湿实验读出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559552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800" b="0">
                <a:solidFill>
                  <a:srgbClr val="637180"/>
                </a:solidFill>
                <a:latin typeface="Microsoft YaHei"/>
              </a:defRPr>
            </a:pPr>
            <a:r>
              <a:t>图：原文关键图/流程图；无开放图时为按论文逻辑重绘的实验示意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1143000"/>
            <a:ext cx="416052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1298448"/>
            <a:ext cx="3794760" cy="406908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逻辑 / 假说：早期胚胎 tRNA pool 是否与 zygotic transcriptome codon demand 匹配，并通过 decoding rate 影响 mRNA turnover。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方法步骤：定量测定 zebrafish MZT 前后 tRNA repertoires；将 tRNA supply、codon composition、translation output 和 mRNA stability 联合分析。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关键结果：maternal 与 zygotic tRNA pools 明显不同；gastrulation 伴随全局翻译增强，使低供给 tRNA 对应 codon 的解码变慢，并促进某些 maternal mRNA destabilization。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讨论与局限：强调 tRNA supply 对转录后调控的功能影响，但需要更多单个 tRNA 或 tRF 的 rescue/knockdown 因果实验。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对早期胚胎研究的用途：适合指导我们把胚胎时期分成 MZT 前、ZGA、gastrulation 后，分别测 tRNA 与翻译读出。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806440"/>
            <a:ext cx="10972800" cy="475488"/>
          </a:xfrm>
          <a:prstGeom prst="roundRect">
            <a:avLst/>
          </a:prstGeom>
          <a:solidFill>
            <a:srgbClr val="ECF5F2"/>
          </a:solidFill>
          <a:ln>
            <a:solidFill>
              <a:srgbClr val="B9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50" b="1">
                <a:solidFill>
                  <a:srgbClr val="237A5C"/>
                </a:solidFill>
                <a:latin typeface="Microsoft YaHei"/>
              </a:defRPr>
            </a:pPr>
            <a:r>
              <a:t>Take-home: 适合指导我们把胚胎时期分成 MZT 前、ZGA、gastrulation 后，分别测 tRNA 与翻译读出。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46520"/>
            <a:ext cx="113385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750" b="0">
                <a:solidFill>
                  <a:srgbClr val="637180"/>
                </a:solidFill>
                <a:latin typeface="Microsoft YaHei"/>
              </a:defRPr>
            </a:pPr>
            <a:r>
              <a:t>Source: PMID 39402326 | The dynamics and functional impact of tRNA repertoires during early embryogenesis in zebrafish.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tRAM-seq 同时读出 zebrafish embryo 的 tRNA expression 与 modification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85800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900" b="0">
                <a:solidFill>
                  <a:srgbClr val="637180"/>
                </a:solidFill>
                <a:latin typeface="Microsoft YaHei"/>
              </a:defRPr>
            </a:pPr>
            <a:r>
              <a:t>Nucleic Acids Research, 2024 | PMID 38989621 | tRNA expression and modification landscapes, and their dynamics during zebrafish embryo development.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84280" cy="18288"/>
          </a:xfrm>
          <a:prstGeom prst="rect">
            <a:avLst/>
          </a:prstGeom>
          <a:solidFill>
            <a:srgbClr val="D5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6812280" cy="4434840"/>
          </a:xfrm>
          <a:prstGeom prst="roundRect">
            <a:avLst/>
          </a:prstGeom>
          <a:solidFill>
            <a:srgbClr val="FCFDFE"/>
          </a:solidFill>
          <a:ln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7512" y="2560320"/>
            <a:ext cx="1538478" cy="1325880"/>
          </a:xfrm>
          <a:prstGeom prst="roundRect">
            <a:avLst/>
          </a:prstGeom>
          <a:solidFill>
            <a:srgbClr val="E5F1F7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假说</a:t>
            </a:r>
            <a:br/>
            <a:r>
              <a:t>不同 tRNA gene copies/isodecoders 和 post-transcriptional modifications 是否在胚胎发育中动态变化。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60270" y="3113532"/>
            <a:ext cx="201168" cy="219456"/>
          </a:xfrm>
          <a:prstGeom prst="rightArrow">
            <a:avLst/>
          </a:prstGeom>
          <a:solidFill>
            <a:srgbClr val="7A8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15718" y="2560320"/>
            <a:ext cx="1538478" cy="1325880"/>
          </a:xfrm>
          <a:prstGeom prst="roundRect">
            <a:avLst/>
          </a:prstGeom>
          <a:solidFill>
            <a:srgbClr val="F1EEF9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湿实验路线</a:t>
            </a:r>
            <a:br/>
            <a:r>
              <a:t>开发 tRAM-seq 实验与分析流程，覆盖核编码和线粒体 tRNAs，追踪 zebrafish embryo 发育时间序列。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808476" y="3113532"/>
            <a:ext cx="201168" cy="219456"/>
          </a:xfrm>
          <a:prstGeom prst="rightArrow">
            <a:avLst/>
          </a:prstGeom>
          <a:solidFill>
            <a:srgbClr val="7A8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63924" y="2560320"/>
            <a:ext cx="1538478" cy="1325880"/>
          </a:xfrm>
          <a:prstGeom prst="roundRect">
            <a:avLst/>
          </a:prstGeom>
          <a:solidFill>
            <a:srgbClr val="EFF7EF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关键结果</a:t>
            </a:r>
            <a:br/>
            <a:r>
              <a:t>显示胚胎阶段 tRNA 表达和修饰并非静态背景，而是随发育动态改变；为 isodecoder-level 解释提供数据基础。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456682" y="3113532"/>
            <a:ext cx="201168" cy="219456"/>
          </a:xfrm>
          <a:prstGeom prst="rightArrow">
            <a:avLst/>
          </a:prstGeom>
          <a:solidFill>
            <a:srgbClr val="7A8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12130" y="2560320"/>
            <a:ext cx="1538478" cy="1325880"/>
          </a:xfrm>
          <a:prstGeom prst="roundRect">
            <a:avLst/>
          </a:prstGeom>
          <a:solidFill>
            <a:srgbClr val="FAF2E5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胚胎启发</a:t>
            </a:r>
            <a:br/>
            <a:r>
              <a:t>可作为胚胎 tRNA modification 初筛平台：先找动态位点，再进入 LC-MS/MS 或酶扰动验证。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554480"/>
            <a:ext cx="61722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ctr">
              <a:defRPr sz="1500" b="1">
                <a:solidFill>
                  <a:srgbClr val="227C9D"/>
                </a:solidFill>
                <a:latin typeface="Microsoft YaHei"/>
              </a:defRPr>
            </a:pPr>
            <a:r>
              <a:t>精读示意图：从科学问题到可转化湿实验读出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559552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800" b="0">
                <a:solidFill>
                  <a:srgbClr val="637180"/>
                </a:solidFill>
                <a:latin typeface="Microsoft YaHei"/>
              </a:defRPr>
            </a:pPr>
            <a:r>
              <a:t>图：原文关键图/流程图；无开放图时为按论文逻辑重绘的实验示意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1143000"/>
            <a:ext cx="416052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1298448"/>
            <a:ext cx="3794760" cy="406908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逻辑 / 假说：不同 tRNA gene copies/isodecoders 和 post-transcriptional modifications 是否在胚胎发育中动态变化。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方法步骤：开发 tRAM-seq 实验与分析流程，覆盖核编码和线粒体 tRNAs，追踪 zebrafish embryo 发育时间序列。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关键结果：显示胚胎阶段 tRNA 表达和修饰并非静态背景，而是随发育动态改变；为 isodecoder-level 解释提供数据基础。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讨论与局限：NAR 论文偏 landscape，功能扰动较少；需要结合 morpholino/CRISPR 或 microinjection 验证候选 tRNA 的因果作用。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对早期胚胎研究的用途：可作为胚胎 tRNA modification 初筛平台：先找动态位点，再进入 LC-MS/MS 或酶扰动验证。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806440"/>
            <a:ext cx="10972800" cy="475488"/>
          </a:xfrm>
          <a:prstGeom prst="roundRect">
            <a:avLst/>
          </a:prstGeom>
          <a:solidFill>
            <a:srgbClr val="ECF5F2"/>
          </a:solidFill>
          <a:ln>
            <a:solidFill>
              <a:srgbClr val="B9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50" b="1">
                <a:solidFill>
                  <a:srgbClr val="237A5C"/>
                </a:solidFill>
                <a:latin typeface="Microsoft YaHei"/>
              </a:defRPr>
            </a:pPr>
            <a:r>
              <a:t>Take-home: 可作为胚胎 tRNA modification 初筛平台：先找动态位点，再进入 LC-MS/MS 或酶扰动验证。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46520"/>
            <a:ext cx="113385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750" b="0">
                <a:solidFill>
                  <a:srgbClr val="637180"/>
                </a:solidFill>
                <a:latin typeface="Microsoft YaHei"/>
              </a:defRPr>
            </a:pPr>
            <a:r>
              <a:t>Source: PMID 38989621 | tRNA expression and modification landscapes, and their dynamics during zebrafish embryo development.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特定 5′ tRNA halves 可反馈促进对应 tRNA gene transcription 并影响 vertebrate embryos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85800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900" b="0">
                <a:solidFill>
                  <a:srgbClr val="637180"/>
                </a:solidFill>
                <a:latin typeface="Microsoft YaHei"/>
              </a:defRPr>
            </a:pPr>
            <a:r>
              <a:t>Science Advances, 2021 | PMID 34797706 | 5' Half of specific tRNAs feeds back to promote corresponding tRNA gene transcription in vertebrate embryos.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84280" cy="18288"/>
          </a:xfrm>
          <a:prstGeom prst="rect">
            <a:avLst/>
          </a:prstGeom>
          <a:solidFill>
            <a:srgbClr val="D5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6812280" cy="4434840"/>
          </a:xfrm>
          <a:prstGeom prst="roundRect">
            <a:avLst/>
          </a:prstGeom>
          <a:solidFill>
            <a:srgbClr val="FCFDFE"/>
          </a:solidFill>
          <a:ln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7512" y="2560320"/>
            <a:ext cx="1538478" cy="1325880"/>
          </a:xfrm>
          <a:prstGeom prst="roundRect">
            <a:avLst/>
          </a:prstGeom>
          <a:solidFill>
            <a:srgbClr val="E5F1F7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假说</a:t>
            </a:r>
            <a:br/>
            <a:r>
              <a:t>5′tRF halves 不只是降解产物，是否能反向调控自身来源 tRNA gene 的转录。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60270" y="3113532"/>
            <a:ext cx="201168" cy="219456"/>
          </a:xfrm>
          <a:prstGeom prst="rightArrow">
            <a:avLst/>
          </a:prstGeom>
          <a:solidFill>
            <a:srgbClr val="7A8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15718" y="2560320"/>
            <a:ext cx="1538478" cy="1325880"/>
          </a:xfrm>
          <a:prstGeom prst="roundRect">
            <a:avLst/>
          </a:prstGeom>
          <a:solidFill>
            <a:srgbClr val="F1EEF9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湿实验路线</a:t>
            </a:r>
            <a:br/>
            <a:r>
              <a:t>在 zebrafish embryos 中监测 5′tRFlGly/GCC 和 5′tRFlGlu/CTC；用 morpholino knockdown 与 refolded tRNA rescue 做功能验证。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808476" y="3113532"/>
            <a:ext cx="201168" cy="219456"/>
          </a:xfrm>
          <a:prstGeom prst="rightArrow">
            <a:avLst/>
          </a:prstGeom>
          <a:solidFill>
            <a:srgbClr val="7A8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63924" y="2560320"/>
            <a:ext cx="1538478" cy="1325880"/>
          </a:xfrm>
          <a:prstGeom prst="roundRect">
            <a:avLst/>
          </a:prstGeom>
          <a:solidFill>
            <a:srgbClr val="EFF7EF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关键结果</a:t>
            </a:r>
            <a:br/>
            <a:r>
              <a:t>5′tRF 与对应 mature tRNA 动态相关；敲低 5′tRF 下调对应 tRNA 并导致胚胎致死，补回正确折叠 tRNA 可 rescue。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456682" y="3113532"/>
            <a:ext cx="201168" cy="219456"/>
          </a:xfrm>
          <a:prstGeom prst="rightArrow">
            <a:avLst/>
          </a:prstGeom>
          <a:solidFill>
            <a:srgbClr val="7A8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12130" y="2560320"/>
            <a:ext cx="1538478" cy="1325880"/>
          </a:xfrm>
          <a:prstGeom prst="roundRect">
            <a:avLst/>
          </a:prstGeom>
          <a:solidFill>
            <a:srgbClr val="FAF2E5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胚胎启发</a:t>
            </a:r>
            <a:br/>
            <a:r>
              <a:t>给早期胚胎研究一个清晰因果入口：microinjection tRF mimic/inhibitor + tRNA rescue。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554480"/>
            <a:ext cx="61722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ctr">
              <a:defRPr sz="1500" b="1">
                <a:solidFill>
                  <a:srgbClr val="227C9D"/>
                </a:solidFill>
                <a:latin typeface="Microsoft YaHei"/>
              </a:defRPr>
            </a:pPr>
            <a:r>
              <a:t>精读示意图：从科学问题到可转化湿实验读出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559552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800" b="0">
                <a:solidFill>
                  <a:srgbClr val="637180"/>
                </a:solidFill>
                <a:latin typeface="Microsoft YaHei"/>
              </a:defRPr>
            </a:pPr>
            <a:r>
              <a:t>图：原文关键图/流程图；无开放图时为按论文逻辑重绘的实验示意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1143000"/>
            <a:ext cx="416052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1298448"/>
            <a:ext cx="3794760" cy="406908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逻辑 / 假说：5′tRF halves 不只是降解产物，是否能反向调控自身来源 tRNA gene 的转录。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方法步骤：在 zebrafish embryos 中监测 5′tRFlGly/GCC 和 5′tRFlGlu/CTC；用 morpholino knockdown 与 refolded tRNA rescue 做功能验证。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关键结果：5′tRF 与对应 mature tRNA 动态相关；敲低 5′tRF 下调对应 tRNA 并导致胚胎致死，补回正确折叠 tRNA 可 rescue。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讨论与局限：机制涉及 tRNA:DNA / tRF:DNA hybrid，但不同物种和不同 tRF 是否普遍成立还需扩展。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对早期胚胎研究的用途：给早期胚胎研究一个清晰因果入口：microinjection tRF mimic/inhibitor + tRNA rescue。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806440"/>
            <a:ext cx="10972800" cy="475488"/>
          </a:xfrm>
          <a:prstGeom prst="roundRect">
            <a:avLst/>
          </a:prstGeom>
          <a:solidFill>
            <a:srgbClr val="ECF5F2"/>
          </a:solidFill>
          <a:ln>
            <a:solidFill>
              <a:srgbClr val="B9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50" b="1">
                <a:solidFill>
                  <a:srgbClr val="237A5C"/>
                </a:solidFill>
                <a:latin typeface="Microsoft YaHei"/>
              </a:defRPr>
            </a:pPr>
            <a:r>
              <a:t>Take-home: 给早期胚胎研究一个清晰因果入口：microinjection tRF mimic/inhibitor + tRNA rescue。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46520"/>
            <a:ext cx="113385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750" b="0">
                <a:solidFill>
                  <a:srgbClr val="637180"/>
                </a:solidFill>
                <a:latin typeface="Microsoft YaHei"/>
              </a:defRPr>
            </a:pPr>
            <a:r>
              <a:t>Source: PMID 34797706 | 5' Half of specific tRNAs feeds back to promote corresponding tRNA gene transcription in vertebrate embryos.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sperm-enriched tRFValCAC 连接 epididymal delivery 与 preimplantation embryo transcriptome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85800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900" b="0">
                <a:solidFill>
                  <a:srgbClr val="637180"/>
                </a:solidFill>
                <a:latin typeface="Microsoft YaHei"/>
              </a:defRPr>
            </a:pPr>
            <a:r>
              <a:t>Cell Reports, 2025 | PMID 41042673 | Epididymal dynamics and preimplantation roles of a sperm-enriched 5' fragment of tRNA-valine.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84280" cy="18288"/>
          </a:xfrm>
          <a:prstGeom prst="rect">
            <a:avLst/>
          </a:prstGeom>
          <a:solidFill>
            <a:srgbClr val="D5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6812280" cy="4434840"/>
          </a:xfrm>
          <a:prstGeom prst="roundRect">
            <a:avLst/>
          </a:prstGeom>
          <a:solidFill>
            <a:srgbClr val="FCFDFE"/>
          </a:solidFill>
          <a:ln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7512" y="2560320"/>
            <a:ext cx="1538478" cy="1325880"/>
          </a:xfrm>
          <a:prstGeom prst="roundRect">
            <a:avLst/>
          </a:prstGeom>
          <a:solidFill>
            <a:srgbClr val="E5F1F7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假说</a:t>
            </a:r>
            <a:br/>
            <a:r>
              <a:t>精子成熟获得的 tRFValCAC 是否进入受精后胚胎并调控植入前发育。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60270" y="3113532"/>
            <a:ext cx="201168" cy="219456"/>
          </a:xfrm>
          <a:prstGeom prst="rightArrow">
            <a:avLst/>
          </a:prstGeom>
          <a:solidFill>
            <a:srgbClr val="7A8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15718" y="2560320"/>
            <a:ext cx="1538478" cy="1325880"/>
          </a:xfrm>
          <a:prstGeom prst="roundRect">
            <a:avLst/>
          </a:prstGeom>
          <a:solidFill>
            <a:srgbClr val="F1EEF9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湿实验路线</a:t>
            </a:r>
            <a:br/>
            <a:r>
              <a:t>追踪 epididymis EV-to-sperm delivery；解析 hnRNPAB binding；在 preimplantation embryos 中抑制 tRFValCAC 并测转录组/发育表型。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808476" y="3113532"/>
            <a:ext cx="201168" cy="219456"/>
          </a:xfrm>
          <a:prstGeom prst="rightArrow">
            <a:avLst/>
          </a:prstGeom>
          <a:solidFill>
            <a:srgbClr val="7A8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63924" y="2560320"/>
            <a:ext cx="1538478" cy="1325880"/>
          </a:xfrm>
          <a:prstGeom prst="roundRect">
            <a:avLst/>
          </a:prstGeom>
          <a:solidFill>
            <a:srgbClr val="EFF7EF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关键结果</a:t>
            </a:r>
            <a:br/>
            <a:r>
              <a:t>hnRNPAB 参与 tRFValCAC 装载与精子富集；胚胎中抑制 tRFValCAC 改变 RNA processing/translation 相关基因并影响早期发育。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456682" y="3113532"/>
            <a:ext cx="201168" cy="219456"/>
          </a:xfrm>
          <a:prstGeom prst="rightArrow">
            <a:avLst/>
          </a:prstGeom>
          <a:solidFill>
            <a:srgbClr val="7A8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12130" y="2560320"/>
            <a:ext cx="1538478" cy="1325880"/>
          </a:xfrm>
          <a:prstGeom prst="roundRect">
            <a:avLst/>
          </a:prstGeom>
          <a:solidFill>
            <a:srgbClr val="FAF2E5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胚胎启发</a:t>
            </a:r>
            <a:br/>
            <a:r>
              <a:t>对哺乳动物早期胚胎最可操作：zygote microinjection tRF inhibitor/mimic 后看 2-cell、4-cell、blastocyst。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554480"/>
            <a:ext cx="61722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ctr">
              <a:defRPr sz="1500" b="1">
                <a:solidFill>
                  <a:srgbClr val="227C9D"/>
                </a:solidFill>
                <a:latin typeface="Microsoft YaHei"/>
              </a:defRPr>
            </a:pPr>
            <a:r>
              <a:t>精读示意图：从科学问题到可转化湿实验读出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559552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800" b="0">
                <a:solidFill>
                  <a:srgbClr val="637180"/>
                </a:solidFill>
                <a:latin typeface="Microsoft YaHei"/>
              </a:defRPr>
            </a:pPr>
            <a:r>
              <a:t>图：原文关键图/流程图；无开放图时为按论文逻辑重绘的实验示意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1143000"/>
            <a:ext cx="416052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1298448"/>
            <a:ext cx="3794760" cy="406908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逻辑 / 假说：精子成熟获得的 tRFValCAC 是否进入受精后胚胎并调控植入前发育。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方法步骤：追踪 epididymis EV-to-sperm delivery；解析 hnRNPAB binding；在 preimplantation embryos 中抑制 tRFValCAC 并测转录组/发育表型。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关键结果：hnRNPAB 参与 tRFValCAC 装载与精子富集；胚胎中抑制 tRFValCAC 改变 RNA processing/translation 相关基因并影响早期发育。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讨论与局限：需要区分精子携带效应与胚胎内新生成 tRF；剂量、时间窗和 off-target 是关键控制。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对早期胚胎研究的用途：对哺乳动物早期胚胎最可操作：zygote microinjection tRF inhibitor/mimic 后看 2-cell、4-cell、blastocyst。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806440"/>
            <a:ext cx="10972800" cy="475488"/>
          </a:xfrm>
          <a:prstGeom prst="roundRect">
            <a:avLst/>
          </a:prstGeom>
          <a:solidFill>
            <a:srgbClr val="ECF5F2"/>
          </a:solidFill>
          <a:ln>
            <a:solidFill>
              <a:srgbClr val="B9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50" b="1">
                <a:solidFill>
                  <a:srgbClr val="237A5C"/>
                </a:solidFill>
                <a:latin typeface="Microsoft YaHei"/>
              </a:defRPr>
            </a:pPr>
            <a:r>
              <a:t>Take-home: 对哺乳动物早期胚胎最可操作：zygote microinjection tRF inhibitor/mimic 后看 2-cell、4-cell、blastocyst。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46520"/>
            <a:ext cx="113385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750" b="0">
                <a:solidFill>
                  <a:srgbClr val="637180"/>
                </a:solidFill>
                <a:latin typeface="Microsoft YaHei"/>
              </a:defRPr>
            </a:pPr>
            <a:r>
              <a:t>Source: PMID 41042673 | Epididymal dynamics and preimplantation roles of a sperm-enriched 5' fragment of tRNA-valine.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epididymosome 递送 tRNA fragments 为父源环境影响早期胚胎提供机制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85800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900" b="0">
                <a:solidFill>
                  <a:srgbClr val="637180"/>
                </a:solidFill>
                <a:latin typeface="Microsoft YaHei"/>
              </a:defRPr>
            </a:pPr>
            <a:r>
              <a:t>Science, 2016 | PMID 26721685 | Biogenesis and function of tRNA fragments during sperm maturation and fertilization in mammals.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84280" cy="18288"/>
          </a:xfrm>
          <a:prstGeom prst="rect">
            <a:avLst/>
          </a:prstGeom>
          <a:solidFill>
            <a:srgbClr val="D5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6812280" cy="4434840"/>
          </a:xfrm>
          <a:prstGeom prst="roundRect">
            <a:avLst/>
          </a:prstGeom>
          <a:solidFill>
            <a:srgbClr val="FCFDFE"/>
          </a:solidFill>
          <a:ln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7512" y="2560320"/>
            <a:ext cx="1538478" cy="1325880"/>
          </a:xfrm>
          <a:prstGeom prst="roundRect">
            <a:avLst/>
          </a:prstGeom>
          <a:solidFill>
            <a:srgbClr val="E5F1F7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假说</a:t>
            </a:r>
            <a:br/>
            <a:r>
              <a:t>父代饮食能否改变成熟精子小 RNA，并通过受精后胚胎基因调控影响后代表型。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60270" y="3113532"/>
            <a:ext cx="201168" cy="219456"/>
          </a:xfrm>
          <a:prstGeom prst="rightArrow">
            <a:avLst/>
          </a:prstGeom>
          <a:solidFill>
            <a:srgbClr val="7A8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15718" y="2560320"/>
            <a:ext cx="1538478" cy="1325880"/>
          </a:xfrm>
          <a:prstGeom prst="roundRect">
            <a:avLst/>
          </a:prstGeom>
          <a:solidFill>
            <a:srgbClr val="F1EEF9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湿实验路线</a:t>
            </a:r>
            <a:br/>
            <a:r>
              <a:t>比较 testicular 与 mature sperm small RNAs；检测 epididymosome RNA cargo；在 ESC/embryos 中测试 Gly-tRF 对 MERVL genes 的抑制。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808476" y="3113532"/>
            <a:ext cx="201168" cy="219456"/>
          </a:xfrm>
          <a:prstGeom prst="rightArrow">
            <a:avLst/>
          </a:prstGeom>
          <a:solidFill>
            <a:srgbClr val="7A8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63924" y="2560320"/>
            <a:ext cx="1538478" cy="1325880"/>
          </a:xfrm>
          <a:prstGeom prst="roundRect">
            <a:avLst/>
          </a:prstGeom>
          <a:solidFill>
            <a:srgbClr val="EFF7EF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关键结果</a:t>
            </a:r>
            <a:br/>
            <a:r>
              <a:t>5′ Gly-tRF 在 epididymal maturation 中增加；epididymosomes 可递送 RNA；Gly-tRF 可抑制 ESC 和 embryos 中 MERVL 相关基因。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456682" y="3113532"/>
            <a:ext cx="201168" cy="219456"/>
          </a:xfrm>
          <a:prstGeom prst="rightArrow">
            <a:avLst/>
          </a:prstGeom>
          <a:solidFill>
            <a:srgbClr val="7A8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12130" y="2560320"/>
            <a:ext cx="1538478" cy="1325880"/>
          </a:xfrm>
          <a:prstGeom prst="roundRect">
            <a:avLst/>
          </a:prstGeom>
          <a:solidFill>
            <a:srgbClr val="FAF2E5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胚胎启发</a:t>
            </a:r>
            <a:br/>
            <a:r>
              <a:t>适合纳入父源小 RNA 与 ZGA/2-cell-like program 的交叉研究。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554480"/>
            <a:ext cx="61722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ctr">
              <a:defRPr sz="1500" b="1">
                <a:solidFill>
                  <a:srgbClr val="227C9D"/>
                </a:solidFill>
                <a:latin typeface="Microsoft YaHei"/>
              </a:defRPr>
            </a:pPr>
            <a:r>
              <a:t>精读示意图：从科学问题到可转化湿实验读出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559552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800" b="0">
                <a:solidFill>
                  <a:srgbClr val="637180"/>
                </a:solidFill>
                <a:latin typeface="Microsoft YaHei"/>
              </a:defRPr>
            </a:pPr>
            <a:r>
              <a:t>图：原文关键图/流程图；无开放图时为按论文逻辑重绘的实验示意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1143000"/>
            <a:ext cx="416052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1298448"/>
            <a:ext cx="3794760" cy="406908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逻辑 / 假说：父代饮食能否改变成熟精子小 RNA，并通过受精后胚胎基因调控影响后代表型。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方法步骤：比较 testicular 与 mature sperm small RNAs；检测 epididymosome RNA cargo；在 ESC/embryos 中测试 Gly-tRF 对 MERVL genes 的抑制。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关键结果：5′ Gly-tRF 在 epididymal maturation 中增加；epididymosomes 可递送 RNA；Gly-tRF 可抑制 ESC 和 embryos 中 MERVL 相关基因。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讨论与局限：经典论文提出机制框架，但精确靶点和胚胎阶段特异性仍需更高分辨率方法重做。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对早期胚胎研究的用途：适合纳入父源小 RNA 与 ZGA/2-cell-like program 的交叉研究。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806440"/>
            <a:ext cx="10972800" cy="475488"/>
          </a:xfrm>
          <a:prstGeom prst="roundRect">
            <a:avLst/>
          </a:prstGeom>
          <a:solidFill>
            <a:srgbClr val="ECF5F2"/>
          </a:solidFill>
          <a:ln>
            <a:solidFill>
              <a:srgbClr val="B9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50" b="1">
                <a:solidFill>
                  <a:srgbClr val="237A5C"/>
                </a:solidFill>
                <a:latin typeface="Microsoft YaHei"/>
              </a:defRPr>
            </a:pPr>
            <a:r>
              <a:t>Take-home: 适合纳入父源小 RNA 与 ZGA/2-cell-like program 的交叉研究。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46520"/>
            <a:ext cx="113385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750" b="0">
                <a:solidFill>
                  <a:srgbClr val="637180"/>
                </a:solidFill>
                <a:latin typeface="Microsoft YaHei"/>
              </a:defRPr>
            </a:pPr>
            <a:r>
              <a:t>Source: PMID 26721685 | Biogenesis and function of tRNA fragments during sperm maturation and fertilization in mammals.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精子 tsRNA 注入 zygote 可重塑早期胚胎与子代代谢表型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85800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900" b="0">
                <a:solidFill>
                  <a:srgbClr val="637180"/>
                </a:solidFill>
                <a:latin typeface="Microsoft YaHei"/>
              </a:defRPr>
            </a:pPr>
            <a:r>
              <a:t>Science, 2016 | PMID 26721680 | Sperm tsRNAs contribute to intergenerational inheritance of an acquired metabolic disorder.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84280" cy="18288"/>
          </a:xfrm>
          <a:prstGeom prst="rect">
            <a:avLst/>
          </a:prstGeom>
          <a:solidFill>
            <a:srgbClr val="D5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6812280" cy="4434840"/>
          </a:xfrm>
          <a:prstGeom prst="roundRect">
            <a:avLst/>
          </a:prstGeom>
          <a:solidFill>
            <a:srgbClr val="FCFDFE"/>
          </a:solidFill>
          <a:ln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7512" y="2560320"/>
            <a:ext cx="1538478" cy="1325880"/>
          </a:xfrm>
          <a:prstGeom prst="roundRect">
            <a:avLst/>
          </a:prstGeom>
          <a:solidFill>
            <a:srgbClr val="E5F1F7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假说</a:t>
            </a:r>
            <a:br/>
            <a:r>
              <a:t>高脂饮食诱导的父源代谢表型是否由 sperm tsRNA 介导，而非 DNA methylation alone。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60270" y="3113532"/>
            <a:ext cx="201168" cy="219456"/>
          </a:xfrm>
          <a:prstGeom prst="rightArrow">
            <a:avLst/>
          </a:prstGeom>
          <a:solidFill>
            <a:srgbClr val="7A8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15718" y="2560320"/>
            <a:ext cx="1538478" cy="1325880"/>
          </a:xfrm>
          <a:prstGeom prst="roundRect">
            <a:avLst/>
          </a:prstGeom>
          <a:solidFill>
            <a:srgbClr val="F1EEF9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湿实验路线</a:t>
            </a:r>
            <a:br/>
            <a:r>
              <a:t>建立 paternal HFD mouse model；测 sperm tsRNA profile 和 RNA modifications；将 sperm tsRNA fractions 注入正常 zygotes。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808476" y="3113532"/>
            <a:ext cx="201168" cy="219456"/>
          </a:xfrm>
          <a:prstGeom prst="rightArrow">
            <a:avLst/>
          </a:prstGeom>
          <a:solidFill>
            <a:srgbClr val="7A8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63924" y="2560320"/>
            <a:ext cx="1538478" cy="1325880"/>
          </a:xfrm>
          <a:prstGeom prst="roundRect">
            <a:avLst/>
          </a:prstGeom>
          <a:solidFill>
            <a:srgbClr val="EFF7EF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关键结果</a:t>
            </a:r>
            <a:br/>
            <a:r>
              <a:t>HFD 改变 30-34 nt 5′ tRNA halves；注入 tsRNA fraction 可诱导 F1 代谢异常，并改变 early embryos 与 islets 的基因表达。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456682" y="3113532"/>
            <a:ext cx="201168" cy="219456"/>
          </a:xfrm>
          <a:prstGeom prst="rightArrow">
            <a:avLst/>
          </a:prstGeom>
          <a:solidFill>
            <a:srgbClr val="7A8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12130" y="2560320"/>
            <a:ext cx="1538478" cy="1325880"/>
          </a:xfrm>
          <a:prstGeom prst="roundRect">
            <a:avLst/>
          </a:prstGeom>
          <a:solidFill>
            <a:srgbClr val="FAF2E5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胚胎启发</a:t>
            </a:r>
            <a:br/>
            <a:r>
              <a:t>为胚胎实验提供强因果模式：small RNA fraction/mimic zygote injection + long-term phenotype。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554480"/>
            <a:ext cx="61722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ctr">
              <a:defRPr sz="1500" b="1">
                <a:solidFill>
                  <a:srgbClr val="227C9D"/>
                </a:solidFill>
                <a:latin typeface="Microsoft YaHei"/>
              </a:defRPr>
            </a:pPr>
            <a:r>
              <a:t>精读示意图：从科学问题到可转化湿实验读出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559552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800" b="0">
                <a:solidFill>
                  <a:srgbClr val="637180"/>
                </a:solidFill>
                <a:latin typeface="Microsoft YaHei"/>
              </a:defRPr>
            </a:pPr>
            <a:r>
              <a:t>图：原文关键图/流程图；无开放图时为按论文逻辑重绘的实验示意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1143000"/>
            <a:ext cx="416052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1298448"/>
            <a:ext cx="3794760" cy="406908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逻辑 / 假说：高脂饮食诱导的父源代谢表型是否由 sperm tsRNA 介导，而非 DNA methylation alone。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方法步骤：建立 paternal HFD mouse model；测 sperm tsRNA profile 和 RNA modifications；将 sperm tsRNA fractions 注入正常 zygotes。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关键结果：HFD 改变 30-34 nt 5′ tRNA halves；注入 tsRNA fraction 可诱导 F1 代谢异常，并改变 early embryos 与 islets 的基因表达。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讨论与局限：fraction 注入不能完全定位单个 tsRNA；后续研究应使用合成修饰 tsRNA 和单分子功能验证。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对早期胚胎研究的用途：为胚胎实验提供强因果模式：small RNA fraction/mimic zygote injection + long-term phenotype。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806440"/>
            <a:ext cx="10972800" cy="475488"/>
          </a:xfrm>
          <a:prstGeom prst="roundRect">
            <a:avLst/>
          </a:prstGeom>
          <a:solidFill>
            <a:srgbClr val="ECF5F2"/>
          </a:solidFill>
          <a:ln>
            <a:solidFill>
              <a:srgbClr val="B9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50" b="1">
                <a:solidFill>
                  <a:srgbClr val="237A5C"/>
                </a:solidFill>
                <a:latin typeface="Microsoft YaHei"/>
              </a:defRPr>
            </a:pPr>
            <a:r>
              <a:t>Take-home: 为胚胎实验提供强因果模式：small RNA fraction/mimic zygote injection + long-term phenotype。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46520"/>
            <a:ext cx="113385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750" b="0">
                <a:solidFill>
                  <a:srgbClr val="637180"/>
                </a:solidFill>
                <a:latin typeface="Microsoft YaHei"/>
              </a:defRPr>
            </a:pPr>
            <a:r>
              <a:t>Source: PMID 26721680 | Sperm tsRNAs contribute to intergenerational inheritance of an acquired metabolic disorder.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PUS7 介导 tRF pseudouridylation 控制 stem cell translation 与胚层分化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85800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900" b="0">
                <a:solidFill>
                  <a:srgbClr val="637180"/>
                </a:solidFill>
                <a:latin typeface="Microsoft YaHei"/>
              </a:defRPr>
            </a:pPr>
            <a:r>
              <a:t>Cell, 2018 | PMID 29628141 | Pseudouridylation of tRNA-Derived Fragments Steers Translational Control in Stem Cells.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84280" cy="18288"/>
          </a:xfrm>
          <a:prstGeom prst="rect">
            <a:avLst/>
          </a:prstGeom>
          <a:solidFill>
            <a:srgbClr val="D5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6812280" cy="4434840"/>
          </a:xfrm>
          <a:prstGeom prst="roundRect">
            <a:avLst/>
          </a:prstGeom>
          <a:solidFill>
            <a:srgbClr val="FCFDFE"/>
          </a:solidFill>
          <a:ln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7512" y="2560320"/>
            <a:ext cx="1538478" cy="1325880"/>
          </a:xfrm>
          <a:prstGeom prst="roundRect">
            <a:avLst/>
          </a:prstGeom>
          <a:solidFill>
            <a:srgbClr val="E5F1F7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假说</a:t>
            </a:r>
            <a:br/>
            <a:r>
              <a:t>tRF 的 Ψ 修饰是否赋予其调控 translation initiation 的功能，从而影响 early embryogenesis/stem cell commitment。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60270" y="3113532"/>
            <a:ext cx="201168" cy="219456"/>
          </a:xfrm>
          <a:prstGeom prst="rightArrow">
            <a:avLst/>
          </a:prstGeom>
          <a:solidFill>
            <a:srgbClr val="7A8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15718" y="2560320"/>
            <a:ext cx="1538478" cy="1325880"/>
          </a:xfrm>
          <a:prstGeom prst="roundRect">
            <a:avLst/>
          </a:prstGeom>
          <a:solidFill>
            <a:srgbClr val="F1EEF9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湿实验路线</a:t>
            </a:r>
            <a:br/>
            <a:r>
              <a:t>鉴定 PUS7-dependent tRF network；测试 tRF 对 translation initiation complex 的作用；在 ESC differentiation 与 HSC commitment 中验证。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808476" y="3113532"/>
            <a:ext cx="201168" cy="219456"/>
          </a:xfrm>
          <a:prstGeom prst="rightArrow">
            <a:avLst/>
          </a:prstGeom>
          <a:solidFill>
            <a:srgbClr val="7A8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63924" y="2560320"/>
            <a:ext cx="1538478" cy="1325880"/>
          </a:xfrm>
          <a:prstGeom prst="roundRect">
            <a:avLst/>
          </a:prstGeom>
          <a:solidFill>
            <a:srgbClr val="EFF7EF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关键结果</a:t>
            </a:r>
            <a:br/>
            <a:r>
              <a:t>PUS7 修改并激活特定 tRF；PUS7 loss 破坏 tRF-mediated translational control，导致 protein biosynthesis 上升和 germ layer specification 缺陷。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456682" y="3113532"/>
            <a:ext cx="201168" cy="219456"/>
          </a:xfrm>
          <a:prstGeom prst="rightArrow">
            <a:avLst/>
          </a:prstGeom>
          <a:solidFill>
            <a:srgbClr val="7A8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12130" y="2560320"/>
            <a:ext cx="1538478" cy="1325880"/>
          </a:xfrm>
          <a:prstGeom prst="roundRect">
            <a:avLst/>
          </a:prstGeom>
          <a:solidFill>
            <a:srgbClr val="FAF2E5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胚胎启发</a:t>
            </a:r>
            <a:br/>
            <a:r>
              <a:t>提示胚胎 tRF 研究必须同时测 sequence 和 modification，而不仅是 small RNA abundance。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554480"/>
            <a:ext cx="61722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ctr">
              <a:defRPr sz="1500" b="1">
                <a:solidFill>
                  <a:srgbClr val="227C9D"/>
                </a:solidFill>
                <a:latin typeface="Microsoft YaHei"/>
              </a:defRPr>
            </a:pPr>
            <a:r>
              <a:t>精读示意图：从科学问题到可转化湿实验读出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559552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800" b="0">
                <a:solidFill>
                  <a:srgbClr val="637180"/>
                </a:solidFill>
                <a:latin typeface="Microsoft YaHei"/>
              </a:defRPr>
            </a:pPr>
            <a:r>
              <a:t>图：原文关键图/流程图；无开放图时为按论文逻辑重绘的实验示意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1143000"/>
            <a:ext cx="416052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1298448"/>
            <a:ext cx="3794760" cy="406908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逻辑 / 假说：tRF 的 Ψ 修饰是否赋予其调控 translation initiation 的功能，从而影响 early embryogenesis/stem cell commitment。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方法步骤：鉴定 PUS7-dependent tRF network；测试 tRF 对 translation initiation complex 的作用；在 ESC differentiation 与 HSC commitment 中验证。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关键结果：PUS7 修改并激活特定 tRF；PUS7 loss 破坏 tRF-mediated translational control，导致 protein biosynthesis 上升和 germ layer specification 缺陷。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讨论与局限：多在 stem cell 系统，移植到胚胎需验证时空表达、修饰状态和 microinjection rescue。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对早期胚胎研究的用途：提示胚胎 tRF 研究必须同时测 sequence 和 modification，而不仅是 small RNA abundance。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806440"/>
            <a:ext cx="10972800" cy="475488"/>
          </a:xfrm>
          <a:prstGeom prst="roundRect">
            <a:avLst/>
          </a:prstGeom>
          <a:solidFill>
            <a:srgbClr val="ECF5F2"/>
          </a:solidFill>
          <a:ln>
            <a:solidFill>
              <a:srgbClr val="B9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50" b="1">
                <a:solidFill>
                  <a:srgbClr val="237A5C"/>
                </a:solidFill>
                <a:latin typeface="Microsoft YaHei"/>
              </a:defRPr>
            </a:pPr>
            <a:r>
              <a:t>Take-home: 提示胚胎 tRF 研究必须同时测 sequence 和 modification，而不仅是 small RNA abundance。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46520"/>
            <a:ext cx="113385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750" b="0">
                <a:solidFill>
                  <a:srgbClr val="637180"/>
                </a:solidFill>
                <a:latin typeface="Microsoft YaHei"/>
              </a:defRPr>
            </a:pPr>
            <a:r>
              <a:t>Source: PMID 29628141 | Pseudouridylation of tRNA-Derived Fragments Steers Translational Control in Stem Cells.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METTL1/WDR4-m7G tRNA methylome 是 ESC 翻译稳态和分化能力的必要条件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85800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900" b="0">
                <a:solidFill>
                  <a:srgbClr val="637180"/>
                </a:solidFill>
                <a:latin typeface="Microsoft YaHei"/>
              </a:defRPr>
            </a:pPr>
            <a:r>
              <a:t>Molecular Cell, 2018 | PMID 29983320 | Mettl1/Wdr4-Mediated m7G tRNA Methylome Is Required for Normal mRNA Translation and Embryonic Stem Cell Self-Renewal and Differentiation.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84280" cy="18288"/>
          </a:xfrm>
          <a:prstGeom prst="rect">
            <a:avLst/>
          </a:prstGeom>
          <a:solidFill>
            <a:srgbClr val="D5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6812280" cy="4434840"/>
          </a:xfrm>
          <a:prstGeom prst="roundRect">
            <a:avLst/>
          </a:prstGeom>
          <a:solidFill>
            <a:srgbClr val="FCFDFE"/>
          </a:solidFill>
          <a:ln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7512" y="2560320"/>
            <a:ext cx="1538478" cy="1325880"/>
          </a:xfrm>
          <a:prstGeom prst="roundRect">
            <a:avLst/>
          </a:prstGeom>
          <a:solidFill>
            <a:srgbClr val="E5F1F7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假说</a:t>
            </a:r>
            <a:br/>
            <a:r>
              <a:t>tRNA m7G modification 是否通过 codon-specific ribosome pausing 影响 ESC self-renewal 和 differentiation。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60270" y="3113532"/>
            <a:ext cx="201168" cy="219456"/>
          </a:xfrm>
          <a:prstGeom prst="rightArrow">
            <a:avLst/>
          </a:prstGeom>
          <a:solidFill>
            <a:srgbClr val="7A8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15718" y="2560320"/>
            <a:ext cx="1538478" cy="1325880"/>
          </a:xfrm>
          <a:prstGeom prst="roundRect">
            <a:avLst/>
          </a:prstGeom>
          <a:solidFill>
            <a:srgbClr val="F1EEF9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湿实验路线</a:t>
            </a:r>
            <a:br/>
            <a:r>
              <a:t>建立 m7G tRNA MeRIP-seq 与 TRAC-seq；构建 Mettl1/Wdr4 knockout mESC；分析 ribosome occupancy 与分化表型。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808476" y="3113532"/>
            <a:ext cx="201168" cy="219456"/>
          </a:xfrm>
          <a:prstGeom prst="rightArrow">
            <a:avLst/>
          </a:prstGeom>
          <a:solidFill>
            <a:srgbClr val="7A8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63924" y="2560320"/>
            <a:ext cx="1538478" cy="1325880"/>
          </a:xfrm>
          <a:prstGeom prst="roundRect">
            <a:avLst/>
          </a:prstGeom>
          <a:solidFill>
            <a:srgbClr val="EFF7EF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关键结果</a:t>
            </a:r>
            <a:br/>
            <a:r>
              <a:t>22 个 tRNAs 在 RAGGU motif 发生 m7G；Mettl1 KO 改变对应 codon 的 ribosome occupancy，影响 cell cycle/brain-related genes 的翻译。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456682" y="3113532"/>
            <a:ext cx="201168" cy="219456"/>
          </a:xfrm>
          <a:prstGeom prst="rightArrow">
            <a:avLst/>
          </a:prstGeom>
          <a:solidFill>
            <a:srgbClr val="7A8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12130" y="2560320"/>
            <a:ext cx="1538478" cy="1325880"/>
          </a:xfrm>
          <a:prstGeom prst="roundRect">
            <a:avLst/>
          </a:prstGeom>
          <a:solidFill>
            <a:srgbClr val="FAF2E5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胚胎启发</a:t>
            </a:r>
            <a:br/>
            <a:r>
              <a:t>可优先检测 Mettl1/Wdr4 在 oocyte、2-cell、blastocyst 的表达与 m7G-tRNA 动态。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554480"/>
            <a:ext cx="61722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ctr">
              <a:defRPr sz="1500" b="1">
                <a:solidFill>
                  <a:srgbClr val="227C9D"/>
                </a:solidFill>
                <a:latin typeface="Microsoft YaHei"/>
              </a:defRPr>
            </a:pPr>
            <a:r>
              <a:t>精读示意图：从科学问题到可转化湿实验读出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559552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800" b="0">
                <a:solidFill>
                  <a:srgbClr val="637180"/>
                </a:solidFill>
                <a:latin typeface="Microsoft YaHei"/>
              </a:defRPr>
            </a:pPr>
            <a:r>
              <a:t>图：原文关键图/流程图；无开放图时为按论文逻辑重绘的实验示意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1143000"/>
            <a:ext cx="416052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1298448"/>
            <a:ext cx="3794760" cy="406908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逻辑 / 假说：tRNA m7G modification 是否通过 codon-specific ribosome pausing 影响 ESC self-renewal 和 differentiation。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方法步骤：建立 m7G tRNA MeRIP-seq 与 TRAC-seq；构建 Mettl1/Wdr4 knockout mESC；分析 ribosome occupancy 与分化表型。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关键结果：22 个 tRNAs 在 RAGGU motif 发生 m7G；Mettl1 KO 改变对应 codon 的 ribosome occupancy，影响 cell cycle/brain-related genes 的翻译。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讨论与局限：ESC 不是完整胚胎；但为早期胚胎细胞命运转换提供了 tRNA modification 维度的机制候选。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对早期胚胎研究的用途：可优先检测 Mettl1/Wdr4 在 oocyte、2-cell、blastocyst 的表达与 m7G-tRNA 动态。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806440"/>
            <a:ext cx="10972800" cy="475488"/>
          </a:xfrm>
          <a:prstGeom prst="roundRect">
            <a:avLst/>
          </a:prstGeom>
          <a:solidFill>
            <a:srgbClr val="ECF5F2"/>
          </a:solidFill>
          <a:ln>
            <a:solidFill>
              <a:srgbClr val="B9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50" b="1">
                <a:solidFill>
                  <a:srgbClr val="237A5C"/>
                </a:solidFill>
                <a:latin typeface="Microsoft YaHei"/>
              </a:defRPr>
            </a:pPr>
            <a:r>
              <a:t>Take-home: 可优先检测 Mettl1/Wdr4 在 oocyte、2-cell、blastocyst 的表达与 m7G-tRNA 动态。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46520"/>
            <a:ext cx="113385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750" b="0">
                <a:solidFill>
                  <a:srgbClr val="637180"/>
                </a:solidFill>
                <a:latin typeface="Microsoft YaHei"/>
              </a:defRPr>
            </a:pPr>
            <a:r>
              <a:t>Source: PMID 29983320 | Mettl1/Wdr4-Mediated m7G tRNA Methylome Is Required for Normal mRNA Translation and Embryonic Stem Cell Self-Renewal and Differentiation.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5156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3000" b="1">
                <a:solidFill>
                  <a:srgbClr val="227C9D"/>
                </a:solidFill>
                <a:latin typeface="Microsoft YaHei"/>
              </a:defRPr>
            </a:pPr>
            <a:r>
              <a:t>第二部分：可迁移到胚胎样本的 tRNA 湿实验工具箱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755648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1300" b="0">
                <a:solidFill>
                  <a:srgbClr val="637180"/>
                </a:solidFill>
                <a:latin typeface="Microsoft YaHei"/>
              </a:defRPr>
            </a:pPr>
            <a:r>
              <a:t>这些本地文献主要解决 tRNA 难测、难定量、难区分修饰和 charging 的技术瓶颈</a:t>
            </a:r>
          </a:p>
        </p:txBody>
      </p:sp>
      <p:sp>
        <p:nvSpPr>
          <p:cNvPr id="4" name="Oval 3"/>
          <p:cNvSpPr/>
          <p:nvPr/>
        </p:nvSpPr>
        <p:spPr>
          <a:xfrm>
            <a:off x="2194560" y="3639312"/>
            <a:ext cx="1554480" cy="768096"/>
          </a:xfrm>
          <a:prstGeom prst="ellipse">
            <a:avLst/>
          </a:prstGeom>
          <a:solidFill>
            <a:srgbClr val="EBF6F1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200" b="1">
                <a:solidFill>
                  <a:srgbClr val="237A5C"/>
                </a:solidFill>
                <a:latin typeface="Microsoft YaHei"/>
              </a:defRPr>
            </a:pPr>
            <a:r>
              <a:t>早期胚胎</a:t>
            </a:r>
            <a:br/>
            <a:r>
              <a:t>翻译重编程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2629814"/>
            <a:ext cx="1920240" cy="621792"/>
          </a:xfrm>
          <a:prstGeom prst="roundRect">
            <a:avLst/>
          </a:prstGeom>
          <a:solidFill>
            <a:srgbClr val="F7F9FB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50" b="1">
                <a:solidFill>
                  <a:srgbClr val="1F2937"/>
                </a:solidFill>
                <a:latin typeface="Microsoft YaHei"/>
              </a:defRPr>
            </a:pPr>
            <a:r>
              <a:t>tRNA pool</a:t>
            </a:r>
            <a:br/>
            <a:r>
              <a:t>丰度 / isodecoder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2971800.0" y="2940710.4"/>
            <a:ext cx="0.0" cy="1082649.6"/>
          </a:xfrm>
          <a:prstGeom prst="line">
            <a:avLst/>
          </a:prstGeom>
          <a:ln w="12700">
            <a:solidFill>
              <a:srgbClr val="BD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949282" y="3171139"/>
            <a:ext cx="1920240" cy="621792"/>
          </a:xfrm>
          <a:prstGeom prst="roundRect">
            <a:avLst/>
          </a:prstGeom>
          <a:solidFill>
            <a:srgbClr val="F7F9FB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50" b="1">
                <a:solidFill>
                  <a:srgbClr val="1F2937"/>
                </a:solidFill>
                <a:latin typeface="Microsoft YaHei"/>
              </a:defRPr>
            </a:pPr>
            <a:r>
              <a:t>Modification</a:t>
            </a:r>
            <a:br/>
            <a:r>
              <a:t>m1A / m7G / Ψ / xm5s2U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971800.0" y="3482035.2"/>
            <a:ext cx="937602.0569970608" cy="541324.7999999998"/>
          </a:xfrm>
          <a:prstGeom prst="line">
            <a:avLst/>
          </a:prstGeom>
          <a:ln w="12700">
            <a:solidFill>
              <a:srgbClr val="BD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49282" y="4253788"/>
            <a:ext cx="1920240" cy="621792"/>
          </a:xfrm>
          <a:prstGeom prst="roundRect">
            <a:avLst/>
          </a:prstGeom>
          <a:solidFill>
            <a:srgbClr val="F7F9FB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50" b="1">
                <a:solidFill>
                  <a:srgbClr val="1F2937"/>
                </a:solidFill>
                <a:latin typeface="Microsoft YaHei"/>
              </a:defRPr>
            </a:pPr>
            <a:r>
              <a:t>Charging</a:t>
            </a:r>
            <a:br/>
            <a:r>
              <a:t>aminoacylation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71800.0" y="4023360.0"/>
            <a:ext cx="937602.0569970612" cy="541324.7999999998"/>
          </a:xfrm>
          <a:prstGeom prst="line">
            <a:avLst/>
          </a:prstGeom>
          <a:ln w="12700">
            <a:solidFill>
              <a:srgbClr val="BD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011680" y="4795113"/>
            <a:ext cx="1920240" cy="621792"/>
          </a:xfrm>
          <a:prstGeom prst="roundRect">
            <a:avLst/>
          </a:prstGeom>
          <a:solidFill>
            <a:srgbClr val="F7F9FB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50" b="1">
                <a:solidFill>
                  <a:srgbClr val="1F2937"/>
                </a:solidFill>
                <a:latin typeface="Microsoft YaHei"/>
              </a:defRPr>
            </a:pPr>
            <a:r>
              <a:t>Structure</a:t>
            </a:r>
            <a:br/>
            <a:r>
              <a:t>in vivo folding / interactome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71800.0" y="4023360.0"/>
            <a:ext cx="0.0" cy="1082649.5999999996"/>
          </a:xfrm>
          <a:prstGeom prst="line">
            <a:avLst/>
          </a:prstGeom>
          <a:ln w="12700">
            <a:solidFill>
              <a:srgbClr val="BD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74077" y="4253788"/>
            <a:ext cx="1920240" cy="621792"/>
          </a:xfrm>
          <a:prstGeom prst="roundRect">
            <a:avLst/>
          </a:prstGeom>
          <a:solidFill>
            <a:srgbClr val="F7F9FB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50" b="1">
                <a:solidFill>
                  <a:srgbClr val="1F2937"/>
                </a:solidFill>
                <a:latin typeface="Microsoft YaHei"/>
              </a:defRPr>
            </a:pPr>
            <a:r>
              <a:t>Fragments</a:t>
            </a:r>
            <a:br/>
            <a:r>
              <a:t>tRF / tsRNA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034197.9430029392" y="4023360.0"/>
            <a:ext cx="937602.0569970608" cy="541324.8000000007"/>
          </a:xfrm>
          <a:prstGeom prst="line">
            <a:avLst/>
          </a:prstGeom>
          <a:ln w="12700">
            <a:solidFill>
              <a:srgbClr val="BD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74077" y="3171139"/>
            <a:ext cx="1920240" cy="621792"/>
          </a:xfrm>
          <a:prstGeom prst="roundRect">
            <a:avLst/>
          </a:prstGeom>
          <a:solidFill>
            <a:srgbClr val="F7F9FB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50" b="1">
                <a:solidFill>
                  <a:srgbClr val="1F2937"/>
                </a:solidFill>
                <a:latin typeface="Microsoft YaHei"/>
              </a:defRPr>
            </a:pPr>
            <a:r>
              <a:t>Translation</a:t>
            </a:r>
            <a:br/>
            <a:r>
              <a:t>codon demand / MZT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2034197.943002939" y="3482035.1999999997"/>
            <a:ext cx="937602.056997061" cy="541324.8000000003"/>
          </a:xfrm>
          <a:prstGeom prst="line">
            <a:avLst/>
          </a:prstGeom>
          <a:ln w="12700">
            <a:solidFill>
              <a:srgbClr val="BD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715000" y="2423160"/>
            <a:ext cx="5303520" cy="306324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Microsoft YaHei"/>
              </a:defRPr>
            </a:pPr>
            <a:r>
              <a:t>选择方法时先问：样本量、是否需要 single-isodecoder、是否需要修饰或 charging。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Microsoft YaHei"/>
              </a:defRPr>
            </a:pPr>
            <a:r>
              <a:t>结果解释必须配 spike-in、低输入重复和 orthogonal validation。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Microsoft YaHei"/>
              </a:defRPr>
            </a:pPr>
            <a:r>
              <a:t>低输入胚胎建议从 landscape 进入候选验证，不一开始追求全层级。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46520"/>
            <a:ext cx="113385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750" b="0">
                <a:solidFill>
                  <a:srgbClr val="637180"/>
                </a:solidFill>
                <a:latin typeface="Microsoft YaHei"/>
              </a:defRPr>
            </a:pPr>
            <a:r>
              <a:t>来源：本报告综合整理自入选文献；后续逐篇页面列出 PMID 和标题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Nano-tRNAseq 同时读出 native tRNA abundance 与 modification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85800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900" b="0">
                <a:solidFill>
                  <a:srgbClr val="637180"/>
                </a:solidFill>
                <a:latin typeface="Microsoft YaHei"/>
              </a:defRPr>
            </a:pPr>
            <a:r>
              <a:t>Nature Biotechnology, 2024 | PMID 37024678 | Quantitative analysis of tRNA abundance and modifications by nanopore RNA sequencing.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84280" cy="18288"/>
          </a:xfrm>
          <a:prstGeom prst="rect">
            <a:avLst/>
          </a:prstGeom>
          <a:solidFill>
            <a:srgbClr val="D5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6812280" cy="4434840"/>
          </a:xfrm>
          <a:prstGeom prst="roundRect">
            <a:avLst/>
          </a:prstGeom>
          <a:solidFill>
            <a:srgbClr val="FCFDFE"/>
          </a:solidFill>
          <a:ln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MC10791586_41587_2023_1743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818" y="1252728"/>
            <a:ext cx="4800484" cy="4215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559552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800" b="0">
                <a:solidFill>
                  <a:srgbClr val="637180"/>
                </a:solidFill>
                <a:latin typeface="Microsoft YaHei"/>
              </a:defRPr>
            </a:pPr>
            <a:r>
              <a:t>图：原文关键图/流程图；无开放图时为按论文逻辑重绘的实验示意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143000"/>
            <a:ext cx="416052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298448"/>
            <a:ext cx="3794760" cy="406908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逻辑 / 假说：能否绕过 RT 停顿与短 tRNA reads 丢失，实现 abundance 和 modification 的单实验定量。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方法步骤：优化 nanopore native tRNA library；重新处理 raw current signals；在 yeast 中做 abundance、modification crosstalk 和 oxidative stress 应用。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关键结果：raw signal re-processing 大幅提高 tRNA reads 回收；可同时估计 tRNA 丰度和修饰变化，并看到 oxidative stress 下 tRNA population 改变。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讨论与局限：输入量、测序深度和胚胎样本适配仍需优化；对低输入 embryos 需先做 spike-in 与 pooling。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对早期胚胎研究的用途：适合作为胚胎 tRNA abundance + modification 的高通量候选平台。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806440"/>
            <a:ext cx="10972800" cy="475488"/>
          </a:xfrm>
          <a:prstGeom prst="roundRect">
            <a:avLst/>
          </a:prstGeom>
          <a:solidFill>
            <a:srgbClr val="ECF5F2"/>
          </a:solidFill>
          <a:ln>
            <a:solidFill>
              <a:srgbClr val="B9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50" b="1">
                <a:solidFill>
                  <a:srgbClr val="237A5C"/>
                </a:solidFill>
                <a:latin typeface="Microsoft YaHei"/>
              </a:defRPr>
            </a:pPr>
            <a:r>
              <a:t>Take-home: 适合作为胚胎 tRNA abundance + modification 的高通量候选平台。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46520"/>
            <a:ext cx="113385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750" b="0">
                <a:solidFill>
                  <a:srgbClr val="637180"/>
                </a:solidFill>
                <a:latin typeface="Microsoft YaHei"/>
              </a:defRPr>
            </a:pPr>
            <a:r>
              <a:t>Source: PMID 37024678 | Quantitative analysis of tRNA abundance and modifications by nanopore RNA sequencing.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mim-tRNAseq 用 misincorporation signature 定量 eukaryotic tRNA abundance/modification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85800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900" b="0">
                <a:solidFill>
                  <a:srgbClr val="637180"/>
                </a:solidFill>
                <a:latin typeface="Microsoft YaHei"/>
              </a:defRPr>
            </a:pPr>
            <a:r>
              <a:t>Molecular Cell, 2021 | PMID 33581077 | High-resolution quantitative profiling of tRNA abundance and modification status in eukaryotes by mim-tRNAseq.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84280" cy="18288"/>
          </a:xfrm>
          <a:prstGeom prst="rect">
            <a:avLst/>
          </a:prstGeom>
          <a:solidFill>
            <a:srgbClr val="D5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6812280" cy="4434840"/>
          </a:xfrm>
          <a:prstGeom prst="roundRect">
            <a:avLst/>
          </a:prstGeom>
          <a:solidFill>
            <a:srgbClr val="FCFDFE"/>
          </a:solidFill>
          <a:ln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im_tRNAseq_gr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346" y="1252728"/>
            <a:ext cx="5065428" cy="4215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559552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800" b="0">
                <a:solidFill>
                  <a:srgbClr val="637180"/>
                </a:solidFill>
                <a:latin typeface="Microsoft YaHei"/>
              </a:defRPr>
            </a:pPr>
            <a:r>
              <a:t>图：原文关键图/流程图；无开放图时为按论文逻辑重绘的实验示意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143000"/>
            <a:ext cx="416052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298448"/>
            <a:ext cx="3794760" cy="406908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逻辑 / 假说：能否利用修饰诱导错配而非将其视作测序噪声，提升 tRNA full-length sequencing 与修饰推断。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方法步骤：TGIRT template switching library construction；配套 alignment/computational pipeline；在人、果蝇、酵母中验证。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关键结果：提升 tRNA coverage 和 abundance estimates；发现 human cell lines 之间 isodecoder pool 差异和同一 tRNA 内修饰互作。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讨论与局限：需要已知基因组和良好注释；在胚胎低输入条件下要验证反转录偏倚和 batch effects。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对早期胚胎研究的用途：适合胚胎阶段样本的 first-pass tRNA abundance/modification profiling。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806440"/>
            <a:ext cx="10972800" cy="475488"/>
          </a:xfrm>
          <a:prstGeom prst="roundRect">
            <a:avLst/>
          </a:prstGeom>
          <a:solidFill>
            <a:srgbClr val="ECF5F2"/>
          </a:solidFill>
          <a:ln>
            <a:solidFill>
              <a:srgbClr val="B9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50" b="1">
                <a:solidFill>
                  <a:srgbClr val="237A5C"/>
                </a:solidFill>
                <a:latin typeface="Microsoft YaHei"/>
              </a:defRPr>
            </a:pPr>
            <a:r>
              <a:t>Take-home: 适合胚胎阶段样本的 first-pass tRNA abundance/modification profiling。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46520"/>
            <a:ext cx="113385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750" b="0">
                <a:solidFill>
                  <a:srgbClr val="637180"/>
                </a:solidFill>
                <a:latin typeface="Microsoft YaHei"/>
              </a:defRPr>
            </a:pPr>
            <a:r>
              <a:t>Source: PMID 33581077 | High-resolution quantitative profiling of tRNA abundance and modification status in eukaryotes by mim-tRNAseq.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aa-tRNA-seq 在单分子层面读取 tRNA charging 与 amino acid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85800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900" b="0">
                <a:solidFill>
                  <a:srgbClr val="637180"/>
                </a:solidFill>
                <a:latin typeface="Microsoft YaHei"/>
              </a:defRPr>
            </a:pPr>
            <a:r>
              <a:t>Nature Communications, 2025 | PMID 40835813 | Nanopore sequencing of intact aminoacylated tRNAs.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84280" cy="18288"/>
          </a:xfrm>
          <a:prstGeom prst="rect">
            <a:avLst/>
          </a:prstGeom>
          <a:solidFill>
            <a:srgbClr val="D5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6812280" cy="4434840"/>
          </a:xfrm>
          <a:prstGeom prst="roundRect">
            <a:avLst/>
          </a:prstGeom>
          <a:solidFill>
            <a:srgbClr val="FCFDFE"/>
          </a:solidFill>
          <a:ln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MC12368100_41467_2025_62545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676" y="1252728"/>
            <a:ext cx="3224768" cy="4215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559552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800" b="0">
                <a:solidFill>
                  <a:srgbClr val="637180"/>
                </a:solidFill>
                <a:latin typeface="Microsoft YaHei"/>
              </a:defRPr>
            </a:pPr>
            <a:r>
              <a:t>图：原文关键图/流程图；无开放图时为按论文逻辑重绘的实验示意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143000"/>
            <a:ext cx="416052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298448"/>
            <a:ext cx="3794760" cy="406908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逻辑 / 假说：能否在不破坏 aminoacyl linkage 的情况下同时解析 tRNA identity、modification 和 charging state。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方法步骤：化学连接 adapter 将 amino acid 夹在 tRNA 与 adapter 之间；nanopore sequencing；机器学习从 signal distortion 识别 amino acid。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关键结果：可区分 amino acid identity 并估计 charging；在 tRNA modification enzyme loss 背景下发现 hypomodification-associated tRNA instability。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讨论与局限：方法新且复杂；胚胎应用需解决低输入、酸性保护、样本损耗和模型训练。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对早期胚胎研究的用途：一旦优化，可直接回答 MZT 期间“tRNA abundance 变了还是 charging efficiency 变了”。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806440"/>
            <a:ext cx="10972800" cy="475488"/>
          </a:xfrm>
          <a:prstGeom prst="roundRect">
            <a:avLst/>
          </a:prstGeom>
          <a:solidFill>
            <a:srgbClr val="ECF5F2"/>
          </a:solidFill>
          <a:ln>
            <a:solidFill>
              <a:srgbClr val="B9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50" b="1">
                <a:solidFill>
                  <a:srgbClr val="237A5C"/>
                </a:solidFill>
                <a:latin typeface="Microsoft YaHei"/>
              </a:defRPr>
            </a:pPr>
            <a:r>
              <a:t>Take-home: 一旦优化，可直接回答 MZT 期间“tRNA abundance 变了还是 charging efficiency 变了”。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46520"/>
            <a:ext cx="113385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750" b="0">
                <a:solidFill>
                  <a:srgbClr val="637180"/>
                </a:solidFill>
                <a:latin typeface="Microsoft YaHei"/>
              </a:defRPr>
            </a:pPr>
            <a:r>
              <a:t>Source: PMID 40835813 | Nanopore sequencing of intact aminoacylated tRNAs.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DM-DMS-MaPseq 把 tRNA folding/interactome 带到 in vivo transcriptome-wide 层面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85800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900" b="0">
                <a:solidFill>
                  <a:srgbClr val="637180"/>
                </a:solidFill>
                <a:latin typeface="Microsoft YaHei"/>
              </a:defRPr>
            </a:pPr>
            <a:r>
              <a:t>Nature Communications, 2025 | PMID 40447571 | In vivo structure profiling reveals human cytosolic and mitochondrial tRNA structurome and interactome in response to stress.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84280" cy="18288"/>
          </a:xfrm>
          <a:prstGeom prst="rect">
            <a:avLst/>
          </a:prstGeom>
          <a:solidFill>
            <a:srgbClr val="D5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6812280" cy="4434840"/>
          </a:xfrm>
          <a:prstGeom prst="roundRect">
            <a:avLst/>
          </a:prstGeom>
          <a:solidFill>
            <a:srgbClr val="FCFDFE"/>
          </a:solidFill>
          <a:ln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MC12125218_41467_2025_59435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196" y="1252728"/>
            <a:ext cx="4749728" cy="4215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559552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800" b="0">
                <a:solidFill>
                  <a:srgbClr val="637180"/>
                </a:solidFill>
                <a:latin typeface="Microsoft YaHei"/>
              </a:defRPr>
            </a:pPr>
            <a:r>
              <a:t>图：原文关键图/流程图；无开放图时为按论文逻辑重绘的实验示意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143000"/>
            <a:ext cx="416052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298448"/>
            <a:ext cx="3794760" cy="406908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逻辑 / 假说：细胞内 tRNA 结构是否与 in vitro folding 不同，并在 oxidative stress 下产生功能性互作改变。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方法步骤：DMS probing + demethylase treatment + MaP sequencing；分析 cytosolic 与 mitochondrial tRNA DMS profiles；比较 arsenite stress。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关键结果：tRNA in vivo DMS profile 与 in vitro 明显不同，反映 protein/ribosome interactions；arsenite 诱导 cytosolic 和 mitochondrial tRNA 结构/互作变化。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讨论与局限：目前在细胞系中完成；低输入胚胎需缩小反应体系并控制 DMS toxicity/time window。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对早期胚胎研究的用途：可用于检测胚胎应激或 ZGA 期间 tRNA 是否发生结构和互作重排。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806440"/>
            <a:ext cx="10972800" cy="475488"/>
          </a:xfrm>
          <a:prstGeom prst="roundRect">
            <a:avLst/>
          </a:prstGeom>
          <a:solidFill>
            <a:srgbClr val="ECF5F2"/>
          </a:solidFill>
          <a:ln>
            <a:solidFill>
              <a:srgbClr val="B9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50" b="1">
                <a:solidFill>
                  <a:srgbClr val="237A5C"/>
                </a:solidFill>
                <a:latin typeface="Microsoft YaHei"/>
              </a:defRPr>
            </a:pPr>
            <a:r>
              <a:t>Take-home: 可用于检测胚胎应激或 ZGA 期间 tRNA 是否发生结构和互作重排。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46520"/>
            <a:ext cx="113385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750" b="0">
                <a:solidFill>
                  <a:srgbClr val="637180"/>
                </a:solidFill>
                <a:latin typeface="Microsoft YaHei"/>
              </a:defRPr>
            </a:pPr>
            <a:r>
              <a:t>Source: PMID 40447571 | In vivo structure profiling reveals human cytosolic and mitochondrial tRNA structurome and interactome in response to stress.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LIDAR 捕获传统 ligation-dependent small RNA-seq 漏掉的 blocked-end tDRs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85800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900" b="0">
                <a:solidFill>
                  <a:srgbClr val="637180"/>
                </a:solidFill>
                <a:latin typeface="Microsoft YaHei"/>
              </a:defRPr>
            </a:pPr>
            <a:r>
              <a:t>Molecular Cell, 2024 | PMID 39096899 | A ligation-independent sequencing method reveals tRNA-derived RNAs with blocked 3' termini.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84280" cy="18288"/>
          </a:xfrm>
          <a:prstGeom prst="rect">
            <a:avLst/>
          </a:prstGeom>
          <a:solidFill>
            <a:srgbClr val="D5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6812280" cy="4434840"/>
          </a:xfrm>
          <a:prstGeom prst="roundRect">
            <a:avLst/>
          </a:prstGeom>
          <a:solidFill>
            <a:srgbClr val="FCFDFE"/>
          </a:solidFill>
          <a:ln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7512" y="2560320"/>
            <a:ext cx="1538478" cy="1325880"/>
          </a:xfrm>
          <a:prstGeom prst="roundRect">
            <a:avLst/>
          </a:prstGeom>
          <a:solidFill>
            <a:srgbClr val="E5F1F7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假说</a:t>
            </a:r>
            <a:br/>
            <a:r>
              <a:t>RNA 3′ 端修饰是否导致大量 tRNA-derived RNAs 在常规 small RNA-seq 中被系统性漏检。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60270" y="3113532"/>
            <a:ext cx="201168" cy="219456"/>
          </a:xfrm>
          <a:prstGeom prst="rightArrow">
            <a:avLst/>
          </a:prstGeom>
          <a:solidFill>
            <a:srgbClr val="7A8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15718" y="2560320"/>
            <a:ext cx="1538478" cy="1325880"/>
          </a:xfrm>
          <a:prstGeom prst="roundRect">
            <a:avLst/>
          </a:prstGeom>
          <a:solidFill>
            <a:srgbClr val="F1EEF9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湿实验路线</a:t>
            </a:r>
            <a:br/>
            <a:r>
              <a:t>quasi-random priming + template switching；不依赖 3′ ligation；应用于 mESC、neural progenitor、mouse tissues 和 sperm。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808476" y="3113532"/>
            <a:ext cx="201168" cy="219456"/>
          </a:xfrm>
          <a:prstGeom prst="rightArrow">
            <a:avLst/>
          </a:prstGeom>
          <a:solidFill>
            <a:srgbClr val="7A8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63924" y="2560320"/>
            <a:ext cx="1538478" cy="1325880"/>
          </a:xfrm>
          <a:prstGeom prst="roundRect">
            <a:avLst/>
          </a:prstGeom>
          <a:solidFill>
            <a:srgbClr val="EFF7EF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关键结果</a:t>
            </a:r>
            <a:br/>
            <a:r>
              <a:t>LIDAR 捕获更丰富 tDRs，尤其是 blocked 3′ termini 的 tDRs；显示传统方法低估了 tDR diversity。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456682" y="3113532"/>
            <a:ext cx="201168" cy="219456"/>
          </a:xfrm>
          <a:prstGeom prst="rightArrow">
            <a:avLst/>
          </a:prstGeom>
          <a:solidFill>
            <a:srgbClr val="7A8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12130" y="2560320"/>
            <a:ext cx="1538478" cy="1325880"/>
          </a:xfrm>
          <a:prstGeom prst="roundRect">
            <a:avLst/>
          </a:prstGeom>
          <a:solidFill>
            <a:srgbClr val="FAF2E5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胚胎启发</a:t>
            </a:r>
            <a:br/>
            <a:r>
              <a:t>对胚胎 tRF 研究很关键：先避免测序方法把最有修饰的 tRF 过滤掉。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554480"/>
            <a:ext cx="61722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ctr">
              <a:defRPr sz="1500" b="1">
                <a:solidFill>
                  <a:srgbClr val="227C9D"/>
                </a:solidFill>
                <a:latin typeface="Microsoft YaHei"/>
              </a:defRPr>
            </a:pPr>
            <a:r>
              <a:t>精读示意图：从科学问题到可转化湿实验读出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559552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800" b="0">
                <a:solidFill>
                  <a:srgbClr val="637180"/>
                </a:solidFill>
                <a:latin typeface="Microsoft YaHei"/>
              </a:defRPr>
            </a:pPr>
            <a:r>
              <a:t>图：原文关键图/流程图；无开放图时为按论文逻辑重绘的实验示意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1143000"/>
            <a:ext cx="416052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1298448"/>
            <a:ext cx="3794760" cy="406908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逻辑 / 假说：RNA 3′ 端修饰是否导致大量 tRNA-derived RNAs 在常规 small RNA-seq 中被系统性漏检。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方法步骤：quasi-random priming + template switching；不依赖 3′ ligation；应用于 mESC、neural progenitor、mouse tissues 和 sperm。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关键结果：LIDAR 捕获更丰富 tDRs，尤其是 blocked 3′ termini 的 tDRs；显示传统方法低估了 tDR diversity。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讨论与局限：读出覆盖广，但定量解释需注意 priming bias；功能验证仍需单个 tDR perturbation。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对早期胚胎研究的用途：对胚胎 tRF 研究很关键：先避免测序方法把最有修饰的 tRF 过滤掉。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806440"/>
            <a:ext cx="10972800" cy="475488"/>
          </a:xfrm>
          <a:prstGeom prst="roundRect">
            <a:avLst/>
          </a:prstGeom>
          <a:solidFill>
            <a:srgbClr val="ECF5F2"/>
          </a:solidFill>
          <a:ln>
            <a:solidFill>
              <a:srgbClr val="B9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50" b="1">
                <a:solidFill>
                  <a:srgbClr val="237A5C"/>
                </a:solidFill>
                <a:latin typeface="Microsoft YaHei"/>
              </a:defRPr>
            </a:pPr>
            <a:r>
              <a:t>Take-home: 对胚胎 tRF 研究很关键：先避免测序方法把最有修饰的 tRF 过滤掉。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46520"/>
            <a:ext cx="113385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750" b="0">
                <a:solidFill>
                  <a:srgbClr val="637180"/>
                </a:solidFill>
                <a:latin typeface="Microsoft YaHei"/>
              </a:defRPr>
            </a:pPr>
            <a:r>
              <a:t>Source: PMID 39096899 | A ligation-independent sequencing method reveals tRNA-derived RNAs with blocked 3' termini.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方法矩阵：早期胚胎 tRNA 湿实验应按“读出层级”组合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85800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900" b="0">
                <a:solidFill>
                  <a:srgbClr val="637180"/>
                </a:solidFill>
                <a:latin typeface="Microsoft YaHei"/>
              </a:defRPr>
            </a:pPr>
            <a:r>
              <a:t>不是单一测序方法能回答全部问题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84280" cy="18288"/>
          </a:xfrm>
          <a:prstGeom prst="rect">
            <a:avLst/>
          </a:prstGeom>
          <a:solidFill>
            <a:srgbClr val="D5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3444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023360"/>
                <a:gridCol w="4937760"/>
              </a:tblGrid>
              <a:tr h="693420">
                <a:tc>
                  <a:txBody>
                    <a:bodyPr/>
                    <a:lstStyle/>
                    <a:p>
                      <a:pPr>
                        <a:defRPr b="1" sz="1100">
                          <a:latin typeface="Microsoft YaHei"/>
                        </a:defRPr>
                      </a:pPr>
                      <a:r>
                        <a:t>读出层级</a:t>
                      </a:r>
                    </a:p>
                  </a:txBody>
                  <a:tcPr>
                    <a:solidFill>
                      <a:srgbClr val="E5E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latin typeface="Microsoft YaHei"/>
                        </a:defRPr>
                      </a:pPr>
                      <a:r>
                        <a:t>推荐技术</a:t>
                      </a:r>
                    </a:p>
                  </a:txBody>
                  <a:tcPr>
                    <a:solidFill>
                      <a:srgbClr val="E5E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latin typeface="Microsoft YaHei"/>
                        </a:defRPr>
                      </a:pPr>
                      <a:r>
                        <a:t>胚胎样本关键控制</a:t>
                      </a:r>
                    </a:p>
                  </a:txBody>
                  <a:tcPr>
                    <a:solidFill>
                      <a:srgbClr val="E5EFEB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丰度 / isodecoder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ORACLE-tRNAseq, mim-tRNAseq, Nano-tRNAseq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低输入、spike-in、isodecoder 注释</a:t>
                      </a:r>
                    </a:p>
                  </a:txBody>
                  <a:tcPr/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修饰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tRAM-seq, mim/Nano signatures, LC-MS/MS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修饰阻断、同分异构体、样本量</a:t>
                      </a:r>
                    </a:p>
                  </a:txBody>
                  <a:tcPr/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charging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acid northern, aa-tRNA-seq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酸性保护、快速裂解、低输入</a:t>
                      </a:r>
                    </a:p>
                  </a:txBody>
                  <a:tcPr/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结构 / 互作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DM-DMS-MaPseq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DMS 时间窗、胚胎毒性、线粒体 tRNA</a:t>
                      </a:r>
                    </a:p>
                  </a:txBody>
                  <a:tcPr/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tRF / tsRNA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LIDAR, small RNA-seq, mimic/inhibitor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3′ blocked ends、修饰、microinjection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5806440"/>
            <a:ext cx="10972800" cy="475488"/>
          </a:xfrm>
          <a:prstGeom prst="roundRect">
            <a:avLst/>
          </a:prstGeom>
          <a:solidFill>
            <a:srgbClr val="ECF5F2"/>
          </a:solidFill>
          <a:ln>
            <a:solidFill>
              <a:srgbClr val="B9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50" b="1">
                <a:solidFill>
                  <a:srgbClr val="237A5C"/>
                </a:solidFill>
                <a:latin typeface="Microsoft YaHei"/>
              </a:defRPr>
            </a:pPr>
            <a:r>
              <a:t>Take-home: 建议先做低输入 landscape，再用 charging / LC-MS/MS / microinjection 进入因果验证。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3385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750" b="0">
                <a:solidFill>
                  <a:srgbClr val="637180"/>
                </a:solidFill>
                <a:latin typeface="Microsoft YaHei"/>
              </a:defRPr>
            </a:pPr>
            <a:r>
              <a:t>来源：综合 PMID 42062277, 37024678, 33581077, 40835813, 40447571, 39096899 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5156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3000" b="1">
                <a:solidFill>
                  <a:srgbClr val="A17026"/>
                </a:solidFill>
                <a:latin typeface="Microsoft YaHei"/>
              </a:defRPr>
            </a:pPr>
            <a:r>
              <a:t>第三部分：tRNA 作为功能扰动对象和工程化调控对象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755648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1300" b="0">
                <a:solidFill>
                  <a:srgbClr val="637180"/>
                </a:solidFill>
                <a:latin typeface="Microsoft YaHei"/>
              </a:defRPr>
            </a:pPr>
            <a:r>
              <a:t>这些文献不一定发生在胚胎中，但提供了可转化的机制轴和干预范式</a:t>
            </a:r>
          </a:p>
        </p:txBody>
      </p:sp>
      <p:sp>
        <p:nvSpPr>
          <p:cNvPr id="4" name="Oval 3"/>
          <p:cNvSpPr/>
          <p:nvPr/>
        </p:nvSpPr>
        <p:spPr>
          <a:xfrm>
            <a:off x="2194560" y="3639312"/>
            <a:ext cx="1554480" cy="768096"/>
          </a:xfrm>
          <a:prstGeom prst="ellipse">
            <a:avLst/>
          </a:prstGeom>
          <a:solidFill>
            <a:srgbClr val="EBF6F1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200" b="1">
                <a:solidFill>
                  <a:srgbClr val="237A5C"/>
                </a:solidFill>
                <a:latin typeface="Microsoft YaHei"/>
              </a:defRPr>
            </a:pPr>
            <a:r>
              <a:t>早期胚胎</a:t>
            </a:r>
            <a:br/>
            <a:r>
              <a:t>翻译重编程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2629814"/>
            <a:ext cx="1920240" cy="621792"/>
          </a:xfrm>
          <a:prstGeom prst="roundRect">
            <a:avLst/>
          </a:prstGeom>
          <a:solidFill>
            <a:srgbClr val="F7F9FB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50" b="1">
                <a:solidFill>
                  <a:srgbClr val="1F2937"/>
                </a:solidFill>
                <a:latin typeface="Microsoft YaHei"/>
              </a:defRPr>
            </a:pPr>
            <a:r>
              <a:t>tRNA pool</a:t>
            </a:r>
            <a:br/>
            <a:r>
              <a:t>丰度 / isodecoder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2971800.0" y="2940710.4"/>
            <a:ext cx="0.0" cy="1082649.6"/>
          </a:xfrm>
          <a:prstGeom prst="line">
            <a:avLst/>
          </a:prstGeom>
          <a:ln w="12700">
            <a:solidFill>
              <a:srgbClr val="BD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949282" y="3171139"/>
            <a:ext cx="1920240" cy="621792"/>
          </a:xfrm>
          <a:prstGeom prst="roundRect">
            <a:avLst/>
          </a:prstGeom>
          <a:solidFill>
            <a:srgbClr val="F7F9FB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50" b="1">
                <a:solidFill>
                  <a:srgbClr val="1F2937"/>
                </a:solidFill>
                <a:latin typeface="Microsoft YaHei"/>
              </a:defRPr>
            </a:pPr>
            <a:r>
              <a:t>Modification</a:t>
            </a:r>
            <a:br/>
            <a:r>
              <a:t>m1A / m7G / Ψ / xm5s2U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971800.0" y="3482035.2"/>
            <a:ext cx="937602.0569970608" cy="541324.7999999998"/>
          </a:xfrm>
          <a:prstGeom prst="line">
            <a:avLst/>
          </a:prstGeom>
          <a:ln w="12700">
            <a:solidFill>
              <a:srgbClr val="BD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49282" y="4253788"/>
            <a:ext cx="1920240" cy="621792"/>
          </a:xfrm>
          <a:prstGeom prst="roundRect">
            <a:avLst/>
          </a:prstGeom>
          <a:solidFill>
            <a:srgbClr val="F7F9FB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50" b="1">
                <a:solidFill>
                  <a:srgbClr val="1F2937"/>
                </a:solidFill>
                <a:latin typeface="Microsoft YaHei"/>
              </a:defRPr>
            </a:pPr>
            <a:r>
              <a:t>Charging</a:t>
            </a:r>
            <a:br/>
            <a:r>
              <a:t>aminoacylation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71800.0" y="4023360.0"/>
            <a:ext cx="937602.0569970612" cy="541324.7999999998"/>
          </a:xfrm>
          <a:prstGeom prst="line">
            <a:avLst/>
          </a:prstGeom>
          <a:ln w="12700">
            <a:solidFill>
              <a:srgbClr val="BD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011680" y="4795113"/>
            <a:ext cx="1920240" cy="621792"/>
          </a:xfrm>
          <a:prstGeom prst="roundRect">
            <a:avLst/>
          </a:prstGeom>
          <a:solidFill>
            <a:srgbClr val="F7F9FB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50" b="1">
                <a:solidFill>
                  <a:srgbClr val="1F2937"/>
                </a:solidFill>
                <a:latin typeface="Microsoft YaHei"/>
              </a:defRPr>
            </a:pPr>
            <a:r>
              <a:t>Structure</a:t>
            </a:r>
            <a:br/>
            <a:r>
              <a:t>in vivo folding / interactome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71800.0" y="4023360.0"/>
            <a:ext cx="0.0" cy="1082649.5999999996"/>
          </a:xfrm>
          <a:prstGeom prst="line">
            <a:avLst/>
          </a:prstGeom>
          <a:ln w="12700">
            <a:solidFill>
              <a:srgbClr val="BD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74077" y="4253788"/>
            <a:ext cx="1920240" cy="621792"/>
          </a:xfrm>
          <a:prstGeom prst="roundRect">
            <a:avLst/>
          </a:prstGeom>
          <a:solidFill>
            <a:srgbClr val="F7F9FB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50" b="1">
                <a:solidFill>
                  <a:srgbClr val="1F2937"/>
                </a:solidFill>
                <a:latin typeface="Microsoft YaHei"/>
              </a:defRPr>
            </a:pPr>
            <a:r>
              <a:t>Fragments</a:t>
            </a:r>
            <a:br/>
            <a:r>
              <a:t>tRF / tsRNA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034197.9430029392" y="4023360.0"/>
            <a:ext cx="937602.0569970608" cy="541324.8000000007"/>
          </a:xfrm>
          <a:prstGeom prst="line">
            <a:avLst/>
          </a:prstGeom>
          <a:ln w="12700">
            <a:solidFill>
              <a:srgbClr val="BD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74077" y="3171139"/>
            <a:ext cx="1920240" cy="621792"/>
          </a:xfrm>
          <a:prstGeom prst="roundRect">
            <a:avLst/>
          </a:prstGeom>
          <a:solidFill>
            <a:srgbClr val="F7F9FB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50" b="1">
                <a:solidFill>
                  <a:srgbClr val="1F2937"/>
                </a:solidFill>
                <a:latin typeface="Microsoft YaHei"/>
              </a:defRPr>
            </a:pPr>
            <a:r>
              <a:t>Translation</a:t>
            </a:r>
            <a:br/>
            <a:r>
              <a:t>codon demand / MZT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2034197.943002939" y="3482035.1999999997"/>
            <a:ext cx="937602.056997061" cy="541324.8000000003"/>
          </a:xfrm>
          <a:prstGeom prst="line">
            <a:avLst/>
          </a:prstGeom>
          <a:ln w="12700">
            <a:solidFill>
              <a:srgbClr val="BD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715000" y="2423160"/>
            <a:ext cx="5303520" cy="306324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Microsoft YaHei"/>
              </a:defRPr>
            </a:pPr>
            <a:r>
              <a:t>修饰酶、CCA tail、aminoacylation 和 suppressor tRNA 都可作为胚胎功能验证入口。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Microsoft YaHei"/>
              </a:defRPr>
            </a:pPr>
            <a:r>
              <a:t>必须区分 tRNA writer 的催化功能、scaffold 功能和 charging 间接效应。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Microsoft YaHei"/>
              </a:defRPr>
            </a:pPr>
            <a:r>
              <a:t>工程化 tRNA 可用于 reporter、rescue 或翻译选择性干预。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46520"/>
            <a:ext cx="113385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750" b="0">
                <a:solidFill>
                  <a:srgbClr val="637180"/>
                </a:solidFill>
                <a:latin typeface="Microsoft YaHei"/>
              </a:defRPr>
            </a:pPr>
            <a:r>
              <a:t>来源：本报告综合整理自入选文献；后续逐篇页面列出 PMID 和标题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TRMT6/TRMT61A-m1A58 通过 TSC1 translation 控制 stem cell quiescence 与 mTORC1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85800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900" b="0">
                <a:solidFill>
                  <a:srgbClr val="637180"/>
                </a:solidFill>
                <a:latin typeface="Microsoft YaHei"/>
              </a:defRPr>
            </a:pPr>
            <a:r>
              <a:t>Nature Communications, 2024 | PMID 38977676 | tRNA m1A modification regulate HSC maintenance and self-renewal via mTORC1 signaling.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84280" cy="18288"/>
          </a:xfrm>
          <a:prstGeom prst="rect">
            <a:avLst/>
          </a:prstGeom>
          <a:solidFill>
            <a:srgbClr val="D5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6812280" cy="4434840"/>
          </a:xfrm>
          <a:prstGeom prst="roundRect">
            <a:avLst/>
          </a:prstGeom>
          <a:solidFill>
            <a:srgbClr val="FCFDFE"/>
          </a:solidFill>
          <a:ln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MC11231335_41467_2024_50110_Fig3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301" y="1252728"/>
            <a:ext cx="3621518" cy="4215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559552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800" b="0">
                <a:solidFill>
                  <a:srgbClr val="637180"/>
                </a:solidFill>
                <a:latin typeface="Microsoft YaHei"/>
              </a:defRPr>
            </a:pPr>
            <a:r>
              <a:t>图：原文关键图/流程图；无开放图时为按论文逻辑重绘的实验示意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143000"/>
            <a:ext cx="416052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298448"/>
            <a:ext cx="3794760" cy="406908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逻辑 / 假说：tRNA m1A58 writer 是否通过 codon decoding 改变关键 mRNA 翻译，从而维持 stem cell homeostasis。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方法步骤：Trmt6 conditional KO mouse；FACS HSC phenotyping；scRNA-seq；LC-MS/MS/dot blot/m1A-tRNA-seq；rapamycin rescue。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关键结果：Trmt6 loss 使 HSC 异常增殖、自我更新下降；mTORC1 pathway 激活；TSC1 translation 受影响；mTOR inhibition 可部分 rescue。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讨论与局限：是 HSC 场景，非胚胎；但 stem cell quiescence/activation 的翻译逻辑可迁移到 blastomere fate。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对早期胚胎研究的用途：提示胚胎可优先测试 TRMT6/TRMT61A-m1A58 → TSC/mTOR 或 cell-cycle translation 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806440"/>
            <a:ext cx="10972800" cy="475488"/>
          </a:xfrm>
          <a:prstGeom prst="roundRect">
            <a:avLst/>
          </a:prstGeom>
          <a:solidFill>
            <a:srgbClr val="ECF5F2"/>
          </a:solidFill>
          <a:ln>
            <a:solidFill>
              <a:srgbClr val="B9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50" b="1">
                <a:solidFill>
                  <a:srgbClr val="237A5C"/>
                </a:solidFill>
                <a:latin typeface="Microsoft YaHei"/>
              </a:defRPr>
            </a:pPr>
            <a:r>
              <a:t>Take-home: 提示胚胎可优先测试 TRMT6/TRMT61A-m1A58 → TSC/mTOR 或 cell-cycle translation 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46520"/>
            <a:ext cx="113385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750" b="0">
                <a:solidFill>
                  <a:srgbClr val="637180"/>
                </a:solidFill>
                <a:latin typeface="Microsoft YaHei"/>
              </a:defRPr>
            </a:pPr>
            <a:r>
              <a:t>Source: PMID 38977676 | tRNA m1A modification regulate HSC maintenance and self-renewal via mTORC1 signaling.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METTL1 还能非催化性促进 tRNA aminoacylation 与 protein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85800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900" b="0">
                <a:solidFill>
                  <a:srgbClr val="637180"/>
                </a:solidFill>
                <a:latin typeface="Microsoft YaHei"/>
              </a:defRPr>
            </a:pPr>
            <a:r>
              <a:t>Molecular Cell, 2025 | PMID 39892392 | A methyltransferase-independent role for METTL1 in tRNA aminoacylation and oncogenic transformation.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84280" cy="18288"/>
          </a:xfrm>
          <a:prstGeom prst="rect">
            <a:avLst/>
          </a:prstGeom>
          <a:solidFill>
            <a:srgbClr val="D5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6812280" cy="4434840"/>
          </a:xfrm>
          <a:prstGeom prst="roundRect">
            <a:avLst/>
          </a:prstGeom>
          <a:solidFill>
            <a:srgbClr val="FCFDFE"/>
          </a:solidFill>
          <a:ln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ttl1_mod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292837"/>
            <a:ext cx="6592824" cy="41351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559552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800" b="0">
                <a:solidFill>
                  <a:srgbClr val="637180"/>
                </a:solidFill>
                <a:latin typeface="Microsoft YaHei"/>
              </a:defRPr>
            </a:pPr>
            <a:r>
              <a:t>图：原文关键图/流程图；无开放图时为按论文逻辑重绘的实验示意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143000"/>
            <a:ext cx="416052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298448"/>
            <a:ext cx="3794760" cy="406908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逻辑 / 假说：METTL1 的致癌作用是否完全依赖 m7G methyltransferase activity，还是存在 aminoacylation 相关非酶功能。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方法步骤：zebrafish sarcoma model；METTL1 mutants；polysome profiling；IP-MS/Western；tRNA aminoacylation assays。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关键结果：催化死/磷酸模拟 METTL1 仍促进 oncogenesis；METTL1 结合 multi-tRNA synthetase complex，促进 aminoacylation、polysome formation 和 protein synthesis。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讨论与局限：疾病模型与胚胎相距较远，但揭示“tRNA writer 蛋白不只写修饰”的重要陷阱。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对早期胚胎研究的用途：胚胎中若扰动 METTL1，需同时区分 methylation-dependent 与 aminoacylation/scaffold-dependent effects。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806440"/>
            <a:ext cx="10972800" cy="475488"/>
          </a:xfrm>
          <a:prstGeom prst="roundRect">
            <a:avLst/>
          </a:prstGeom>
          <a:solidFill>
            <a:srgbClr val="ECF5F2"/>
          </a:solidFill>
          <a:ln>
            <a:solidFill>
              <a:srgbClr val="B9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50" b="1">
                <a:solidFill>
                  <a:srgbClr val="237A5C"/>
                </a:solidFill>
                <a:latin typeface="Microsoft YaHei"/>
              </a:defRPr>
            </a:pPr>
            <a:r>
              <a:t>Take-home: 胚胎中若扰动 METTL1，需同时区分 methylation-dependent 与 aminoacylation/scaffold-dependent effects。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46520"/>
            <a:ext cx="113385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750" b="0">
                <a:solidFill>
                  <a:srgbClr val="637180"/>
                </a:solidFill>
                <a:latin typeface="Microsoft YaHei"/>
              </a:defRPr>
            </a:pPr>
            <a:r>
              <a:t>Source: PMID 39892392 | A methyltransferase-independent role for METTL1 in tRNA aminoacylation and oncogenic transformation.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氧化去硫化把 wobble tRNA modification 转化为 stress-sensitive translation regulator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85800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900" b="0">
                <a:solidFill>
                  <a:srgbClr val="637180"/>
                </a:solidFill>
                <a:latin typeface="Microsoft YaHei"/>
              </a:defRPr>
            </a:pPr>
            <a:r>
              <a:t>Nature Communications, 2026 | PMID 41807381 | Translational regulation by oxidative desulfuration of tRNA modifications.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84280" cy="18288"/>
          </a:xfrm>
          <a:prstGeom prst="rect">
            <a:avLst/>
          </a:prstGeom>
          <a:solidFill>
            <a:srgbClr val="D5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6812280" cy="4434840"/>
          </a:xfrm>
          <a:prstGeom prst="roundRect">
            <a:avLst/>
          </a:prstGeom>
          <a:solidFill>
            <a:srgbClr val="FCFDFE"/>
          </a:solidFill>
          <a:ln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MC12976133_41467_2026_70126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040" y="1252728"/>
            <a:ext cx="3568039" cy="4215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559552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800" b="0">
                <a:solidFill>
                  <a:srgbClr val="637180"/>
                </a:solidFill>
                <a:latin typeface="Microsoft YaHei"/>
              </a:defRPr>
            </a:pPr>
            <a:r>
              <a:t>图：原文关键图/流程图；无开放图时为按论文逻辑重绘的实验示意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143000"/>
            <a:ext cx="416052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298448"/>
            <a:ext cx="3794760" cy="406908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逻辑 / 假说：xm5s2U 的 thiocarbonyl group 是否在氧化环境下转化为 xm5h2U，并改变 codon recognition / aminoacylation。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方法步骤：LC-MS/MS 鉴定 human cells 与 mouse tissues 中 xm5h2U；spike-in 验证形成；in vitro translation；aminoacylation assays；cryo-EM。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关键结果：mcm5h2U 削弱 Lys/Glu/Gln tRNA aminoacylation 与 codon recognition；结构解释 AAA/AAG decoding 改变。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讨论与局限：主要是 stress biology；在胚胎中需谨慎控制 oxidative stress 是否为生理范围。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对早期胚胎研究的用途：对胚胎培养条件很有启发：氧化状态可能通过 tRNA wobble modification 直接改变翻译。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806440"/>
            <a:ext cx="10972800" cy="475488"/>
          </a:xfrm>
          <a:prstGeom prst="roundRect">
            <a:avLst/>
          </a:prstGeom>
          <a:solidFill>
            <a:srgbClr val="ECF5F2"/>
          </a:solidFill>
          <a:ln>
            <a:solidFill>
              <a:srgbClr val="B9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50" b="1">
                <a:solidFill>
                  <a:srgbClr val="237A5C"/>
                </a:solidFill>
                <a:latin typeface="Microsoft YaHei"/>
              </a:defRPr>
            </a:pPr>
            <a:r>
              <a:t>Take-home: 对胚胎培养条件很有启发：氧化状态可能通过 tRNA wobble modification 直接改变翻译。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46520"/>
            <a:ext cx="113385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750" b="0">
                <a:solidFill>
                  <a:srgbClr val="637180"/>
                </a:solidFill>
                <a:latin typeface="Microsoft YaHei"/>
              </a:defRPr>
            </a:pPr>
            <a:r>
              <a:t>Source: PMID 41807381 | Translational regulation by oxidative desulfuration of tRNA modifications.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Cas12a3 通过 target RNA 触发 tRNA CCA tail cleavage，展示 tRNA depletion 可快速关停翻译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85800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900" b="0">
                <a:solidFill>
                  <a:srgbClr val="637180"/>
                </a:solidFill>
                <a:latin typeface="Microsoft YaHei"/>
              </a:defRPr>
            </a:pPr>
            <a:r>
              <a:t>Nature, 2026 | PMID 41501459 | RNA-triggered Cas12a3 cleaves tRNA tails to execute bacterial immunity.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84280" cy="18288"/>
          </a:xfrm>
          <a:prstGeom prst="rect">
            <a:avLst/>
          </a:prstGeom>
          <a:solidFill>
            <a:srgbClr val="D5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6812280" cy="4434840"/>
          </a:xfrm>
          <a:prstGeom prst="roundRect">
            <a:avLst/>
          </a:prstGeom>
          <a:solidFill>
            <a:srgbClr val="FCFDFE"/>
          </a:solidFill>
          <a:ln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MC12851939_41586_2025_9852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089" y="1252728"/>
            <a:ext cx="4725942" cy="4215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559552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800" b="0">
                <a:solidFill>
                  <a:srgbClr val="637180"/>
                </a:solidFill>
                <a:latin typeface="Microsoft YaHei"/>
              </a:defRPr>
            </a:pPr>
            <a:r>
              <a:t>图：原文关键图/流程图；无开放图时为按论文逻辑重绘的实验示意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143000"/>
            <a:ext cx="416052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298448"/>
            <a:ext cx="3794760" cy="406908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逻辑 / 假说：CRISPR-Cas effector 是否可在识别 RNA 后切割非靶 RNA，尤其是保守 tRNA CCA tail。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方法步骤：细胞/生化 cleavage assays；direct RNA sequencing；anti-phage defense；cryo-EM；合成 reporter 验证诊断应用。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关键结果：target RNA 触发 Cas12a3 切割 diverse tRNA 5′-CCA-3′ tail，引起 growth arrest 和 anti-phage defense；结构揭示 tRNA-loading domain。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讨论与局限：细菌免疫系统与胚胎无直接关系；但提供了 tRNA tail 完整性作为翻译开关的概念。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对早期胚胎研究的用途：可作为工具启发：在人为系统中精准破坏特定 tRNA tail，观察胚胎翻译和发育窗口敏感性。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806440"/>
            <a:ext cx="10972800" cy="475488"/>
          </a:xfrm>
          <a:prstGeom prst="roundRect">
            <a:avLst/>
          </a:prstGeom>
          <a:solidFill>
            <a:srgbClr val="ECF5F2"/>
          </a:solidFill>
          <a:ln>
            <a:solidFill>
              <a:srgbClr val="B9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50" b="1">
                <a:solidFill>
                  <a:srgbClr val="237A5C"/>
                </a:solidFill>
                <a:latin typeface="Microsoft YaHei"/>
              </a:defRPr>
            </a:pPr>
            <a:r>
              <a:t>Take-home: 可作为工具启发：在人为系统中精准破坏特定 tRNA tail，观察胚胎翻译和发育窗口敏感性。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46520"/>
            <a:ext cx="113385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750" b="0">
                <a:solidFill>
                  <a:srgbClr val="637180"/>
                </a:solidFill>
                <a:latin typeface="Microsoft YaHei"/>
              </a:defRPr>
            </a:pPr>
            <a:r>
              <a:t>Source: PMID 41501459 | RNA-triggered Cas12a3 cleaves tRNA tails to execute bacterial immunity.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AAV-sup-tRNA 证明 tRNA gene 可作为体内工程干预载体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85800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900" b="0">
                <a:solidFill>
                  <a:srgbClr val="637180"/>
                </a:solidFill>
                <a:latin typeface="Microsoft YaHei"/>
              </a:defRPr>
            </a:pPr>
            <a:r>
              <a:t>Nature, 2022 | PMID 35322228 | AAV-delivered suppressor tRNA overcomes a nonsense mutation in mice.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84280" cy="18288"/>
          </a:xfrm>
          <a:prstGeom prst="rect">
            <a:avLst/>
          </a:prstGeom>
          <a:solidFill>
            <a:srgbClr val="D5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6812280" cy="4434840"/>
          </a:xfrm>
          <a:prstGeom prst="roundRect">
            <a:avLst/>
          </a:prstGeom>
          <a:solidFill>
            <a:srgbClr val="FCFDFE"/>
          </a:solidFill>
          <a:ln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7512" y="2560320"/>
            <a:ext cx="1538478" cy="1325880"/>
          </a:xfrm>
          <a:prstGeom prst="roundRect">
            <a:avLst/>
          </a:prstGeom>
          <a:solidFill>
            <a:srgbClr val="E5F1F7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假说</a:t>
            </a:r>
            <a:br/>
            <a:r>
              <a:t>递送 suppressor tRNA 能否在体内 readthrough premature stop codon，并避免扰乱 global tRNA homeostasis。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60270" y="3113532"/>
            <a:ext cx="201168" cy="219456"/>
          </a:xfrm>
          <a:prstGeom prst="rightArrow">
            <a:avLst/>
          </a:prstGeom>
          <a:solidFill>
            <a:srgbClr val="7A8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15718" y="2560320"/>
            <a:ext cx="1538478" cy="1325880"/>
          </a:xfrm>
          <a:prstGeom prst="roundRect">
            <a:avLst/>
          </a:prstGeom>
          <a:solidFill>
            <a:srgbClr val="F1EEF9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湿实验路线</a:t>
            </a:r>
            <a:br/>
            <a:r>
              <a:t>rAAV delivery of suppressor tRNA；mouse nonsense mutation model；ribosome profiling；tRNA sequencing；多组织给药优化。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808476" y="3113532"/>
            <a:ext cx="201168" cy="219456"/>
          </a:xfrm>
          <a:prstGeom prst="rightArrow">
            <a:avLst/>
          </a:prstGeom>
          <a:solidFill>
            <a:srgbClr val="7A8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63924" y="2560320"/>
            <a:ext cx="1538478" cy="1325880"/>
          </a:xfrm>
          <a:prstGeom prst="roundRect">
            <a:avLst/>
          </a:prstGeom>
          <a:solidFill>
            <a:srgbClr val="EFF7EF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关键结果</a:t>
            </a:r>
            <a:br/>
            <a:r>
              <a:t>单次给药可长期 rescue disease phenotype；通过 readthrough + NMD inhibition 协同恢复；对正常 stop codon global readthrough 较有限。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456682" y="3113532"/>
            <a:ext cx="201168" cy="219456"/>
          </a:xfrm>
          <a:prstGeom prst="rightArrow">
            <a:avLst/>
          </a:prstGeom>
          <a:solidFill>
            <a:srgbClr val="7A8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12130" y="2560320"/>
            <a:ext cx="1538478" cy="1325880"/>
          </a:xfrm>
          <a:prstGeom prst="roundRect">
            <a:avLst/>
          </a:prstGeom>
          <a:solidFill>
            <a:srgbClr val="FAF2E5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胚胎启发</a:t>
            </a:r>
            <a:br/>
            <a:r>
              <a:t>胚胎研究可借鉴其 tRNA expression cassette 设计，用于 transient 或 tissue-stage specific tRNA perturbation。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554480"/>
            <a:ext cx="61722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ctr">
              <a:defRPr sz="1500" b="1">
                <a:solidFill>
                  <a:srgbClr val="227C9D"/>
                </a:solidFill>
                <a:latin typeface="Microsoft YaHei"/>
              </a:defRPr>
            </a:pPr>
            <a:r>
              <a:t>精读示意图：从科学问题到可转化湿实验读出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559552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800" b="0">
                <a:solidFill>
                  <a:srgbClr val="637180"/>
                </a:solidFill>
                <a:latin typeface="Microsoft YaHei"/>
              </a:defRPr>
            </a:pPr>
            <a:r>
              <a:t>图：原文关键图/流程图；无开放图时为按论文逻辑重绘的实验示意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1143000"/>
            <a:ext cx="416052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1298448"/>
            <a:ext cx="3794760" cy="406908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逻辑 / 假说：递送 suppressor tRNA 能否在体内 readthrough premature stop codon，并避免扰乱 global tRNA homeostasis。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方法步骤：rAAV delivery of suppressor tRNA；mouse nonsense mutation model；ribosome profiling；tRNA sequencing；多组织给药优化。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关键结果：单次给药可长期 rescue disease phenotype；通过 readthrough + NMD inhibition 协同恢复；对正常 stop codon global readthrough 较有限。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讨论与局限：治疗场景非胚胎；但证明 tRNA 作为小型遗传元件可被安全递送和功能化。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对早期胚胎研究的用途：胚胎研究可借鉴其 tRNA expression cassette 设计，用于 transient 或 tissue-stage specific tRNA perturbation。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806440"/>
            <a:ext cx="10972800" cy="475488"/>
          </a:xfrm>
          <a:prstGeom prst="roundRect">
            <a:avLst/>
          </a:prstGeom>
          <a:solidFill>
            <a:srgbClr val="ECF5F2"/>
          </a:solidFill>
          <a:ln>
            <a:solidFill>
              <a:srgbClr val="B9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50" b="1">
                <a:solidFill>
                  <a:srgbClr val="237A5C"/>
                </a:solidFill>
                <a:latin typeface="Microsoft YaHei"/>
              </a:defRPr>
            </a:pPr>
            <a:r>
              <a:t>Take-home: 胚胎研究可借鉴其 tRNA expression cassette 设计，用于 transient 或 tissue-stage specific tRNA perturbation。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46520"/>
            <a:ext cx="113385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750" b="0">
                <a:solidFill>
                  <a:srgbClr val="637180"/>
                </a:solidFill>
                <a:latin typeface="Microsoft YaHei"/>
              </a:defRPr>
            </a:pPr>
            <a:r>
              <a:t>Source: PMID 35322228 | AAV-delivered suppressor tRNA overcomes a nonsense mutation in mice.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工程化 UGA sup-tRNA 拓展 nonsense suppression 的 codon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85800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900" b="0">
                <a:solidFill>
                  <a:srgbClr val="637180"/>
                </a:solidFill>
                <a:latin typeface="Microsoft YaHei"/>
              </a:defRPr>
            </a:pPr>
            <a:r>
              <a:t>Nature Biotechnology, 2026 | PMID 41555020 | An engineered UGA suppressor tRNA gene for disease-agnostic AAV delivery.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84280" cy="18288"/>
          </a:xfrm>
          <a:prstGeom prst="rect">
            <a:avLst/>
          </a:prstGeom>
          <a:solidFill>
            <a:srgbClr val="D5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6812280" cy="4434840"/>
          </a:xfrm>
          <a:prstGeom prst="roundRect">
            <a:avLst/>
          </a:prstGeom>
          <a:solidFill>
            <a:srgbClr val="FCFDFE"/>
          </a:solidFill>
          <a:ln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ga_suppressor_p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296" y="1252728"/>
            <a:ext cx="3173528" cy="4215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559552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800" b="0">
                <a:solidFill>
                  <a:srgbClr val="637180"/>
                </a:solidFill>
                <a:latin typeface="Microsoft YaHei"/>
              </a:defRPr>
            </a:pPr>
            <a:r>
              <a:t>图：原文关键图/流程图；无开放图时为按论文逻辑重绘的实验示意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143000"/>
            <a:ext cx="416052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298448"/>
            <a:ext cx="3794760" cy="406908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逻辑 / 假说：UGA-targeting sup-tRNA 能否解决 AAV packaging/production 难题，并在不同疾病模型中恢复功能。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方法步骤：优化 tRNA gene regulatory elements；rAAV packaging QC；mouse lysosomal storage disease models；组织表达、aminoacylation 与疗效关联分析。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关键结果：工程化 UGA-sup-tRNA 可高效包装并在两种模型中恢复约 10% 正常酶活；组织间表达和 aminoacylation 差异影响疗效。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讨论与局限：胚胎使用不应照搬 AAV；但表达 cassette、charging 和组织差异评价非常可借鉴。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对早期胚胎研究的用途：为胚胎 tRNA gain-of-function 或 codon readthrough reporter 构建提供工程化设计原则。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806440"/>
            <a:ext cx="10972800" cy="475488"/>
          </a:xfrm>
          <a:prstGeom prst="roundRect">
            <a:avLst/>
          </a:prstGeom>
          <a:solidFill>
            <a:srgbClr val="ECF5F2"/>
          </a:solidFill>
          <a:ln>
            <a:solidFill>
              <a:srgbClr val="B9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50" b="1">
                <a:solidFill>
                  <a:srgbClr val="237A5C"/>
                </a:solidFill>
                <a:latin typeface="Microsoft YaHei"/>
              </a:defRPr>
            </a:pPr>
            <a:r>
              <a:t>Take-home: 为胚胎 tRNA gain-of-function 或 codon readthrough reporter 构建提供工程化设计原则。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46520"/>
            <a:ext cx="113385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750" b="0">
                <a:solidFill>
                  <a:srgbClr val="637180"/>
                </a:solidFill>
                <a:latin typeface="Microsoft YaHei"/>
              </a:defRPr>
            </a:pPr>
            <a:r>
              <a:t>Source: PMID 41555020 | An engineered UGA suppressor tRNA gene for disease-agnostic AAV delivery.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RSH toxins 通过 tRNA 3′ CCA pyrophosphorylation 抑制 aminoacylation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85800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900" b="0">
                <a:solidFill>
                  <a:srgbClr val="637180"/>
                </a:solidFill>
                <a:latin typeface="Microsoft YaHei"/>
              </a:defRPr>
            </a:pPr>
            <a:r>
              <a:t>Molecular Cell, 2021 | PMID 34174184 | RelA-SpoT Homolog toxins pyrophosphorylate the CCA end of tRNA to inhibit protein synthesis.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84280" cy="18288"/>
          </a:xfrm>
          <a:prstGeom prst="rect">
            <a:avLst/>
          </a:prstGeom>
          <a:solidFill>
            <a:srgbClr val="D5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6812280" cy="4434840"/>
          </a:xfrm>
          <a:prstGeom prst="roundRect">
            <a:avLst/>
          </a:prstGeom>
          <a:solidFill>
            <a:srgbClr val="FCFDFE"/>
          </a:solidFill>
          <a:ln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7512" y="2560320"/>
            <a:ext cx="1538478" cy="1325880"/>
          </a:xfrm>
          <a:prstGeom prst="roundRect">
            <a:avLst/>
          </a:prstGeom>
          <a:solidFill>
            <a:srgbClr val="E5F1F7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假说</a:t>
            </a:r>
            <a:br/>
            <a:r>
              <a:t>多类 toxSAS 是否直接把 tRNA 作为底物，从而阻断 protein synthesis。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60270" y="3113532"/>
            <a:ext cx="201168" cy="219456"/>
          </a:xfrm>
          <a:prstGeom prst="rightArrow">
            <a:avLst/>
          </a:prstGeom>
          <a:solidFill>
            <a:srgbClr val="7A8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15718" y="2560320"/>
            <a:ext cx="1538478" cy="1325880"/>
          </a:xfrm>
          <a:prstGeom prst="roundRect">
            <a:avLst/>
          </a:prstGeom>
          <a:solidFill>
            <a:srgbClr val="F1EEF9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湿实验路线</a:t>
            </a:r>
            <a:br/>
            <a:r>
              <a:t>体外酶学、质谱、translation assays 和 toxin-antitoxin 功能分析；测试 SAH hydrolase reversal。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808476" y="3113532"/>
            <a:ext cx="201168" cy="219456"/>
          </a:xfrm>
          <a:prstGeom prst="rightArrow">
            <a:avLst/>
          </a:prstGeom>
          <a:solidFill>
            <a:srgbClr val="7A8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63924" y="2560320"/>
            <a:ext cx="1538478" cy="1325880"/>
          </a:xfrm>
          <a:prstGeom prst="roundRect">
            <a:avLst/>
          </a:prstGeom>
          <a:solidFill>
            <a:srgbClr val="EFF7EF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关键结果</a:t>
            </a:r>
            <a:br/>
            <a:r>
              <a:t>FaRel2/PhRel/PhRel2/CapRel 将 pyrophosphate 转移到 tRNA 3′ CCA，抑制 aminoacylation 和 RelA sensing；SAH 可逆转。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456682" y="3113532"/>
            <a:ext cx="201168" cy="219456"/>
          </a:xfrm>
          <a:prstGeom prst="rightArrow">
            <a:avLst/>
          </a:prstGeom>
          <a:solidFill>
            <a:srgbClr val="7A8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12130" y="2560320"/>
            <a:ext cx="1538478" cy="1325880"/>
          </a:xfrm>
          <a:prstGeom prst="roundRect">
            <a:avLst/>
          </a:prstGeom>
          <a:solidFill>
            <a:srgbClr val="FAF2E5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胚胎启发</a:t>
            </a:r>
            <a:br/>
            <a:r>
              <a:t>启发胚胎实验关注 CCA tail integrity、charging readout 与快速翻译抑制之间的因果关系。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554480"/>
            <a:ext cx="61722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ctr">
              <a:defRPr sz="1500" b="1">
                <a:solidFill>
                  <a:srgbClr val="227C9D"/>
                </a:solidFill>
                <a:latin typeface="Microsoft YaHei"/>
              </a:defRPr>
            </a:pPr>
            <a:r>
              <a:t>精读示意图：从科学问题到可转化湿实验读出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559552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800" b="0">
                <a:solidFill>
                  <a:srgbClr val="637180"/>
                </a:solidFill>
                <a:latin typeface="Microsoft YaHei"/>
              </a:defRPr>
            </a:pPr>
            <a:r>
              <a:t>图：原文关键图/流程图；无开放图时为按论文逻辑重绘的实验示意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1143000"/>
            <a:ext cx="416052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1298448"/>
            <a:ext cx="3794760" cy="406908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逻辑 / 假说：多类 toxSAS 是否直接把 tRNA 作为底物，从而阻断 protein synthesis。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方法步骤：体外酶学、质谱、translation assays 和 toxin-antitoxin 功能分析；测试 SAH hydrolase reversal。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关键结果：FaRel2/PhRel/PhRel2/CapRel 将 pyrophosphate 转移到 tRNA 3′ CCA，抑制 aminoacylation 和 RelA sensing；SAH 可逆转。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讨论与局限：细菌毒素模型非胚胎；但 tRNA CCA 端修饰作为 charging gate 很有机制价值。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对早期胚胎研究的用途：启发胚胎实验关注 CCA tail integrity、charging readout 与快速翻译抑制之间的因果关系。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806440"/>
            <a:ext cx="10972800" cy="475488"/>
          </a:xfrm>
          <a:prstGeom prst="roundRect">
            <a:avLst/>
          </a:prstGeom>
          <a:solidFill>
            <a:srgbClr val="ECF5F2"/>
          </a:solidFill>
          <a:ln>
            <a:solidFill>
              <a:srgbClr val="B9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50" b="1">
                <a:solidFill>
                  <a:srgbClr val="237A5C"/>
                </a:solidFill>
                <a:latin typeface="Microsoft YaHei"/>
              </a:defRPr>
            </a:pPr>
            <a:r>
              <a:t>Take-home: 启发胚胎实验关注 CCA tail integrity、charging readout 与快速翻译抑制之间的因果关系。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46520"/>
            <a:ext cx="113385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750" b="0">
                <a:solidFill>
                  <a:srgbClr val="637180"/>
                </a:solidFill>
                <a:latin typeface="Microsoft YaHei"/>
              </a:defRPr>
            </a:pPr>
            <a:r>
              <a:t>Source: PMID 34174184 | RelA-SpoT Homolog toxins pyrophosphorylate the CCA end of tRNA to inhibit protein synthesis.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tRNA neochromosome 证明 tRNA gene dosage/location 可被系统工程化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85800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900" b="0">
                <a:solidFill>
                  <a:srgbClr val="637180"/>
                </a:solidFill>
                <a:latin typeface="Microsoft YaHei"/>
              </a:defRPr>
            </a:pPr>
            <a:r>
              <a:t>Cell, 2023 | PMID 37944512 | Design, construction, and functional characterization of a tRNA neochromosome in yeast.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84280" cy="18288"/>
          </a:xfrm>
          <a:prstGeom prst="rect">
            <a:avLst/>
          </a:prstGeom>
          <a:solidFill>
            <a:srgbClr val="D5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6812280" cy="4434840"/>
          </a:xfrm>
          <a:prstGeom prst="roundRect">
            <a:avLst/>
          </a:prstGeom>
          <a:solidFill>
            <a:srgbClr val="FCFDFE"/>
          </a:solidFill>
          <a:ln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7512" y="2560320"/>
            <a:ext cx="1538478" cy="1325880"/>
          </a:xfrm>
          <a:prstGeom prst="roundRect">
            <a:avLst/>
          </a:prstGeom>
          <a:solidFill>
            <a:srgbClr val="E5F1F7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假说</a:t>
            </a:r>
            <a:br/>
            <a:r>
              <a:t>所有核 tRNA genes 被重定位到 de novo chromosome 后，细胞如何维持 tRNA transcription、chromatin 和 genome function。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60270" y="3113532"/>
            <a:ext cx="201168" cy="219456"/>
          </a:xfrm>
          <a:prstGeom prst="rightArrow">
            <a:avLst/>
          </a:prstGeom>
          <a:solidFill>
            <a:srgbClr val="7A8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15718" y="2560320"/>
            <a:ext cx="1538478" cy="1325880"/>
          </a:xfrm>
          <a:prstGeom prst="roundRect">
            <a:avLst/>
          </a:prstGeom>
          <a:solidFill>
            <a:srgbClr val="F1EEF9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湿实验路线</a:t>
            </a:r>
            <a:br/>
            <a:r>
              <a:t>设计 190-kb tRNA neochromosome；yeast construction；tRNA-seq、transcriptomics、proteomics、nucleosome mapping、replication profiling、FISH、Hi-C。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808476" y="3113532"/>
            <a:ext cx="201168" cy="219456"/>
          </a:xfrm>
          <a:prstGeom prst="rightArrow">
            <a:avLst/>
          </a:prstGeom>
          <a:solidFill>
            <a:srgbClr val="7A8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63924" y="2560320"/>
            <a:ext cx="1538478" cy="1325880"/>
          </a:xfrm>
          <a:prstGeom prst="roundRect">
            <a:avLst/>
          </a:prstGeom>
          <a:solidFill>
            <a:srgbClr val="EFF7EF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关键结果</a:t>
            </a:r>
            <a:br/>
            <a:r>
              <a:t>neochromosome 可承载 275 个 relocated tRNA genes；出现 ploidy adaptation；系统性读出 tRNA gene organization 的影响。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456682" y="3113532"/>
            <a:ext cx="201168" cy="219456"/>
          </a:xfrm>
          <a:prstGeom prst="rightArrow">
            <a:avLst/>
          </a:prstGeom>
          <a:solidFill>
            <a:srgbClr val="7A8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12130" y="2560320"/>
            <a:ext cx="1538478" cy="1325880"/>
          </a:xfrm>
          <a:prstGeom prst="roundRect">
            <a:avLst/>
          </a:prstGeom>
          <a:solidFill>
            <a:srgbClr val="FAF2E5"/>
          </a:solidFill>
          <a:ln>
            <a:solidFill>
              <a:srgbClr val="BE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50" b="0">
                <a:solidFill>
                  <a:srgbClr val="1F2937"/>
                </a:solidFill>
                <a:latin typeface="Microsoft YaHei"/>
              </a:defRPr>
            </a:pPr>
            <a:r>
              <a:t>胚胎启发</a:t>
            </a:r>
            <a:br/>
            <a:r>
              <a:t>对胚胎研究的启发是区分 tRNA gene transcription、pseudogene activation 与 mature tRNA supply。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554480"/>
            <a:ext cx="61722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 algn="ctr">
              <a:defRPr sz="1500" b="1">
                <a:solidFill>
                  <a:srgbClr val="227C9D"/>
                </a:solidFill>
                <a:latin typeface="Microsoft YaHei"/>
              </a:defRPr>
            </a:pPr>
            <a:r>
              <a:t>精读示意图：从科学问题到可转化湿实验读出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559552"/>
            <a:ext cx="649224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800" b="0">
                <a:solidFill>
                  <a:srgbClr val="637180"/>
                </a:solidFill>
                <a:latin typeface="Microsoft YaHei"/>
              </a:defRPr>
            </a:pPr>
            <a:r>
              <a:t>图：原文关键图/流程图；无开放图时为按论文逻辑重绘的实验示意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1143000"/>
            <a:ext cx="416052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1298448"/>
            <a:ext cx="3794760" cy="406908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逻辑 / 假说：所有核 tRNA genes 被重定位到 de novo chromosome 后，细胞如何维持 tRNA transcription、chromatin 和 genome function。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方法步骤：设计 190-kb tRNA neochromosome；yeast construction；tRNA-seq、transcriptomics、proteomics、nucleosome mapping、replication profiling、FISH、Hi-C。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关键结果：neochromosome 可承载 275 个 relocated tRNA genes；出现 ploidy adaptation；系统性读出 tRNA gene organization 的影响。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讨论与局限：合成酵母模型不直接对应胚胎，但揭示 tRNA gene copy/location 是可工程化变量。</a:t>
            </a:r>
          </a:p>
          <a:p>
            <a:pPr>
              <a:spcAft>
                <a:spcPts val="500"/>
              </a:spcAft>
              <a:defRPr sz="1080">
                <a:solidFill>
                  <a:srgbClr val="1F2937"/>
                </a:solidFill>
                <a:latin typeface="Microsoft YaHei"/>
              </a:defRPr>
            </a:pPr>
            <a:r>
              <a:t>对早期胚胎研究的用途：对胚胎研究的启发是区分 tRNA gene transcription、pseudogene activation 与 mature tRNA supply。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806440"/>
            <a:ext cx="10972800" cy="475488"/>
          </a:xfrm>
          <a:prstGeom prst="roundRect">
            <a:avLst/>
          </a:prstGeom>
          <a:solidFill>
            <a:srgbClr val="ECF5F2"/>
          </a:solidFill>
          <a:ln>
            <a:solidFill>
              <a:srgbClr val="B9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50" b="1">
                <a:solidFill>
                  <a:srgbClr val="237A5C"/>
                </a:solidFill>
                <a:latin typeface="Microsoft YaHei"/>
              </a:defRPr>
            </a:pPr>
            <a:r>
              <a:t>Take-home: 对胚胎研究的启发是区分 tRNA gene transcription、pseudogene activation 与 mature tRNA supply。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46520"/>
            <a:ext cx="113385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750" b="0">
                <a:solidFill>
                  <a:srgbClr val="637180"/>
                </a:solidFill>
                <a:latin typeface="Microsoft YaHei"/>
              </a:defRPr>
            </a:pPr>
            <a:r>
              <a:t>Source: PMID 37944512 | Design, construction, and functional characterization of a tRNA neochromosome in yeast.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可执行课题路线：围绕 MZT/ZGA 的 tRNA 多层读出与因果验证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85800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900" b="0">
                <a:solidFill>
                  <a:srgbClr val="637180"/>
                </a:solidFill>
                <a:latin typeface="Microsoft YaHei"/>
              </a:defRPr>
            </a:pPr>
            <a:r>
              <a:t>适用于 mouse 或 zebrafish early embryo；根据样本量调整技术组合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84280" cy="18288"/>
          </a:xfrm>
          <a:prstGeom prst="rect">
            <a:avLst/>
          </a:prstGeom>
          <a:solidFill>
            <a:srgbClr val="D5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1965960" cy="3520440"/>
          </a:xfrm>
          <a:prstGeom prst="roundRect">
            <a:avLst/>
          </a:prstGeom>
          <a:solidFill>
            <a:srgbClr val="E9F4F0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00" b="0">
                <a:solidFill>
                  <a:srgbClr val="1F2937"/>
                </a:solidFill>
                <a:latin typeface="Microsoft YaHei"/>
              </a:defRPr>
            </a:pPr>
            <a:r>
              <a:t>1. 分期采样</a:t>
            </a:r>
            <a:br/>
            <a:br/>
            <a:r>
              <a:t>oocyte / zygote / 2-cell / 4-cell / morula / blastocyst 或 zebrafish MZT time course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87167" y="2862072"/>
            <a:ext cx="310896" cy="292608"/>
          </a:xfrm>
          <a:prstGeom prst="rightArrow">
            <a:avLst/>
          </a:prstGeom>
          <a:solidFill>
            <a:srgbClr val="82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34640" y="1234440"/>
            <a:ext cx="1965960" cy="3520440"/>
          </a:xfrm>
          <a:prstGeom prst="roundRect">
            <a:avLst/>
          </a:prstGeom>
          <a:solidFill>
            <a:srgbClr val="EDF2F9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00" b="0">
                <a:solidFill>
                  <a:srgbClr val="1F2937"/>
                </a:solidFill>
                <a:latin typeface="Microsoft YaHei"/>
              </a:defRPr>
            </a:pPr>
            <a:r>
              <a:t>2. 初筛 landscape</a:t>
            </a:r>
            <a:br/>
            <a:br/>
            <a:r>
              <a:t>ORACLE-tRNAseq 或 mim/tRAM-seq：tRNA abundance、isodecoder、修饰 signature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27447" y="2862072"/>
            <a:ext cx="310896" cy="292608"/>
          </a:xfrm>
          <a:prstGeom prst="rightArrow">
            <a:avLst/>
          </a:prstGeom>
          <a:solidFill>
            <a:srgbClr val="82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74920" y="1234440"/>
            <a:ext cx="1965960" cy="3520440"/>
          </a:xfrm>
          <a:prstGeom prst="roundRect">
            <a:avLst/>
          </a:prstGeom>
          <a:solidFill>
            <a:srgbClr val="F7F2E9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00" b="0">
                <a:solidFill>
                  <a:srgbClr val="1F2937"/>
                </a:solidFill>
                <a:latin typeface="Microsoft YaHei"/>
              </a:defRPr>
            </a:pPr>
            <a:r>
              <a:t>3. 深入验证</a:t>
            </a:r>
            <a:br/>
            <a:br/>
            <a:r>
              <a:t>LC-MS/MS 验证候选修饰；aa-tRNA-seq/acid northern 验证 charging；LIDAR 捕获 tRF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967727" y="2862072"/>
            <a:ext cx="310896" cy="292608"/>
          </a:xfrm>
          <a:prstGeom prst="rightArrow">
            <a:avLst/>
          </a:prstGeom>
          <a:solidFill>
            <a:srgbClr val="82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0" y="1234440"/>
            <a:ext cx="1965960" cy="3520440"/>
          </a:xfrm>
          <a:prstGeom prst="roundRect">
            <a:avLst/>
          </a:prstGeom>
          <a:solidFill>
            <a:srgbClr val="F1EEF9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00" b="0">
                <a:solidFill>
                  <a:srgbClr val="1F2937"/>
                </a:solidFill>
                <a:latin typeface="Microsoft YaHei"/>
              </a:defRPr>
            </a:pPr>
            <a:r>
              <a:t>4. 因果扰动</a:t>
            </a:r>
            <a:br/>
            <a:br/>
            <a:r>
              <a:t>microinjection tRF mimic/inhibitor、writer knockdown/CRISPRi、candidate tRNA rescue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208007" y="2862072"/>
            <a:ext cx="310896" cy="292608"/>
          </a:xfrm>
          <a:prstGeom prst="rightArrow">
            <a:avLst/>
          </a:prstGeom>
          <a:solidFill>
            <a:srgbClr val="82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55480" y="1234440"/>
            <a:ext cx="1965960" cy="3520440"/>
          </a:xfrm>
          <a:prstGeom prst="roundRect">
            <a:avLst/>
          </a:prstGeom>
          <a:solidFill>
            <a:srgbClr val="F9EEEE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00" b="0">
                <a:solidFill>
                  <a:srgbClr val="1F2937"/>
                </a:solidFill>
                <a:latin typeface="Microsoft YaHei"/>
              </a:defRPr>
            </a:pPr>
            <a:r>
              <a:t>5. 表型读出</a:t>
            </a:r>
            <a:br/>
            <a:br/>
            <a:r>
              <a:t>ZGA reporter、Ribo-seq/puromycin incorporation、single embryo RNA-seq、blastocyst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806440"/>
            <a:ext cx="10972800" cy="475488"/>
          </a:xfrm>
          <a:prstGeom prst="roundRect">
            <a:avLst/>
          </a:prstGeom>
          <a:solidFill>
            <a:srgbClr val="ECF5F2"/>
          </a:solidFill>
          <a:ln>
            <a:solidFill>
              <a:srgbClr val="B9D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50" b="1">
                <a:solidFill>
                  <a:srgbClr val="237A5C"/>
                </a:solidFill>
                <a:latin typeface="Microsoft YaHei"/>
              </a:defRPr>
            </a:pPr>
            <a:r>
              <a:t>Take-home: 判断机制是否成立的最低闭环：动态相关性 + 候选 tRNA/tRF 扰动 + translation/ZGA/readout rescue。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46520"/>
            <a:ext cx="113385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750" b="0">
                <a:solidFill>
                  <a:srgbClr val="637180"/>
                </a:solidFill>
                <a:latin typeface="Microsoft YaHei"/>
              </a:defRPr>
            </a:pPr>
            <a:r>
              <a:t>来源：本报告综合实验设计；依据入选文献的方法和早期胚胎应用场景整理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1F2937"/>
                </a:solidFill>
                <a:latin typeface="Microsoft YaHei"/>
              </a:defRPr>
            </a:pPr>
            <a:r>
              <a:t>总结：tRNA 是早期胚胎翻译控制的可测、可扰动、可工程化层级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85800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900" b="0">
                <a:solidFill>
                  <a:srgbClr val="637180"/>
                </a:solidFill>
                <a:latin typeface="Microsoft YaHei"/>
              </a:defRPr>
            </a:pPr>
            <a:r>
              <a:t>汇报结论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84280" cy="18288"/>
          </a:xfrm>
          <a:prstGeom prst="rect">
            <a:avLst/>
          </a:prstGeom>
          <a:solidFill>
            <a:srgbClr val="D5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069080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F2937"/>
                </a:solidFill>
                <a:latin typeface="Microsoft YaHei"/>
              </a:defRPr>
            </a:pPr>
            <a:r>
              <a:t>早期胚胎证据已经从 small RNA/tsRNA 进入 mature tRNA repertoires、modification 和 translation coordination。</a:t>
            </a:r>
          </a:p>
          <a:p>
            <a:pPr>
              <a:spcAft>
                <a:spcPts val="500"/>
              </a:spcAft>
              <a:defRPr sz="1700">
                <a:solidFill>
                  <a:srgbClr val="1F2937"/>
                </a:solidFill>
                <a:latin typeface="Microsoft YaHei"/>
              </a:defRPr>
            </a:pPr>
            <a:r>
              <a:t>最直接的主线是 ORACLE-tRNAseq / zebrafish time-course 文献；最关键的因果入口是 tRF microinjection、writer perturbation 和 tRNA rescue。</a:t>
            </a:r>
          </a:p>
          <a:p>
            <a:pPr>
              <a:spcAft>
                <a:spcPts val="500"/>
              </a:spcAft>
              <a:defRPr sz="1700">
                <a:solidFill>
                  <a:srgbClr val="1F2937"/>
                </a:solidFill>
                <a:latin typeface="Microsoft YaHei"/>
              </a:defRPr>
            </a:pPr>
            <a:r>
              <a:t>本地 tRNA 湿实验文献提供完整工具箱：abundance、modification、charging、structure/interactome、blocked-end tRF capture。</a:t>
            </a:r>
          </a:p>
          <a:p>
            <a:pPr>
              <a:spcAft>
                <a:spcPts val="500"/>
              </a:spcAft>
              <a:defRPr sz="1700">
                <a:solidFill>
                  <a:srgbClr val="1F2937"/>
                </a:solidFill>
                <a:latin typeface="Microsoft YaHei"/>
              </a:defRPr>
            </a:pPr>
            <a:r>
              <a:t>下一步研究应避免只做关联组学：每一个动态 tRNA/tRF 候选都要配套发育表型、翻译读出和 rescue。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4576572"/>
            <a:ext cx="1554480" cy="768096"/>
          </a:xfrm>
          <a:prstGeom prst="ellipse">
            <a:avLst/>
          </a:prstGeom>
          <a:solidFill>
            <a:srgbClr val="EBF6F1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200" b="1">
                <a:solidFill>
                  <a:srgbClr val="237A5C"/>
                </a:solidFill>
                <a:latin typeface="Microsoft YaHei"/>
              </a:defRPr>
            </a:pPr>
            <a:r>
              <a:t>早期胚胎</a:t>
            </a:r>
            <a:br/>
            <a:r>
              <a:t>翻译重编程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4137660"/>
            <a:ext cx="1920240" cy="621792"/>
          </a:xfrm>
          <a:prstGeom prst="roundRect">
            <a:avLst/>
          </a:prstGeom>
          <a:solidFill>
            <a:srgbClr val="F7F9FB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50" b="1">
                <a:solidFill>
                  <a:srgbClr val="1F2937"/>
                </a:solidFill>
                <a:latin typeface="Microsoft YaHei"/>
              </a:defRPr>
            </a:pPr>
            <a:r>
              <a:t>tRNA pool</a:t>
            </a:r>
            <a:br/>
            <a:r>
              <a:t>丰度 / isodecoder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6035040.0" y="4448556.0"/>
            <a:ext cx="0.0" cy="512064.0"/>
          </a:xfrm>
          <a:prstGeom prst="line">
            <a:avLst/>
          </a:prstGeom>
          <a:ln w="12700">
            <a:solidFill>
              <a:srgbClr val="BD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518380" y="4393692"/>
            <a:ext cx="1920240" cy="621792"/>
          </a:xfrm>
          <a:prstGeom prst="roundRect">
            <a:avLst/>
          </a:prstGeom>
          <a:solidFill>
            <a:srgbClr val="F7F9FB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50" b="1">
                <a:solidFill>
                  <a:srgbClr val="1F2937"/>
                </a:solidFill>
                <a:latin typeface="Microsoft YaHei"/>
              </a:defRPr>
            </a:pPr>
            <a:r>
              <a:t>Modification</a:t>
            </a:r>
            <a:br/>
            <a:r>
              <a:t>m1A / m7G / Ψ / xm5s2U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6035040.0" y="4704588.0"/>
            <a:ext cx="443460.43236347474" cy="256032.0"/>
          </a:xfrm>
          <a:prstGeom prst="line">
            <a:avLst/>
          </a:prstGeom>
          <a:ln w="12700">
            <a:solidFill>
              <a:srgbClr val="BD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18380" y="4905756"/>
            <a:ext cx="1920240" cy="621792"/>
          </a:xfrm>
          <a:prstGeom prst="roundRect">
            <a:avLst/>
          </a:prstGeom>
          <a:solidFill>
            <a:srgbClr val="F7F9FB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50" b="1">
                <a:solidFill>
                  <a:srgbClr val="1F2937"/>
                </a:solidFill>
                <a:latin typeface="Microsoft YaHei"/>
              </a:defRPr>
            </a:pPr>
            <a:r>
              <a:t>Charging</a:t>
            </a:r>
            <a:br/>
            <a:r>
              <a:t>aminoacylation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35040.0" y="4960620.0"/>
            <a:ext cx="443460.43236347474" cy="256032.0"/>
          </a:xfrm>
          <a:prstGeom prst="line">
            <a:avLst/>
          </a:prstGeom>
          <a:ln w="12700">
            <a:solidFill>
              <a:srgbClr val="BD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74920" y="5161788"/>
            <a:ext cx="1920240" cy="621792"/>
          </a:xfrm>
          <a:prstGeom prst="roundRect">
            <a:avLst/>
          </a:prstGeom>
          <a:solidFill>
            <a:srgbClr val="F7F9FB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50" b="1">
                <a:solidFill>
                  <a:srgbClr val="1F2937"/>
                </a:solidFill>
                <a:latin typeface="Microsoft YaHei"/>
              </a:defRPr>
            </a:pPr>
            <a:r>
              <a:t>Structure</a:t>
            </a:r>
            <a:br/>
            <a:r>
              <a:t>in vivo folding / interactome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35040.0" y="4960620.0"/>
            <a:ext cx="0.0" cy="512064.0"/>
          </a:xfrm>
          <a:prstGeom prst="line">
            <a:avLst/>
          </a:prstGeom>
          <a:ln w="12700">
            <a:solidFill>
              <a:srgbClr val="BD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631459" y="4905756"/>
            <a:ext cx="1920240" cy="621792"/>
          </a:xfrm>
          <a:prstGeom prst="roundRect">
            <a:avLst/>
          </a:prstGeom>
          <a:solidFill>
            <a:srgbClr val="F7F9FB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50" b="1">
                <a:solidFill>
                  <a:srgbClr val="1F2937"/>
                </a:solidFill>
                <a:latin typeface="Microsoft YaHei"/>
              </a:defRPr>
            </a:pPr>
            <a:r>
              <a:t>Fragments</a:t>
            </a:r>
            <a:br/>
            <a:r>
              <a:t>tRF / tsRNA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5591579.567636525" y="4960620.0"/>
            <a:ext cx="443460.43236347474" cy="256032.0"/>
          </a:xfrm>
          <a:prstGeom prst="line">
            <a:avLst/>
          </a:prstGeom>
          <a:ln w="12700">
            <a:solidFill>
              <a:srgbClr val="BD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631459" y="4393692"/>
            <a:ext cx="1920240" cy="621792"/>
          </a:xfrm>
          <a:prstGeom prst="roundRect">
            <a:avLst/>
          </a:prstGeom>
          <a:solidFill>
            <a:srgbClr val="F7F9FB"/>
          </a:solidFill>
          <a:ln>
            <a:solidFill>
              <a:srgbClr val="D5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50" b="1">
                <a:solidFill>
                  <a:srgbClr val="1F2937"/>
                </a:solidFill>
                <a:latin typeface="Microsoft YaHei"/>
              </a:defRPr>
            </a:pPr>
            <a:r>
              <a:t>Translation</a:t>
            </a:r>
            <a:br/>
            <a:r>
              <a:t>codon demand / MZT</a:t>
            </a:r>
          </a:p>
        </p:txBody>
      </p:sp>
      <p:cxnSp>
        <p:nvCxnSpPr>
          <p:cNvPr id="18" name="Connector 17"/>
          <p:cNvCxnSpPr/>
          <p:nvPr/>
        </p:nvCxnSpPr>
        <p:spPr>
          <a:xfrm flipH="1" flipV="1">
            <a:off x="5591579.567636525" y="4704588.0"/>
            <a:ext cx="443460.43236347474" cy="256032.0"/>
          </a:xfrm>
          <a:prstGeom prst="line">
            <a:avLst/>
          </a:prstGeom>
          <a:ln w="12700">
            <a:solidFill>
              <a:srgbClr val="BD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11480" y="6446520"/>
            <a:ext cx="113385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normAutofit/>
          </a:bodyPr>
          <a:lstStyle/>
          <a:p>
            <a:pPr>
              <a:defRPr sz="750" b="0">
                <a:solidFill>
                  <a:srgbClr val="637180"/>
                </a:solidFill>
                <a:latin typeface="Microsoft YaHei"/>
              </a:defRPr>
            </a:pPr>
            <a:r>
              <a:t>来源：本报告综合整理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