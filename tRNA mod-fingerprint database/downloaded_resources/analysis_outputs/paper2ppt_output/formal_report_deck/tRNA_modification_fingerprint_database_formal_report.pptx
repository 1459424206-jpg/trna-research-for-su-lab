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tRNA修饰指纹库构建：修饰谱、检测信号与工具实现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综合来源：MODOMICS 2023 update；本地文献库；GitHub工具仓库。</a:t>
            </a:r>
          </a:p>
        </p:txBody>
      </p:sp>
      <p:pic>
        <p:nvPicPr>
          <p:cNvPr id="4" name="Picture 3" descr="00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汇报目标是说明tRNA修饰如何转化为可计算、可比较、可追溯的指纹证据。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指纹库不等同于单一序列列表；不同工具使用的“指纹”形式不同。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本PPT按修饰类型、检测信号、工具实现、表型证据和数据库结构展开。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指纹库在工具中的作用：先验列表只是其中一种形式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综合来源：MODOMICS 2023 update；mim-tRNAseq、tRNA004、TRAC-Seq、SPORTS1.1、Galaxy tRNAmod等工具说明。</a:t>
            </a:r>
          </a:p>
        </p:txBody>
      </p:sp>
      <p:pic>
        <p:nvPicPr>
          <p:cNvPr id="4" name="Picture 3" descr="01_defi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9781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参考序列库和修饰字典属于先验信息。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纳米孔错误谱、RT错配谱和化学切割规则属于方法特异指纹。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功能表型证据用于解释修饰信号的生物学意义。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tRNA修饰覆盖范围：数量、子集与实验可识别集合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文献/数据库：MODOMICS 2023 update, Nucleic Acids Research 2024; GitHub工具：rnabioco/tRNA004. URL: https://github.com/rnabioco/tRNA004</a:t>
            </a:r>
          </a:p>
        </p:txBody>
      </p:sp>
      <p:pic>
        <p:nvPicPr>
          <p:cNvPr id="4" name="Picture 3" descr="02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9781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全量RNA修饰字典和tRNA修饰子集需要分开维护。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实验可识别集合取决于测序方法、化学预处理和平台。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第一版数据库应优先覆盖强证据、强表型、强工具支持的修饰。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主要修饰家族及其可观测信号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综合来源：MODOMICS 2023 update；本地文献库中m7G、m1A、m3C、Ψ、U34修饰相关研究。</a:t>
            </a:r>
          </a:p>
        </p:txBody>
      </p:sp>
      <p:pic>
        <p:nvPicPr>
          <p:cNvPr id="4" name="Picture 3" descr="03_fami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9781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修饰的化学类型决定其可能产生的RT、MS和纳米孔信号。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U34和A37修饰对翻译解码最敏感。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同一化学家族内部仍需按位点和tRNA上下文细分。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修饰位置决定检测信号和功能解释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综合来源：tRNA结构与本地文献库中METTL6、PUS3、METTL1、lysidine、U34脱硫研究。</a:t>
            </a:r>
          </a:p>
        </p:txBody>
      </p:sp>
      <p:pic>
        <p:nvPicPr>
          <p:cNvPr id="4" name="Picture 3" descr="04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U34主要影响codon recognition和通读/识别效率。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G46、C32、38/39等位点更常连接结构稳定、writer选择性和RTD。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数据库中的修饰记录必须绑定结构区域和标准位置。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识别率和通读率差异需要按方法存储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综合来源：mim-tRNAseq、TRAC-Seq、tRNA004、Nanopore 2-Read、PANDORA/LIDAR相关资料。</a:t>
            </a:r>
          </a:p>
        </p:txBody>
      </p:sp>
      <p:pic>
        <p:nvPicPr>
          <p:cNvPr id="4" name="Picture 3" descr="05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9781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不同工具的识别率不是同一个物理量。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RT通读率受修饰、酶、预处理和结构影响；Nanopore通读/终止受chemistry和basecaller影响。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数据库应记录method、parameter、coverage和reference_version。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METTL1/m7G46：m7G-tRNA下降可导致翻译衰老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文献：Perturbation of METTL1-mediated tRNA N7-methylguanosine modification induces senescence and aging. PMID: 38977661.</a:t>
            </a:r>
          </a:p>
        </p:txBody>
      </p:sp>
      <p:pic>
        <p:nvPicPr>
          <p:cNvPr id="4" name="Picture 3" descr="38977661_41467_2024_49796_Fig4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549" y="941832"/>
            <a:ext cx="3915261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文章逻辑：衰老中METTL1-WDR4下降，导致tRNA m7G46减少。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方法步骤：TRAC-seq通过NaBH4/aniline切割m7G位点，计算cleavage score。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主要结果：识别并验证一组METTL1调控的m7G-tRNAs。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对指纹库的贡献：m7G46可采用cleavage_score、tRNA_abundance和METTL1-WDR4状态作为核心字段。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METTL1/m7G46：核糖体停顿连接SASP衰老表型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文献：Perturbation of METTL1-mediated tRNA N7-methylguanosine modification induces senescence and aging. PMID: 38977661.</a:t>
            </a:r>
          </a:p>
        </p:txBody>
      </p:sp>
      <p:pic>
        <p:nvPicPr>
          <p:cNvPr id="4" name="Picture 3" descr="38977661_41467_2024_49796_Fig5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34" y="941832"/>
            <a:ext cx="5065690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假说验证：m7G-tRNA下降会造成特定codon翻译效率降低。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方法步骤：puromycin、polysome profiling、Ribo-seq和RNC-qPCR。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主要结果：m7G-tRNA解码codon的A-site ribosome occupancy升高。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数据库字段：codon_occupancy、translation_efficiency、RTD、SASP/senescence phenotype。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m6A与mcm5s2U：tRNA修饰可读取mRNA修饰压力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文献：tRNA modifications tune m6A-dependent mRNA decay. PMID: 40311619.</a:t>
            </a:r>
          </a:p>
        </p:txBody>
      </p:sp>
      <p:pic>
        <p:nvPicPr>
          <p:cNvPr id="4" name="Picture 3" descr="40311619_nihms-2074120-f0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79892"/>
            <a:ext cx="6629400" cy="2918838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文章逻辑：CDS中的m6A会降低相应codon的翻译效率并促进mRNA decay。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核心假说：tRNA anticodon loop中的mcm5s2U可抵消m6A codon造成的解码障碍。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主要结果：mcm5s2U促进m6A-modified codons的有效解码。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数据库字段：mRNA_mod_context、decoded_codon、tRNA_U34_state、decay_effect。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m6A与mcm5s2U：修饰互作影响核糖体解码和癌症通路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文献：tRNA modifications tune m6A-dependent mRNA decay. PMID: 40311619.</a:t>
            </a:r>
          </a:p>
        </p:txBody>
      </p:sp>
      <p:pic>
        <p:nvPicPr>
          <p:cNvPr id="4" name="Picture 3" descr="40311619_nihms-2074120-f0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53" y="941832"/>
            <a:ext cx="5491053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方法步骤：翻译报告、Ribo-seq、通路扰动和癌症相关分析。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主要结果：mRNA m6A和tRNA mcm5s2U共同调节ribosomal decoding。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讨论要点：tRNA修饰指纹应允许记录跨RNA类别的相互作用。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数据库字段：pan-epitranscriptomic_interaction、translation_decay_axis、tumor_association。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氧化脱硫：U34修饰可在应激条件下转换状态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文献：Translational regulation by oxidative desulfuration of tRNA modifications. PMID: 41807381.</a:t>
            </a:r>
          </a:p>
        </p:txBody>
      </p:sp>
      <p:pic>
        <p:nvPicPr>
          <p:cNvPr id="4" name="Picture 3" descr="PMC12976133_41467_2026_7012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944" y="941832"/>
            <a:ext cx="4566471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文章逻辑：xm5s2U34增强wobble解码，但硫代基易受氧化影响。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核心假说：氧化应激可将xm5s2U34转为xm5h2U34。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方法步骤：LC-MS、CID和co-injection验证脱硫产物。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数据库字段：precursor_modification、converted_modification、redox_state、MS_fragment。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氧化脱硫：修饰转换降低氨酰化和A-site识别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文献：Translational regulation by oxidative desulfuration of tRNA modifications. PMID: 41807381.</a:t>
            </a:r>
          </a:p>
        </p:txBody>
      </p:sp>
      <p:pic>
        <p:nvPicPr>
          <p:cNvPr id="4" name="Picture 3" descr="PMC12976133_41467_2026_70126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17591"/>
            <a:ext cx="6629400" cy="4843441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方法步骤：spike-in控制、体外翻译、氨酰化、A-site binding和cryo-EM。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主要结果：mcm5h2U降低tRNALys/Gln/Glu氨酰化并削弱codon recognition。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表型含义：氧化应激可通过U34化学转换调节codon-specific translation。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数据库字段：readthrough_rate、recognition_rate、aminoacylation_effect、stress_condition。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冠状病毒：病毒codon usage依赖宿主tRNA修饰景观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文献：Coronaviruses reprogram the tRNA epitranscriptome to favor viral protein expression. PMID: 41714626.</a:t>
            </a:r>
          </a:p>
        </p:txBody>
      </p:sp>
      <p:pic>
        <p:nvPicPr>
          <p:cNvPr id="4" name="Picture 3" descr="PMC13031925_41467_2026_69700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40" y="941832"/>
            <a:ext cx="5684279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文章逻辑：冠状病毒基因组富含A/U-ending suboptimal codons。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核心假说：感染诱导宿主tRNA修饰重编程以提高病毒蛋白翻译。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方法步骤：RSCU分析、LC-MS/MS、mim-tRNAseq和酶扰动。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数据库字段：condition、codon_usage_pressure、required_tRNA_modification、viral_translation_output。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冠状病毒：感染改变anticodon loop修饰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文献：Coronaviruses reprogram the tRNA epitranscriptome to favor viral protein expression. PMID: 41714626.</a:t>
            </a:r>
          </a:p>
        </p:txBody>
      </p:sp>
      <p:pic>
        <p:nvPicPr>
          <p:cNvPr id="4" name="Picture 3" descr="PMC13031925_41467_2026_69700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17" y="941832"/>
            <a:ext cx="5964724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主要结果：SARS-CoV-2和HCoV-OC43感染改变I、Q、mcm5U/mcm5s2U、m5C/f5C等修饰。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功能验证：ELP3、QTRT1、NSUN2等酶通路扰动影响病毒NP蛋白表达。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讨论要点：指纹库需要支持condition-specific modification profile。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数据库字段：infection_time、enzyme_expression、modification_fold_change、viral_protein_readout。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PUS3/Ψ38-39：writer选择性决定同类修饰的位点特异性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文献：The molecular basis of tRNA selectivity by human pseudouridine synthase 3. PMID: 38996458.</a:t>
            </a:r>
          </a:p>
        </p:txBody>
      </p:sp>
      <p:pic>
        <p:nvPicPr>
          <p:cNvPr id="4" name="Picture 3" descr="38996458_gr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56" y="941832"/>
            <a:ext cx="6028246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文章逻辑：Ψ很常见，但PUS3只修饰特定tRNA的38/39位点。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方法步骤：PUS3 apo和tRNA-bound cryo-EM、突变验证、Pseudo-seq。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主要结果：PUS3二聚体定位tRNA并把目标U放入活性位点。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数据库字段：writer、target_position、substrate_selectivity、structural_evidence。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METTL6/m3C32：SerRS作为底物选择因子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文献：Structural basis of tRNA recognition by the m3C RNA methyltransferase METTL6 in complex with SerRS seryl-tRNA synthetase. PMID: 38918637.</a:t>
            </a:r>
          </a:p>
        </p:txBody>
      </p:sp>
      <p:pic>
        <p:nvPicPr>
          <p:cNvPr id="4" name="Picture 3" descr="PMC11479938_41594_2024_1341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33" y="941832"/>
            <a:ext cx="5533292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文章逻辑：m3C32影响翻译精度，但METTL6选择tRNASer的机制不清楚。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方法步骤：cryo-EM、体外甲基化、mutagenesis和MS。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主要结果：SerRS增强METTL6活性并参与tRNASer底物选择。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数据库字段：cofactor_or_selector、associated_A37_modification、structure_state、m3C32_evidence。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lysidine/k2C34：单个wobble修饰决定AUA识别并避开AUG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文献：Structures of the ribosome bound to EF-Tu-isoleucine tRNA elucidate the mechanism of AUG avoidance. PMID: 38538914.</a:t>
            </a:r>
          </a:p>
        </p:txBody>
      </p:sp>
      <p:pic>
        <p:nvPicPr>
          <p:cNvPr id="4" name="Picture 3" descr="38538914_nihms-2030058-f0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281" y="941832"/>
            <a:ext cx="5121797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文章逻辑：tRNAIle CAU必须识别AUA但避免误读AUG。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核心假说：C34的lysidine改变wobble位点碱基几何。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方法步骤：70S ribosome-EF-Tu-Ile-tRNA cryo-EM。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数据库字段：codon_specificity、avoidance_codon、structural_decoding_evidence、wobble_modification。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tsRNA-Glu-CTC：修饰型tRNA片段具有更强表型效应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文献：A cholesterol-responsive hepatic tRNA-derived small RNA regulates cholesterol homeostasis and atherosclerosis development. PMID: 41398161.</a:t>
            </a:r>
          </a:p>
        </p:txBody>
      </p:sp>
      <p:pic>
        <p:nvPicPr>
          <p:cNvPr id="4" name="Picture 3" descr="41398161_41467_2025_67387_Fig9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221" y="941832"/>
            <a:ext cx="3727917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文章逻辑：tsRNA可能是带修饰的功能性小RNA，而非单纯降解产物。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方法步骤：PANDORA-seq识别tsRNA，MLC-seq解析内源tsRNA修饰。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主要结果：修饰型tsRNA-Glu-CTC比未修饰合成体更强地影响胆固醇和肝脂质。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数据库字段：fragment_start/end、source_tRNA、modification_pattern、lipid_phenotype。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ALKB-1/m1A：eraser失活引起翻译和线粒体表型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文献：ALKB-1-dependent tRNA methylation is required for efficient paternal mitochondrial elimination. PMID: 41611679.</a:t>
            </a:r>
          </a:p>
        </p:txBody>
      </p:sp>
      <p:pic>
        <p:nvPicPr>
          <p:cNvPr id="4" name="Picture 3" descr="41611679_41467_2026_68813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6027"/>
            <a:ext cx="6629400" cy="4986569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文章逻辑：tRNA methylation是否影响paternal mitochondrial elimination尚不明确。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方法步骤：ALKB-1 D247A/RNAi、LC-MS、m1A-seq、RNC-seq和proteomics。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主要结果：tRNA m1A升高，线粒体蛋白稳态和ROS通路改变。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数据库字段：eraser_state、m1A_level、translation_imbalance、PME_phenotype。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vRNAP-associated tRNA：缺失修饰也可能构成功能指纹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文献：tRNA as an assembly chaperone for a macromolecular transcription-processing complex. PMID: 40908366.</a:t>
            </a:r>
          </a:p>
        </p:txBody>
      </p:sp>
      <p:pic>
        <p:nvPicPr>
          <p:cNvPr id="4" name="Picture 3" descr="40908366_41594_2025_1653_Fig6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511" y="941832"/>
            <a:ext cx="4491337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文章逻辑：poxvirus vRNAP装配需要特定tRNAGln/Arg作为assembly chaperone。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方法步骤：装配重构、gel shift、LC-MS/MS和cryo-EM。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主要结果：特定修饰图案及缺失mcm5s2U34参与tRNA选择。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数据库字段：absence_of_modification、non_translational_function、viral_RNP_assembly。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NAT10/ac4C：染色质相关tRNA连接转移表型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文献：NAT10 promotes cancer metastasis by modulating p300/CBP activity through chromatin-associated tRNA. PMID: 41344331.</a:t>
            </a:r>
          </a:p>
        </p:txBody>
      </p:sp>
      <p:pic>
        <p:nvPicPr>
          <p:cNvPr id="4" name="Picture 3" descr="41344331_nihms-2122374-f0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498" y="941832"/>
            <a:ext cx="4963363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文章逻辑：NAT10作为ac4C writer，其促转移机制需要解释。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方法步骤：NAT10扰动、RNA ac4C、chromatin-associated tRNA和p300/CBP分析。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主要结果：染色质相关tRNA ac4C变化影响p300/CBP和enhancer组织。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数据库字段：subcellular_context、chromatin_associated_tRNA、ac4C、metastasis_phenotype。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LIDAR：末端修饰会改变小RNA捕获率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文献：A ligation-independent sequencing method reveals tRNA-derived RNAs with blocked 3' termini. PMID: 39096899.</a:t>
            </a:r>
          </a:p>
        </p:txBody>
      </p:sp>
      <p:pic>
        <p:nvPicPr>
          <p:cNvPr id="4" name="Picture 3" descr="paper_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文章逻辑：ligation-dependent small RNA-seq会漏检3'端阻断的RNA。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方法步骤：quasi-random priming结合template switching。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主要结果：检测到更多tRNA-derived RNAs，包括blocked 3' termini物种。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数据库字段：terminal_state、library_method、capture_bias、tDR_class。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工具：MODOMICS_Decoder提供先验修饰字典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GitHub工具：monimaanam/Modomics_Decoder. URL: https://github.com/monimaanam/Modomics_Decoder</a:t>
            </a:r>
          </a:p>
        </p:txBody>
      </p:sp>
      <p:pic>
        <p:nvPicPr>
          <p:cNvPr id="4" name="Picture 3" descr="tool_mod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作用方式：先验修饰符号和短名列表。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它不是caller，不评估识别率或通读率。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适合用于数据库初始化：symbol、short_name、position。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工具：tRNA_reference_construction提供参考序列库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GitHub工具：FlorianPichot/tRNA_reference_construction. URL: https://github.com/FlorianPichot/tRNA_reference_construction</a:t>
            </a:r>
          </a:p>
        </p:txBody>
      </p:sp>
      <p:pic>
        <p:nvPicPr>
          <p:cNvPr id="4" name="Picture 3" descr="tool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作用方式：先验tRNA reference和坐标体系。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解决多拷贝tRNA、mature CCA和reference version问题。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它不调用修饰，但决定修饰信号归属。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工具：SPORTS1.1提供tsRNA/tRF注释入口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GitHub工具：junchaoshi/sports1.1. URL: https://github.com/junchaoshi/sports1.1</a:t>
            </a:r>
          </a:p>
        </p:txBody>
      </p:sp>
      <p:pic>
        <p:nvPicPr>
          <p:cNvPr id="4" name="Picture 3" descr="tool_s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作用方式：依赖先验参考库进行小RNA映射和分类。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输出片段来源、长度、reads和annotation。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mismatch summary可作为候选修饰线索，但不能直接等同于修饰率。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工具：mim-tRNAseq提供RT错配型修饰证据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GitHub工具：nedialkova-lab/mim-tRNAseq. URL: https://github.com/nedialkova-lab/mim-tRNAseq</a:t>
            </a:r>
          </a:p>
        </p:txBody>
      </p:sp>
      <p:pic>
        <p:nvPicPr>
          <p:cNvPr id="4" name="Picture 3" descr="tool_m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作用方式：先验modification index + 实验错配信号。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输出misincorporation、coverage、expression、3'-CCA和SLAC。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识别率取决于RT通读、coverage、修饰类型和比对参数。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工具：TRAC-Seq提供m7G化学切割规则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GitHub工具：rnabioinfor/TRAC-Seq. URL: https://github.com/rnabioinfor/TRAC-Seq</a:t>
            </a:r>
          </a:p>
        </p:txBody>
      </p:sp>
      <p:pic>
        <p:nvPicPr>
          <p:cNvPr id="4" name="Picture 3" descr="tool_tr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作用方式：不是普通序列列表，而是m7G特异化学反应规则。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核心指标是cleavage score和score ratio。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适合记录m7G46位点级证据。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工具：tRNA004提供纳米孔经验错误谱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GitHub工具：rnabioco/tRNA004. URL: https://github.com/rnabioco/tRNA004</a:t>
            </a:r>
          </a:p>
        </p:txBody>
      </p:sp>
      <p:pic>
        <p:nvPicPr>
          <p:cNvPr id="4" name="Picture 3" descr="tool_trna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作用方式：已知修饰位点作为truth anchors，建立basecalling error profiles。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它用于解释RNA004/RNA002下不同修饰的识别率差异。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适合作为纳米孔指纹库的benchmark层。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工具：Nanopore 2-Read强调通读率和终止位点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GitHub工具：AteeshaNegi/nanopore-2Read-trna-pipeline. URL: https://github.com/AteeshaNegi/nanopore-2Read-trna-pipeline</a:t>
            </a:r>
          </a:p>
        </p:txBody>
      </p:sp>
      <p:pic>
        <p:nvPicPr>
          <p:cNvPr id="4" name="Picture 3" descr="tool_2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作用方式：经验信号检测，不是单纯先验序列列表。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关注basecalling error、indel、read-through和termination events。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适合记录per-read/per-site异质性。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工具：Galaxy tRNAmod workflow整理传统NGS错配证据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GitHub工具：jfallmann/tRNA_ngs_mod_map_call_galaxy. URL: https://github.com/jfallmann/tRNA_ngs_mod_map_call_galaxy</a:t>
            </a:r>
          </a:p>
        </p:txBody>
      </p:sp>
      <p:pic>
        <p:nvPicPr>
          <p:cNvPr id="4" name="Picture 3" descr="tool_gala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作用方式：先验参考库 + 多重比对错配模式过滤。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强调tRNA多拷贝造成的mapping歧义。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适合抽象为multi_mapping_policy和mismatch_evidence字段。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数据库结构：修饰、工具信号和表型分层保存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综合来源：上述文献和GitHub工具。</a:t>
            </a:r>
          </a:p>
        </p:txBody>
      </p:sp>
      <p:pic>
        <p:nvPicPr>
          <p:cNvPr id="4" name="Picture 3" descr="99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Reference layer解决位置和归属。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Modification layer解决修饰名、化学类型和writer/eraser。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Evidence与Performance layer解决不同工具的识别率、通读率和错误谱。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Function layer保存翻译、稳定性、应激和疾病表型。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第一版数据库优先收录对象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综合来源：PMID 38977661、40311619、41807381、41714626、38918637、38996458、38538914及相关工具仓库。</a:t>
            </a:r>
          </a:p>
        </p:txBody>
      </p:sp>
      <p:pic>
        <p:nvPicPr>
          <p:cNvPr id="4" name="Picture 3" descr="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9781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第一版不追求一次覆盖全部&gt;100种tRNA修饰。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优先选择有位点证据、工具信号和功能表型的修饰。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后续通过MODOMICS字典扩展全量修饰清单。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Microsoft YaHei"/>
              </a:rPr>
              <a:t>结论：指纹库应是证据图谱，而不是静态修饰表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Microsoft YaHei"/>
              </a:rPr>
              <a:t>综合来源：本PPT全部文献和工具。</a:t>
            </a:r>
          </a:p>
        </p:txBody>
      </p:sp>
      <p:pic>
        <p:nvPicPr>
          <p:cNvPr id="4" name="Picture 3" descr="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tRNA修饰指纹库的核心价值是跨方法整合。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同一修饰在不同工具中的信号不可直接等价，必须方法分层。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Microsoft YaHei"/>
              </a:defRPr>
            </a:pPr>
            <a:r>
              <a:t>建议下一步把现有文献和工具输出整理为schema原型。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