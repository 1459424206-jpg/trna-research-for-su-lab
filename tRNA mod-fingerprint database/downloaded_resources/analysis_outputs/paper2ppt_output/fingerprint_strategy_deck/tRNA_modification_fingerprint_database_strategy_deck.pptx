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tRNA 修饰指纹库：重做后的汇报主线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目标：围绕修饰种类、检测指纹、通读/识别差异、表型和工具输出构建数据库方案。</a:t>
            </a:r>
          </a:p>
        </p:txBody>
      </p:sp>
      <p:pic>
        <p:nvPicPr>
          <p:cNvPr id="4" name="Picture 3" descr="00_titl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193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这版不是逐资料摘要，而是把文献和GitHub工具合并成一个数据库设计故事。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每页一张图：原始论文图、工具流程图或数据库结构图。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核心问题：什么修饰、在哪里、怎么被识别、识别率为何不同、有什么表型。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修饰数量：全量字典、tRNA子集、实验可识别集合必须分开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MODOMICS/NAR 2023 update；tRNA review；tRNA004 README/manuscript description。</a:t>
            </a:r>
          </a:p>
        </p:txBody>
      </p:sp>
      <p:pic>
        <p:nvPicPr>
          <p:cNvPr id="4" name="Picture 3" descr="01_modification_count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95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全量 RNA 修饰 &gt;170；tRNA 子集通常表述为 &gt;100 种。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实验可稳定识别的数量远小于理论总数，且强烈依赖方法。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指纹库应从 MODOMICS 导入全量字典，再用 evidence layer 标注可检测性。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修饰家族：数据库先按化学类型组织“每种修饰是什么样”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用于替代在PPT中硬塞 &gt;100 个修饰名；全量清单留给数据库导入。</a:t>
            </a:r>
          </a:p>
        </p:txBody>
      </p:sp>
      <p:pic>
        <p:nvPicPr>
          <p:cNvPr id="4" name="Picture 3" descr="02_modification_fami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95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同一类修饰常产生类似检测问题，例如甲基化导致 RT mismatch/stop。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U34 wobble 和 A37 hypermodifications 对翻译影响最大。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数据库字段应包括 chemical_family、base、position、expected_signal。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位点决定表型：U34、A37、C32、G46 是第一版重点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tRNA cloverleaf 结构位置图。</a:t>
            </a:r>
          </a:p>
        </p:txBody>
      </p:sp>
      <p:pic>
        <p:nvPicPr>
          <p:cNvPr id="4" name="Picture 3" descr="03_posi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193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U34 常决定 codon recognition 和读码效率。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A37 常稳定 reading frame；C32/G46 更多连接结构识别和tRNA稳定。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同一修饰换位置，检测指纹和功能解释都会改变。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什么叫修饰指纹：化学、测序、纳米孔和功能四层证据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数据库概念图。</a:t>
            </a:r>
          </a:p>
        </p:txBody>
      </p:sp>
      <p:pic>
        <p:nvPicPr>
          <p:cNvPr id="4" name="Picture 3" descr="04_fingerprint_signal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95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一条记录不是“有m7G”，而是“某方法在某位点观察到某信号”。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同一位点可同时有MS、TRAC、mim-seq、Ribo-seq和表型证据。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证据等级需要和实验方法绑定。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识别率/通读率为何不同：修饰在扰动RT酶、孔道和比对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方法差异解释图。</a:t>
            </a:r>
          </a:p>
        </p:txBody>
      </p:sp>
      <p:pic>
        <p:nvPicPr>
          <p:cNvPr id="4" name="Picture 3" descr="05_detectability_readthrou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95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通读率低不一定代表修饰多；也可能是结构、RT酶、预处理或参考造成。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Nanopore 的错误谱不是Illumina错配谱的简单替代。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每个工具输出都要记录参数、阈值、coverage和reference版本。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筛选标准：能贡献数据库字段的文献和工具优先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证据地图。</a:t>
            </a:r>
          </a:p>
        </p:txBody>
      </p:sp>
      <p:pic>
        <p:nvPicPr>
          <p:cNvPr id="4" name="Picture 3" descr="06_selected_eviden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95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保留：能解释修饰、方法信号、功能表型或工具输出的材料。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弱相关：只讲普通tRNA生物学、与修饰指纹无直接关系的材料降级。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新增/强化：MODOMICS、tRNA004/Nanopore、mim-tRNAseq、m7G/TRAC、U34动态转换。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文献精读｜METTL1/m7G46：假说是m7G-tRNA下降会导致翻译衰老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38977661 | Fig.4 TRAC-seq 定位 m7G-tRNAs</a:t>
            </a:r>
          </a:p>
        </p:txBody>
      </p:sp>
      <p:pic>
        <p:nvPicPr>
          <p:cNvPr id="4" name="Picture 3" descr="38977661_41467_2024_49796_Fig4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959" y="896112"/>
            <a:ext cx="3948441" cy="5440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逻辑：衰老中METTL1-WDR4下降，推测tRNA m7G46减少影响翻译。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方法：TRAC-seq 用 NaBH4/aniline 产生m7G位点切割，计算 cleavage score。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结果：定义一组m7G-tRNAs，并在METTL1 KO/衰老中下降。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讨论：m7G46 应作为第一版数据库的标准化化学切割指纹。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文献精读｜METTL1/m7G46：结果是核糖体停顿与SASP衰老表型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38977661 | Fig.5 Ribo-seq uncover ribosome stalling</a:t>
            </a:r>
          </a:p>
        </p:txBody>
      </p:sp>
      <p:pic>
        <p:nvPicPr>
          <p:cNvPr id="4" name="Picture 3" descr="38977661_41467_2024_49796_Fig5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70" y="896112"/>
            <a:ext cx="5108619" cy="5440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方法步骤：puromycin、polysome、Ribo-seq、RNC-qPCR验证翻译效率。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结果：m7G-tRNA解码的codon上A-site ribosome occupancy升高。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表型：WNT等通路翻译下降，ISR/RSR/SASP被激活。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数据库字段：codon_occupancy、translation_efficiency、RTD、senescence phenotype。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文献精读｜m6A与mcm5s2U：假说是mRNA和tRNA表观转录组相互读码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40311619 | Fig.4 mcm5s2U facilitates decoding of m6A codons</a:t>
            </a:r>
          </a:p>
        </p:txBody>
      </p:sp>
      <p:pic>
        <p:nvPicPr>
          <p:cNvPr id="4" name="Picture 3" descr="40311619_nihms-2074120-f0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57032"/>
            <a:ext cx="6629400" cy="2918838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逻辑：m6A在CDS中会让相应codon变成低效翻译位点。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假说：tRNA anticodon loop 的 mcm5s2U 可抵消m6A codon带来的解码障碍。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方法：translation/decay assays、ribosome profiling、tRNA pathway扰动。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意义：指纹库要能连接mRNA修饰、tRNA修饰和codon-specific translation。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文献精读｜m6A与mcm5s2U：结果是修饰状态改变mRNA decay和肿瘤通路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40311619 | Fig.6 mRNA and tRNA modifications affect ribosomal decoding</a:t>
            </a:r>
          </a:p>
        </p:txBody>
      </p:sp>
      <p:pic>
        <p:nvPicPr>
          <p:cNvPr id="4" name="Picture 3" descr="40311619_nihms-2074120-f0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86" y="896112"/>
            <a:ext cx="5537587" cy="5440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结果：mcm5s2U水平改变会改变m6A修饰codon的翻译和mRNA稳定性。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表型：癌症中m6A和mcm5s2U通路失衡与更强侵袭性相关。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讨论：U34修饰是“解码补偿指纹”，不只是tRNA自身属性。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数据库字段：mRNA_mod_context、decoded_codon、tRNA_U34_state、decay_effect。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文献精读｜氧化脱硫：假说是氧化应激把U34修饰转成另一种指纹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41807381 | Fig.1 xm5s2U → xm5h2U</a:t>
            </a:r>
          </a:p>
        </p:txBody>
      </p:sp>
      <p:pic>
        <p:nvPicPr>
          <p:cNvPr id="4" name="Picture 3" descr="PMC12976133_41467_2026_7012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594" y="896112"/>
            <a:ext cx="4605170" cy="5440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逻辑：xm5s2U34 是解码purine-ending codons的重要wobble修饰。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假说：氧化条件使xm5s2U脱硫为xm5h2U，形成可逆/动态翻译调控。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方法：LC-MS/CID 验证脱硫产物，spike-in排除处理伪影。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数据库字段：precursor_mod、converted_mod、redox_state、MS_fragment。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文献精读｜氧化脱硫：结果是氨酰化和A-site识别下降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41807381 | Fig.2 spike-in 控制；Fig.4-7 为功能验证</a:t>
            </a:r>
          </a:p>
        </p:txBody>
      </p:sp>
      <p:pic>
        <p:nvPicPr>
          <p:cNvPr id="4" name="Picture 3" descr="PMC12976133_41467_2026_70126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94731"/>
            <a:ext cx="6629400" cy="4843441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方法步骤：spike-in tracer tRNA、体外翻译、氨酰化、A-site binding、cryo-EM。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结果：mcm5h2U降低tRNALys/Gln/Glu氨酰化，并削弱AAA/AAG识别。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讨论：同一U34位点可能随氧化应激在“高效解码”和“低效解码”状态间切换。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数据库字段：readthrough/recognition_rate、aminoacylation_effect、stress_condition。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文献精读｜冠状病毒：假说是病毒codon usage利用宿主tRNA修饰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41714626 | Fig.1 RSCU and modification pathways</a:t>
            </a:r>
          </a:p>
        </p:txBody>
      </p:sp>
      <p:pic>
        <p:nvPicPr>
          <p:cNvPr id="4" name="Picture 3" descr="PMC13031925_41467_2026_69700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54" y="896112"/>
            <a:ext cx="5732451" cy="5440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逻辑：冠状病毒富含A/U-ending suboptimal codons。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假说：感染重编程I、Q、mcm5U/mcm5s2U、m5C/f5C来提高病毒蛋白翻译。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方法：RSCU、LC-MS/MS、mim-tRNAseq、酶敲低/过表达。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数据库字段：condition=virus、codon_usage_pressure、required_modification。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文献精读｜冠状病毒：结果是感染触发tRNA epitranscriptome重塑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41714626 | Fig.3 LC-MS/MS modification landscape</a:t>
            </a:r>
          </a:p>
        </p:txBody>
      </p:sp>
      <p:pic>
        <p:nvPicPr>
          <p:cNvPr id="4" name="Picture 3" descr="PMC13031925_41467_2026_69700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43" y="896112"/>
            <a:ext cx="6015273" cy="5440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结果：SARS-CoV-2和HCoV-OC43感染改变anticodon loop修饰。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功能测试：ELP3/QTRT1/NSUN2等通路扰动会影响病毒NP蛋白表达。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讨论：病毒不是只“消耗”tRNA，而是改写宿主修饰景观。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数据库字段：enzyme_expression、infection_time、mod_fold_change、viral_translation_output。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文献精读｜tRNA004/Nanopore：问题是43种修饰在孔道中有不同错误指纹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GitHub rnabioco/tRNA004 | README + Rmd analysis</a:t>
            </a:r>
          </a:p>
        </p:txBody>
      </p:sp>
      <p:pic>
        <p:nvPicPr>
          <p:cNvPr id="4" name="Picture 3" descr="tool_trna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193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逻辑：已知tRNA修饰位点可作为天然benchmark。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方法：RNA002/RNA004直接RNA测序，basecalling error映射到MODOMICS位点和结构坐标。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结果目标：比较43种修饰在不同上下文下的错误谱、yield和basecalling accuracy。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数据库字段：platform、chemistry、basecaller、error_profile、context_coverage。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文献精读｜PUS3/Ψ38-39：结构选择性解释为什么同类修饰不等价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38996458 | Figure 2/3 PUS3-tRNA structure</a:t>
            </a:r>
          </a:p>
        </p:txBody>
      </p:sp>
      <p:pic>
        <p:nvPicPr>
          <p:cNvPr id="4" name="Picture 3" descr="38996458_gr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13" y="896112"/>
            <a:ext cx="6079333" cy="5440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逻辑：Ψ广泛存在，但PUS3只修饰特定tRNA 38/39位点。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方法：apo和tRNA-bound PUS3 cryo-EM，突变验证，Pseudo-seq定位。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结果：PUS3二聚体定位tRNA并把目标U放到活性位点。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讨论：数据库不能只记录“Ψ”，还要记录writer、target position和selectivity evidence。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文献精读｜METTL6/m3C32：SerRS决定底物选择，A37和variable arm也重要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38918637 | Fig.1 METTL6-SerRS-tRNA complex</a:t>
            </a:r>
          </a:p>
        </p:txBody>
      </p:sp>
      <p:pic>
        <p:nvPicPr>
          <p:cNvPr id="4" name="Picture 3" descr="PMC11479938_41594_2024_1341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87" y="896112"/>
            <a:ext cx="5580184" cy="5440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逻辑：m3C32影响翻译精度，但METTL6如何选择tRNASer不清楚。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方法：cryo-EM、体外甲基化、mutagenesis、MS。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结果：SerRS是底物选择因子；C32 flip-out进入METTL6活性中心。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数据库字段：writer、cofactor/substrate_selector、structure_state、associated_A37_mod。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文献精读｜lysidine/k2C34：一个wobble修饰决定AUA而避开AUG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38538914 | Fig.2 role of lysidine 34</a:t>
            </a:r>
          </a:p>
        </p:txBody>
      </p:sp>
      <p:pic>
        <p:nvPicPr>
          <p:cNvPr id="4" name="Picture 3" descr="38538914_nihms-2030058-f0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578" y="896112"/>
            <a:ext cx="5165202" cy="5440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逻辑：tRNAIle CAU 需要识别AUA但避开AUG。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假说：C34的lysidine改变碱基几何，排斥AUG。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方法：70S ribosome + EF-Tu + Ile-tRNA cryo-EM。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结果：L34在第三位形成特殊几何，削弱AUG ternary complex稳定性。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数据库字段：codon_specificity、avoidance_codon、structural_decoding_evidence。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文献精读｜tsRNA-Glu-CTC：修饰型tsRNA的表型强于未修饰合成体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41398161 | Fig.9 endogenous modified tsRNA</a:t>
            </a:r>
          </a:p>
        </p:txBody>
      </p:sp>
      <p:pic>
        <p:nvPicPr>
          <p:cNvPr id="4" name="Picture 3" descr="41398161_41467_2025_67387_Fig9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425" y="896112"/>
            <a:ext cx="3759509" cy="5440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逻辑：tsRNA不仅是降解片段，可能是带修饰的功能分子。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方法：PANDORA-seq识别tsRNA，MLC-seq解析内源tsRNA修饰。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结果：修饰型tsRNA-Glu-CTC更强地影响胆固醇和肝脂质。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数据库字段：fragment_start/end、source_tRNA、modification_pattern、lipid phenotype。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文献精读｜ALKB-1/m1A：eraser失活会改变翻译和线粒体表型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41611679 | Fig.2 tRNA m1A and proteostasis</a:t>
            </a:r>
          </a:p>
        </p:txBody>
      </p:sp>
      <p:pic>
        <p:nvPicPr>
          <p:cNvPr id="4" name="Picture 3" descr="41611679_41467_2026_68813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23167"/>
            <a:ext cx="6629400" cy="4986569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逻辑：tRNA methylation 是否影响 paternal mitochondrial elimination 未知。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方法：ALKB-1 D247A/RNAi、LC-MS、m1A-seq、RNC-seq、proteomics。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结果：tRNA m1A升高，线粒体蛋白稳态和ROS通路改变。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数据库字段：eraser_state、m1A_level、translation_imbalance、PME phenotype。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文献精读｜vRNAP-associated tRNA：缺失修饰也可能是功能指纹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40908366 | Fig.6 modification impact for vRNAP formation</a:t>
            </a:r>
          </a:p>
        </p:txBody>
      </p:sp>
      <p:pic>
        <p:nvPicPr>
          <p:cNvPr id="4" name="Picture 3" descr="40908366_41594_2025_1653_Fig6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480" y="896112"/>
            <a:ext cx="4529399" cy="5440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逻辑：poxvirus vRNAP装配需要特定tRNAGln/Arg作为assembly chaperone。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方法：重构装配、gel shift、LC-MS/MS、cryo-EM。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结果：特定tRNA修饰图案和缺失mcm5s2U34参与选择。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讨论：数据库应允许记录absence_of_modification和non-translational_function。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文献精读｜NAT10/ac4C chromatin-associated tRNA：修饰影响染色质与转移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41344331 | Fig.2 NAT10 modifies RNAs and metastasis complex</a:t>
            </a:r>
          </a:p>
        </p:txBody>
      </p:sp>
      <p:pic>
        <p:nvPicPr>
          <p:cNvPr id="4" name="Picture 3" descr="41344331_nihms-2122374-f0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67" y="896112"/>
            <a:ext cx="5005425" cy="54406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逻辑：NAT10是ac4C writer，但其促转移机制不清楚。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方法：NAT10扰动、RNA ac4C、chromatin-associated tRNA、p300/CBP功能分析。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结果：染色质相关tRNA ac4C变化扰动p300/CBP和enhancer组织。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数据库字段：subcellular_context、chromatin_associated_tRNA、ac4C、metastasis phenotype。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文献精读｜LIDAR：捕获被3'端修饰阻断的tRNA-derived RNAs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PMID 39096899 | Method logic reconstructed from abstract and local metadata</a:t>
            </a:r>
          </a:p>
        </p:txBody>
      </p:sp>
      <p:pic>
        <p:nvPicPr>
          <p:cNvPr id="4" name="Picture 3" descr="paper_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193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逻辑：传统ligation-dependent small RNA-seq会漏掉3'端被修饰/阻断的RNA。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方法：quasi-random priming + template switching，避免3' ligation依赖。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结果：发现更多tDRs，包括3' blocked species。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数据库字段：terminal_state、library_method、capture_bias、tDR class。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工具精读｜MODOMICS_Decoder：修饰字典导入，不是caller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GitHub monimaanam/Modomics_Decoder</a:t>
            </a:r>
          </a:p>
        </p:txBody>
      </p:sp>
      <p:pic>
        <p:nvPicPr>
          <p:cNvPr id="4" name="Picture 3" descr="tool_modomics_deco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193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输入：MODOMICS unicode sequence。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输出：position、symbol、short names，例如7=m7G、?=m5C、Ѣ=m1A。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用途：把“每种修饰是什么样”标准化为数据库字段。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局限：不提供实验识别率或表型，需要和证据层join。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工具精读｜tRNA reference construction：先解决参考坐标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GitHub FlorianPichot/tRNA_reference_construction</a:t>
            </a:r>
          </a:p>
        </p:txBody>
      </p:sp>
      <p:pic>
        <p:nvPicPr>
          <p:cNvPr id="4" name="Picture 3" descr="tool_reference_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193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目标：从genomic tRNA predictions构建非重复、合并、优化参考。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方法：R脚本构建，Unix脚本用reads验证。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数据库意义：所有修饰位点必须锚定reference_version。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风险：路径硬编码，需要工程化重写。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工具精读｜SPORTS1.1：tsRNA/tRF层面的指纹入口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GitHub junchaoshi/sports1.1</a:t>
            </a:r>
          </a:p>
        </p:txBody>
      </p:sp>
      <p:pic>
        <p:nvPicPr>
          <p:cNvPr id="4" name="Picture 3" descr="tool_s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193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处理small RNA/PANDORA-seq，输出tRNA-derived fragment annotation。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可识别tRNA-Glu-CTC_5_end等片段类别。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mismatch summary可作为候选修饰线索。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数据库用途：fragment entity、RPM、length、source tRNA、condition。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工具精读｜mim-tRNAseq：最完整的RT错配型tRNA修饰pipeline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GitHub nedialkova-lab/mim-tRNAseq</a:t>
            </a:r>
          </a:p>
        </p:txBody>
      </p:sp>
      <p:pic>
        <p:nvPicPr>
          <p:cNvPr id="4" name="Picture 3" descr="tool_mim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193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步骤：cluster/index、GSNAP alignment、deconvolution、coverage/QC、DESeq2。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输出：expression、misincorporation、3'-CCA completeness、SLAC crosstalk。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识别率受coverage、RT通读、修饰类型和remap参数影响。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数据库用途：method-specific mismatch spectrum 和 crosstalk evidence。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工具精读｜TRAC-Seq：专门服务m7G46的高特异方法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GitHub rnabioinfor/TRAC-Seq + METTL1论文方法</a:t>
            </a:r>
          </a:p>
        </p:txBody>
      </p:sp>
      <p:pic>
        <p:nvPicPr>
          <p:cNvPr id="4" name="Picture 3" descr="tool_trac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193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化学逻辑：m7G还原后可特异切割。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信号：cleavage score，而不是普通mismatch。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优点：m7G位点特异；局限：主要适用于m7G。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数据库字段：chemical_treatment、cleavage_position、score_ratio。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工具精读｜tRNA004：把Nanopore错误率变成修饰benchmark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GitHub rnabioco/tRNA004</a:t>
            </a:r>
          </a:p>
        </p:txBody>
      </p:sp>
      <p:pic>
        <p:nvPicPr>
          <p:cNvPr id="4" name="Picture 3" descr="tool_trna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193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核心贡献：43种已知修饰的basecalling error profiles。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RNA004相对RNA002改善短tRNA测序产量/准确性，但每种修饰信号不同。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识别差异原因：修饰化学体积、序列上下文、basecaller训练、coverage。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数据库用途：nanopore_signature_reference。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工具精读｜Nanopore 2-Read：通读率和终止位点成为指纹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GitHub AteeshaNegi/nanopore-2Read-trna-pipeline</a:t>
            </a:r>
          </a:p>
        </p:txBody>
      </p:sp>
      <p:pic>
        <p:nvPicPr>
          <p:cNvPr id="4" name="Picture 3" descr="tool_2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193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利用ONT basecalling errors、polymerase read-through/error和termination events。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强调per-read/per-site解析，适合记录分子层异质性。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需要补充脚本完整性、示例数据、阈值和验证集。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数据库字段：readthrough_rate、termination_site、per_read_signature。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工具精读｜Galaxy tRNAmod：传统NGS错配证据的workflow参考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GitHub jfallmann/tRNA_ngs_mod_map_call_galaxy</a:t>
            </a:r>
          </a:p>
        </p:txBody>
      </p:sp>
      <p:pic>
        <p:nvPicPr>
          <p:cNvPr id="4" name="Picture 3" descr="tool_gala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193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addCCA、clustering、multimapperPhasing、GATK wrapper等工具。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核心思路：多重比对reads只有错配图案一致时才保留。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优点：体现tRNA多拷贝mapping问题；局限：依赖旧GATK/Galaxy。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数据库用途：multi_mapping_policy 和 mismatch evidence 规范化。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数据库设计｜第一版优先收录这些修饰和字段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从精选文献和工具反推最小可行数据模型。</a:t>
            </a:r>
          </a:p>
        </p:txBody>
      </p:sp>
      <p:pic>
        <p:nvPicPr>
          <p:cNvPr id="4" name="Picture 3" descr="priority_m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95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先覆盖强证据和强表型修饰，不追求一开始覆盖&gt;100全部。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每个修饰至少要有：位点、方法、信号、来源、表型字段。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后续用MODOMICS批量扩展全量修饰字典。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数据库设计｜指纹库schema把文献与工具输出连接起来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最小可行schema。</a:t>
            </a:r>
          </a:p>
        </p:txBody>
      </p:sp>
      <p:pic>
        <p:nvPicPr>
          <p:cNvPr id="4" name="Picture 3" descr="99_databas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193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Reference、Modification、Evidence、Function 四层分离。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工具输出只进入Evidence层；文献表型进入Function层。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同一修饰允许多方法、多条件、多表型证据并存。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数据库设计｜识别率/通读率需要按方法存储，而不是全局值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方法特异字段建议。</a:t>
            </a:r>
          </a:p>
        </p:txBody>
      </p:sp>
      <p:pic>
        <p:nvPicPr>
          <p:cNvPr id="4" name="Picture 3" descr="method_specific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4952"/>
            <a:ext cx="6629400" cy="3683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同一修饰在不同工具中指标不等价。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数据库查询界面应显示方法、阈值和coverage，避免误读。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通读率/readthrough_rate必须绑定RT酶或Nanopore chemistry。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46304"/>
            <a:ext cx="1161288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Microsoft YaHei"/>
              </a:rPr>
              <a:t>最终结论｜tRNA修饰指纹库应是证据图谱，不是静态修饰表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000000"/>
                </a:solidFill>
                <a:latin typeface="Microsoft YaHei"/>
              </a:rPr>
              <a:t>综合模型。</a:t>
            </a:r>
          </a:p>
        </p:txBody>
      </p:sp>
      <p:pic>
        <p:nvPicPr>
          <p:cNvPr id="4" name="Picture 3" descr="final_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51933"/>
            <a:ext cx="6629400" cy="3729037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32688"/>
            <a:ext cx="4526280" cy="5257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第一版优先做U34/G46/C32/A37等关键位点。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识别率差异来自化学结构、上下文、平台和预处理，不应被简化为一个百分比。</a:t>
            </a:r>
          </a:p>
          <a:p>
            <a:pPr>
              <a:spcAft>
                <a:spcPts val="500"/>
              </a:spcAft>
              <a:defRPr sz="1250">
                <a:solidFill>
                  <a:srgbClr val="000000"/>
                </a:solidFill>
                <a:latin typeface="Microsoft YaHei"/>
              </a:defRPr>
            </a:pPr>
            <a:r>
              <a:t>下一步可以把现有CSV/JSON整理成schema原型，再接入工具输出。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