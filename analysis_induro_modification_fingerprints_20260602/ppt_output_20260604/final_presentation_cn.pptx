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开场先说明本报告不比较具体样本的修饰丰度，而是比较工具层面的修饰指纹规则。核心问题是：RT 遇到修饰时产生什么可测信号，以及这些信号如何变成可用的修饰判读。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这一页给听众一个路线图：先澄清数据库/指纹库的语义，再进入 Induro 论文的证据，最后回到 sperm tsRNA 场景。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强调这里的比较不是工具优劣，而是知识组织方式不同。mim 的强项是成熟注释和热点先验，Induro 的强项是把每类修饰的反转录行为拆开。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这一页需要提醒两个常见误区：第一，完整修饰字典不是可检测清单；第二，生物学上重要的修饰未必是 RT-readable。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介绍工作流时不用讲每个酶反应细节，重点说它如何把 tRNA 的长度、结构和修饰障碍转化成可测读段。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这里要把 experimental condition 作为主角。厂家条件不等于 tRNA 修饰测序的最佳条件，这对以后设计实验很重要。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这是全场核心证据页。mim/Induro 差异的关键不是名字列表，而是同一信号如何被解释成修饰。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这一页从方法学过渡到生物学。重点不是每个组织哪条 tRNA 变了，而是作者提出的稳定 ASL 与可变 body 的组织逻辑。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可以把这一页当作 Nakano 论文的小结：signature 是手段，coordinated changes 是生物学出口。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这页只保留背景证据，不展开所有代谢表型。目的是说明为什么要关心 tsRNA 的修饰，而不是只关心全长 tRNA。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这里要明确区分 m2G 与 m2,2G，也要说明 m5C 不是常规 Induro/mim 核心 RT-readable 修饰。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这一页用作讨论框架，不需要解释综述每个例子。核心是把 sperm RNA 的来源、作用和修饰偏差连起来。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这页把三篇文献在报告里的角色压实，避免听众觉得它们是三个并列但松散的阅读笔记。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收束到可执行研究路线。这里可以结合自己的样本体系，把技术层与生物学层分开设计，避免把相关性列表误当因果链。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结尾回到一句话：这套 PPT 的目的不是证明某个工具更好，而是帮助设计一个可被验证的 tRNA/tsRNA 修饰研究路径。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7899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>
                <a:solidFill>
                  <a:srgbClr val="147D8C"/>
                </a:solidFill>
                <a:latin typeface="Microsoft YaHei"/>
              </a:rPr>
              <a:t>mim-tRNAseq 与 Induro-tRNAseq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10698480" cy="10972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3400" b="1">
                <a:solidFill>
                  <a:srgbClr val="1F2937"/>
                </a:solidFill>
                <a:latin typeface="Microsoft YaHei"/>
              </a:rPr>
              <a:t>修饰指纹库对比与三篇文献精读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996696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550" b="0">
                <a:solidFill>
                  <a:srgbClr val="5F6C7D"/>
                </a:solidFill>
                <a:latin typeface="Microsoft YaHei"/>
              </a:rPr>
              <a:t>把“测序错误”拆成可解释的 RT signature：mismatch、RT stop、readthrough 与位点结构环境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2962656"/>
            <a:ext cx="1828800" cy="310896"/>
          </a:xfrm>
          <a:prstGeom prst="roundRect">
            <a:avLst/>
          </a:prstGeom>
          <a:solidFill>
            <a:srgbClr val="2D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3012948"/>
            <a:ext cx="1737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规则库：mim/TGIRT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2962656"/>
            <a:ext cx="1828800" cy="310896"/>
          </a:xfrm>
          <a:prstGeom prst="roundRect">
            <a:avLst/>
          </a:prstGeom>
          <a:solidFill>
            <a:srgbClr val="147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0" y="3012948"/>
            <a:ext cx="17373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酶学图谱：Induro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2962656"/>
            <a:ext cx="2148840" cy="310896"/>
          </a:xfrm>
          <a:prstGeom prst="roundRect">
            <a:avLst/>
          </a:prstGeom>
          <a:solidFill>
            <a:srgbClr val="2A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3012948"/>
            <a:ext cx="20574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生殖场景：sperm tsRNA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962656"/>
            <a:ext cx="2148840" cy="310896"/>
          </a:xfrm>
          <a:prstGeom prst="roundRect">
            <a:avLst/>
          </a:prstGeom>
          <a:solidFill>
            <a:srgbClr val="A77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3012948"/>
            <a:ext cx="20574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研究设计：双RT + 质谱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71100" y="3566160"/>
            <a:ext cx="1710759" cy="2240280"/>
          </a:xfrm>
          <a:prstGeom prst="rect">
            <a:avLst/>
          </a:prstGeom>
          <a:noFill/>
          <a:ln w="1016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note_p1_core_conclu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1100" y="3566160"/>
            <a:ext cx="1710759" cy="22402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0352" y="6611112"/>
            <a:ext cx="110642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30" b="0">
                <a:solidFill>
                  <a:srgbClr val="5F6C7D"/>
                </a:solidFill>
                <a:latin typeface="Microsoft YaHei"/>
              </a:rPr>
              <a:t>Sources: 本地阅读版 PDF；Nakano et al., Nature Communications 2025；Chen et al., Science 2016；Chen, Yan &amp; Duan, Nature Reviews Genetics 2016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56032"/>
            <a:ext cx="106527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Microsoft YaHei"/>
              </a:rPr>
              <a:t>报告问题：不是“谁的数据库更大”，而是谁能解释哪类 RT 信号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" y="896112"/>
            <a:ext cx="11155680" cy="16459"/>
          </a:xfrm>
          <a:prstGeom prst="rect">
            <a:avLst/>
          </a:prstGeom>
          <a:solidFill>
            <a:srgbClr val="D5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298448"/>
            <a:ext cx="5074920" cy="1508760"/>
          </a:xfrm>
          <a:prstGeom prst="roundRect">
            <a:avLst/>
          </a:prstGeom>
          <a:solidFill>
            <a:srgbClr val="F7F9FC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411480" cy="310896"/>
          </a:xfrm>
          <a:prstGeom prst="roundRect">
            <a:avLst/>
          </a:prstGeom>
          <a:solidFill>
            <a:srgbClr val="2D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13332"/>
            <a:ext cx="3200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481328"/>
            <a:ext cx="40690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550" b="1">
                <a:solidFill>
                  <a:srgbClr val="2D5AAA"/>
                </a:solidFill>
                <a:latin typeface="Microsoft YaHei"/>
              </a:rPr>
              <a:t>指纹库边界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84248"/>
            <a:ext cx="45262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20" b="0">
                <a:solidFill>
                  <a:srgbClr val="1F2937"/>
                </a:solidFill>
                <a:latin typeface="Microsoft YaHei"/>
              </a:rPr>
              <a:t>mim 是源码规则/注释库；Induro 是反转录酶响应图谱。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7" y="1298448"/>
            <a:ext cx="5074920" cy="1508760"/>
          </a:xfrm>
          <a:prstGeom prst="roundRect">
            <a:avLst/>
          </a:prstGeom>
          <a:solidFill>
            <a:srgbClr val="F7F9FC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799" y="1463040"/>
            <a:ext cx="411480" cy="310896"/>
          </a:xfrm>
          <a:prstGeom prst="roundRect">
            <a:avLst/>
          </a:prstGeom>
          <a:solidFill>
            <a:srgbClr val="147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19" y="1513332"/>
            <a:ext cx="3200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39" y="1481328"/>
            <a:ext cx="40690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550" b="1">
                <a:solidFill>
                  <a:srgbClr val="147D8C"/>
                </a:solidFill>
                <a:latin typeface="Microsoft YaHei"/>
              </a:rPr>
              <a:t>共同核心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39" y="1984248"/>
            <a:ext cx="45262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20" b="0">
                <a:solidFill>
                  <a:srgbClr val="1F2937"/>
                </a:solidFill>
                <a:latin typeface="Microsoft YaHei"/>
              </a:rPr>
              <a:t>m1A、m1G、m2,2G、m3C、I34、yW、acp3U、A37 复杂修饰等。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328416"/>
            <a:ext cx="5074920" cy="1508760"/>
          </a:xfrm>
          <a:prstGeom prst="roundRect">
            <a:avLst/>
          </a:prstGeom>
          <a:solidFill>
            <a:srgbClr val="F7F9FC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493008"/>
            <a:ext cx="411480" cy="310896"/>
          </a:xfrm>
          <a:prstGeom prst="roundRect">
            <a:avLst/>
          </a:prstGeom>
          <a:solidFill>
            <a:srgbClr val="B5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43300"/>
            <a:ext cx="3200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511296"/>
            <a:ext cx="40690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550" b="1">
                <a:solidFill>
                  <a:srgbClr val="B54949"/>
                </a:solidFill>
                <a:latin typeface="Microsoft YaHei"/>
              </a:rPr>
              <a:t>关键差异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014216"/>
            <a:ext cx="45262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20" b="0">
                <a:solidFill>
                  <a:srgbClr val="1F2937"/>
                </a:solidFill>
                <a:latin typeface="Microsoft YaHei"/>
              </a:rPr>
              <a:t>多数修饰看 0 位 mismatch；acp3U20 和 ms2i6A/ms2t6A37 要看 +1 RT stop。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3328416"/>
            <a:ext cx="5074920" cy="1508760"/>
          </a:xfrm>
          <a:prstGeom prst="roundRect">
            <a:avLst/>
          </a:prstGeom>
          <a:solidFill>
            <a:srgbClr val="F7F9FC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799" y="3493008"/>
            <a:ext cx="411480" cy="310896"/>
          </a:xfrm>
          <a:prstGeom prst="roundRect">
            <a:avLst/>
          </a:prstGeom>
          <a:solidFill>
            <a:srgbClr val="2A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19" y="3543300"/>
            <a:ext cx="3200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39" y="3511296"/>
            <a:ext cx="40690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550" b="1">
                <a:solidFill>
                  <a:srgbClr val="2A7E5C"/>
                </a:solidFill>
                <a:latin typeface="Microsoft YaHei"/>
              </a:rPr>
              <a:t>生物学落点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39" y="4014216"/>
            <a:ext cx="45262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20" b="0">
                <a:solidFill>
                  <a:srgbClr val="1F2937"/>
                </a:solidFill>
                <a:latin typeface="Microsoft YaHei"/>
              </a:rPr>
              <a:t>sperm tsRNA 的 m5C/m2G 有功能意义，但不能直接等同于 RT-readable 指纹。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236208"/>
            <a:ext cx="11173968" cy="347472"/>
          </a:xfrm>
          <a:prstGeom prst="rect">
            <a:avLst/>
          </a:prstGeom>
          <a:solidFill>
            <a:srgbClr val="F7F9FC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6309360"/>
            <a:ext cx="108813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147D8C"/>
                </a:solidFill>
                <a:latin typeface="Microsoft YaHei"/>
              </a:rPr>
              <a:t>Take-home: 本报告按“工具规则 -&gt; 证据图谱 -&gt; 生物学应用 -&gt; 研究设计”展开。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56032"/>
            <a:ext cx="106527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Microsoft YaHei"/>
              </a:rPr>
              <a:t>mim 与 Induro 的核心差异在“指纹来源”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" y="896112"/>
            <a:ext cx="11155680" cy="16459"/>
          </a:xfrm>
          <a:prstGeom prst="rect">
            <a:avLst/>
          </a:prstGeom>
          <a:solidFill>
            <a:srgbClr val="D5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15173" y="1115568"/>
            <a:ext cx="3770653" cy="4937760"/>
          </a:xfrm>
          <a:prstGeom prst="rect">
            <a:avLst/>
          </a:prstGeom>
          <a:noFill/>
          <a:ln w="1016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ote_p2_mim_induro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5173" y="1115568"/>
            <a:ext cx="3770653" cy="4937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26679" y="1170432"/>
            <a:ext cx="2057400" cy="310896"/>
          </a:xfrm>
          <a:prstGeom prst="roundRect">
            <a:avLst/>
          </a:prstGeom>
          <a:solidFill>
            <a:srgbClr val="2D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399" y="1220724"/>
            <a:ext cx="19659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mim-tRNAseq / TGIRT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600200"/>
            <a:ext cx="3840480" cy="1417320"/>
          </a:xfrm>
          <a:prstGeom prst="rect">
            <a:avLst/>
          </a:prstGeom>
          <a:noFill/>
        </p:spPr>
        <p:txBody>
          <a:bodyPr wrap="square" lIns="54864" rIns="54864" tIns="18288">
            <a:spAutoFit/>
          </a:bodyPr>
          <a:lstStyle/>
          <a:p>
            <a:pPr>
              <a:spcAft>
                <a:spcPts val="360"/>
              </a:spcAft>
              <a:defRPr sz="1140">
                <a:solidFill>
                  <a:srgbClr val="1F2937"/>
                </a:solidFill>
                <a:latin typeface="Microsoft YaHei"/>
              </a:defRPr>
            </a:pPr>
            <a:r>
              <a:t>源码内置规则：modifications、Mods + I、additionalMods</a:t>
            </a:r>
          </a:p>
          <a:p>
            <a:pPr>
              <a:spcAft>
                <a:spcPts val="360"/>
              </a:spcAft>
              <a:defRPr sz="1140">
                <a:solidFill>
                  <a:srgbClr val="1F2937"/>
                </a:solidFill>
                <a:latin typeface="Microsoft YaHei"/>
              </a:defRPr>
            </a:pPr>
            <a:r>
              <a:t>包含完整修饰字典，但真正可检测集合远小于 170 项</a:t>
            </a:r>
          </a:p>
          <a:p>
            <a:pPr>
              <a:spcAft>
                <a:spcPts val="360"/>
              </a:spcAft>
              <a:defRPr sz="1140">
                <a:solidFill>
                  <a:srgbClr val="1F2937"/>
                </a:solidFill>
                <a:latin typeface="Microsoft YaHei"/>
              </a:defRPr>
            </a:pPr>
            <a:r>
              <a:t>canonical hotspot 先验用于避免 isodecoder 误判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3401568"/>
            <a:ext cx="1920240" cy="310896"/>
          </a:xfrm>
          <a:prstGeom prst="roundRect">
            <a:avLst/>
          </a:prstGeom>
          <a:solidFill>
            <a:srgbClr val="147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399" y="3451860"/>
            <a:ext cx="18288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Induro-tRNAseq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3822191"/>
            <a:ext cx="3840480" cy="1325880"/>
          </a:xfrm>
          <a:prstGeom prst="rect">
            <a:avLst/>
          </a:prstGeom>
          <a:noFill/>
        </p:spPr>
        <p:txBody>
          <a:bodyPr wrap="square" lIns="54864" rIns="54864" tIns="18288">
            <a:spAutoFit/>
          </a:bodyPr>
          <a:lstStyle/>
          <a:p>
            <a:pPr>
              <a:spcAft>
                <a:spcPts val="360"/>
              </a:spcAft>
              <a:defRPr sz="1140">
                <a:solidFill>
                  <a:srgbClr val="1F2937"/>
                </a:solidFill>
                <a:latin typeface="Microsoft YaHei"/>
              </a:defRPr>
            </a:pPr>
            <a:r>
              <a:t>来自系统酶学实测：RT stop、mismatch、read identity</a:t>
            </a:r>
          </a:p>
          <a:p>
            <a:pPr>
              <a:spcAft>
                <a:spcPts val="360"/>
              </a:spcAft>
              <a:defRPr sz="1140">
                <a:solidFill>
                  <a:srgbClr val="1F2937"/>
                </a:solidFill>
                <a:latin typeface="Microsoft YaHei"/>
              </a:defRPr>
            </a:pPr>
            <a:r>
              <a:t>按修饰、位点、温度/时间、金属离子拆分规则</a:t>
            </a:r>
          </a:p>
          <a:p>
            <a:pPr>
              <a:spcAft>
                <a:spcPts val="360"/>
              </a:spcAft>
              <a:defRPr sz="1140">
                <a:solidFill>
                  <a:srgbClr val="1F2937"/>
                </a:solidFill>
                <a:latin typeface="Microsoft YaHei"/>
              </a:defRPr>
            </a:pPr>
            <a:r>
              <a:t>不是重写 mim，而是在 RT 行为层面扩展框架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236208"/>
            <a:ext cx="11173968" cy="347472"/>
          </a:xfrm>
          <a:prstGeom prst="rect">
            <a:avLst/>
          </a:prstGeom>
          <a:solidFill>
            <a:srgbClr val="F7F9FC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6309360"/>
            <a:ext cx="108813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147D8C"/>
                </a:solidFill>
                <a:latin typeface="Microsoft YaHei"/>
              </a:rPr>
              <a:t>Take-home: mim 更像“注释规则库”，Induro 更像“修饰-酶响应图谱”。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611112"/>
            <a:ext cx="110642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30" b="0">
                <a:solidFill>
                  <a:srgbClr val="5F6C7D"/>
                </a:solidFill>
                <a:latin typeface="Microsoft YaHei"/>
              </a:rPr>
              <a:t>Source: 本地阅读版 PDF p2；Nakano et al., Nat Commun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56032"/>
            <a:ext cx="106527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Microsoft YaHei"/>
              </a:rPr>
              <a:t>共同核心高度重叠，但可读边界必须逐修饰判断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" y="896112"/>
            <a:ext cx="11155680" cy="16459"/>
          </a:xfrm>
          <a:prstGeom prst="rect">
            <a:avLst/>
          </a:prstGeom>
          <a:solidFill>
            <a:srgbClr val="D5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650928" y="1078992"/>
            <a:ext cx="3805566" cy="4983480"/>
          </a:xfrm>
          <a:prstGeom prst="rect">
            <a:avLst/>
          </a:prstGeom>
          <a:noFill/>
          <a:ln w="1016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ote_p3_modification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0928" y="1078992"/>
            <a:ext cx="3805566" cy="4983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96528" y="1170432"/>
            <a:ext cx="2697480" cy="4434840"/>
          </a:xfrm>
          <a:prstGeom prst="rect">
            <a:avLst/>
          </a:prstGeom>
          <a:noFill/>
        </p:spPr>
        <p:txBody>
          <a:bodyPr wrap="square" lIns="54864" rIns="54864" tIns="18288">
            <a:spAutoFit/>
          </a:bodyPr>
          <a:lstStyle/>
          <a:p>
            <a:pPr>
              <a:spcAft>
                <a:spcPts val="360"/>
              </a:spcAft>
              <a:defRPr sz="1120">
                <a:solidFill>
                  <a:srgbClr val="1F2937"/>
                </a:solidFill>
                <a:latin typeface="Microsoft YaHei"/>
              </a:defRPr>
            </a:pPr>
            <a:r>
              <a:t>共同核心：m1A、m1G、m2,2G、m3C、m1I、I34、yW、acp3U、ms2i6A、ms2t6A</a:t>
            </a:r>
          </a:p>
          <a:p>
            <a:pPr>
              <a:spcAft>
                <a:spcPts val="360"/>
              </a:spcAft>
              <a:defRPr sz="1120">
                <a:solidFill>
                  <a:srgbClr val="1F2937"/>
                </a:solidFill>
                <a:latin typeface="Microsoft YaHei"/>
              </a:defRPr>
            </a:pPr>
            <a:r>
              <a:t>mim 额外单列 o2yW / OHyW；Induro 主文以 yW37 为实测条目</a:t>
            </a:r>
          </a:p>
          <a:p>
            <a:pPr>
              <a:spcAft>
                <a:spcPts val="360"/>
              </a:spcAft>
              <a:defRPr sz="1120">
                <a:solidFill>
                  <a:srgbClr val="1F2937"/>
                </a:solidFill>
                <a:latin typeface="Microsoft YaHei"/>
              </a:defRPr>
            </a:pPr>
            <a:r>
              <a:t>m5C、Ψ、D、T、τm5U 等通常不能靠常规 RT signature 稳定定位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236208"/>
            <a:ext cx="11173968" cy="347472"/>
          </a:xfrm>
          <a:prstGeom prst="rect">
            <a:avLst/>
          </a:prstGeom>
          <a:solidFill>
            <a:srgbClr val="F7F9FC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309360"/>
            <a:ext cx="108813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B54949"/>
                </a:solidFill>
                <a:latin typeface="Microsoft YaHei"/>
              </a:rPr>
              <a:t>Take-home: “有修饰名称”不等于“能被这套 RT 指纹可靠读出”。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6611112"/>
            <a:ext cx="110642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30" b="0">
                <a:solidFill>
                  <a:srgbClr val="5F6C7D"/>
                </a:solidFill>
                <a:latin typeface="Microsoft YaHei"/>
              </a:rPr>
              <a:t>Source: 本地阅读版 PDF p3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56032"/>
            <a:ext cx="106527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Microsoft YaHei"/>
              </a:rPr>
              <a:t>Induro-tRNAseq 把 tRNA 修饰测序做成可多重化工作流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" y="896112"/>
            <a:ext cx="11155680" cy="16459"/>
          </a:xfrm>
          <a:prstGeom prst="rect">
            <a:avLst/>
          </a:prstGeom>
          <a:solidFill>
            <a:srgbClr val="D5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30171" y="1133856"/>
            <a:ext cx="4909920" cy="4892040"/>
          </a:xfrm>
          <a:prstGeom prst="rect">
            <a:avLst/>
          </a:prstGeom>
          <a:noFill/>
          <a:ln w="1016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akano_fig1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171" y="1133856"/>
            <a:ext cx="4909920" cy="48920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133856"/>
            <a:ext cx="1965960" cy="310896"/>
          </a:xfrm>
          <a:prstGeom prst="roundRect">
            <a:avLst/>
          </a:prstGeom>
          <a:solidFill>
            <a:srgbClr val="147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1184148"/>
            <a:ext cx="18745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怎么读这张图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8512" y="1572768"/>
            <a:ext cx="2788920" cy="4206240"/>
          </a:xfrm>
          <a:prstGeom prst="rect">
            <a:avLst/>
          </a:prstGeom>
          <a:noFill/>
        </p:spPr>
        <p:txBody>
          <a:bodyPr wrap="square" lIns="54864" rIns="54864" tIns="18288">
            <a:spAutoFit/>
          </a:bodyPr>
          <a:lstStyle/>
          <a:p>
            <a:pPr>
              <a:spcAft>
                <a:spcPts val="360"/>
              </a:spcAft>
              <a:defRPr sz="1220">
                <a:solidFill>
                  <a:srgbClr val="1F2937"/>
                </a:solidFill>
                <a:latin typeface="Microsoft YaHei"/>
              </a:defRPr>
            </a:pPr>
            <a:r>
              <a:t>总 RNA 可直接进入流程，兼顾 charged / uncharged tRNA</a:t>
            </a:r>
          </a:p>
          <a:p>
            <a:pPr>
              <a:spcAft>
                <a:spcPts val="360"/>
              </a:spcAft>
              <a:defRPr sz="1220">
                <a:solidFill>
                  <a:srgbClr val="1F2937"/>
                </a:solidFill>
                <a:latin typeface="Microsoft YaHei"/>
              </a:defRPr>
            </a:pPr>
            <a:r>
              <a:t>3' 端处理、barcode adapter、Induro RT、环化和 PCR 构成核心流程</a:t>
            </a:r>
          </a:p>
          <a:p>
            <a:pPr>
              <a:spcAft>
                <a:spcPts val="360"/>
              </a:spcAft>
              <a:defRPr sz="1220">
                <a:solidFill>
                  <a:srgbClr val="1F2937"/>
                </a:solidFill>
                <a:latin typeface="Microsoft YaHei"/>
              </a:defRPr>
            </a:pPr>
            <a:r>
              <a:t>流程还能同时评估丰度、CCA 完整性和 charging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236208"/>
            <a:ext cx="11173968" cy="347472"/>
          </a:xfrm>
          <a:prstGeom prst="rect">
            <a:avLst/>
          </a:prstGeom>
          <a:solidFill>
            <a:srgbClr val="F7F9FC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6309360"/>
            <a:ext cx="108813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147D8C"/>
                </a:solidFill>
                <a:latin typeface="Microsoft YaHei"/>
              </a:rPr>
              <a:t>Take-home: 方法学贡献不只是换一个 RT，而是建立可复用的 tRNA modification profiling workflow。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611112"/>
            <a:ext cx="110642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30" b="0">
                <a:solidFill>
                  <a:srgbClr val="5F6C7D"/>
                </a:solidFill>
                <a:latin typeface="Microsoft YaHei"/>
              </a:rPr>
              <a:t>Source: Nakano et al., Nat Commun 2025, Fig.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56032"/>
            <a:ext cx="106527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Microsoft YaHei"/>
              </a:rPr>
              <a:t>Induro 读穿提升来自减少 RT stop，而不是改变 mismatch 指纹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" y="896112"/>
            <a:ext cx="11155680" cy="16459"/>
          </a:xfrm>
          <a:prstGeom prst="rect">
            <a:avLst/>
          </a:prstGeom>
          <a:solidFill>
            <a:srgbClr val="D5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789920" cy="621792"/>
          </a:xfrm>
          <a:prstGeom prst="rect">
            <a:avLst/>
          </a:prstGeom>
          <a:noFill/>
        </p:spPr>
        <p:txBody>
          <a:bodyPr wrap="square" lIns="54864" rIns="54864" tIns="18288">
            <a:spAutoFit/>
          </a:bodyPr>
          <a:lstStyle/>
          <a:p>
            <a:pPr>
              <a:spcAft>
                <a:spcPts val="360"/>
              </a:spcAft>
              <a:defRPr sz="1220">
                <a:solidFill>
                  <a:srgbClr val="1F2937"/>
                </a:solidFill>
                <a:latin typeface="Microsoft YaHei"/>
              </a:defRPr>
            </a:pPr>
            <a:r>
              <a:t>37 °C 过夜读穿最高可接近 90%；42 °C 过夜是论文主工作流</a:t>
            </a:r>
          </a:p>
          <a:p>
            <a:pPr>
              <a:spcAft>
                <a:spcPts val="360"/>
              </a:spcAft>
              <a:defRPr sz="1220">
                <a:solidFill>
                  <a:srgbClr val="1F2937"/>
                </a:solidFill>
                <a:latin typeface="Microsoft YaHei"/>
              </a:defRPr>
            </a:pPr>
            <a:r>
              <a:t>55 °C 推荐条件并不适合 tRNA 修饰读穿</a:t>
            </a:r>
          </a:p>
          <a:p>
            <a:pPr>
              <a:spcAft>
                <a:spcPts val="360"/>
              </a:spcAft>
              <a:defRPr sz="1220">
                <a:solidFill>
                  <a:srgbClr val="1F2937"/>
                </a:solidFill>
                <a:latin typeface="Microsoft YaHei"/>
              </a:defRPr>
            </a:pPr>
            <a:r>
              <a:t>misincorporation 频率相对稳定，RT stop 更受时间和温度调控</a:t>
            </a:r>
          </a:p>
        </p:txBody>
      </p:sp>
      <p:sp>
        <p:nvSpPr>
          <p:cNvPr id="6" name="Rectangle 5"/>
          <p:cNvSpPr/>
          <p:nvPr/>
        </p:nvSpPr>
        <p:spPr>
          <a:xfrm>
            <a:off x="3712815" y="1737360"/>
            <a:ext cx="4726744" cy="4343400"/>
          </a:xfrm>
          <a:prstGeom prst="rect">
            <a:avLst/>
          </a:prstGeom>
          <a:noFill/>
          <a:ln w="1016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akano_fig3_readthroug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815" y="1737360"/>
            <a:ext cx="4726744" cy="4343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6236208"/>
            <a:ext cx="11173968" cy="347472"/>
          </a:xfrm>
          <a:prstGeom prst="rect">
            <a:avLst/>
          </a:prstGeom>
          <a:solidFill>
            <a:srgbClr val="F7F9FC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6309360"/>
            <a:ext cx="108813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2D5AAA"/>
                </a:solidFill>
                <a:latin typeface="Microsoft YaHei"/>
              </a:rPr>
              <a:t>Take-home: mismatch 更像修饰的内在读出；RT stop 更像受条件调节的障碍。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6611112"/>
            <a:ext cx="110642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30" b="0">
                <a:solidFill>
                  <a:srgbClr val="5F6C7D"/>
                </a:solidFill>
                <a:latin typeface="Microsoft YaHei"/>
              </a:rPr>
              <a:t>Source: Nakano et al., Nat Commun 2025, Fig.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56032"/>
            <a:ext cx="106527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Microsoft YaHei"/>
              </a:rPr>
              <a:t>多数修饰以 0 位错配为主，少数修饰必须看 +1 RT stop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" y="896112"/>
            <a:ext cx="11155680" cy="16459"/>
          </a:xfrm>
          <a:prstGeom prst="rect">
            <a:avLst/>
          </a:prstGeom>
          <a:solidFill>
            <a:srgbClr val="D5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77541" y="1133856"/>
            <a:ext cx="5015180" cy="4892040"/>
          </a:xfrm>
          <a:prstGeom prst="rect">
            <a:avLst/>
          </a:prstGeom>
          <a:noFill/>
          <a:ln w="1016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akano_fig5_sign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541" y="1133856"/>
            <a:ext cx="5015180" cy="48920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133856"/>
            <a:ext cx="1965960" cy="310896"/>
          </a:xfrm>
          <a:prstGeom prst="roundRect">
            <a:avLst/>
          </a:prstGeom>
          <a:solidFill>
            <a:srgbClr val="B5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1184148"/>
            <a:ext cx="18745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怎么读这张图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8512" y="1572768"/>
            <a:ext cx="2788920" cy="4206240"/>
          </a:xfrm>
          <a:prstGeom prst="rect">
            <a:avLst/>
          </a:prstGeom>
          <a:noFill/>
        </p:spPr>
        <p:txBody>
          <a:bodyPr wrap="square" lIns="54864" rIns="54864" tIns="18288">
            <a:spAutoFit/>
          </a:bodyPr>
          <a:lstStyle/>
          <a:p>
            <a:pPr>
              <a:spcAft>
                <a:spcPts val="360"/>
              </a:spcAft>
              <a:defRPr sz="1220">
                <a:solidFill>
                  <a:srgbClr val="1F2937"/>
                </a:solidFill>
                <a:latin typeface="Microsoft YaHei"/>
              </a:defRPr>
            </a:pPr>
            <a:r>
              <a:t>I34 几乎是纯 0 位 mismatch，几乎无 RT stop</a:t>
            </a:r>
          </a:p>
          <a:p>
            <a:pPr>
              <a:spcAft>
                <a:spcPts val="360"/>
              </a:spcAft>
              <a:defRPr sz="1220">
                <a:solidFill>
                  <a:srgbClr val="1F2937"/>
                </a:solidFill>
                <a:latin typeface="Microsoft YaHei"/>
              </a:defRPr>
            </a:pPr>
            <a:r>
              <a:t>acp3U20a 与 ms2i6A37/ms2t6A37 是主要停顿型例外</a:t>
            </a:r>
          </a:p>
          <a:p>
            <a:pPr>
              <a:spcAft>
                <a:spcPts val="360"/>
              </a:spcAft>
              <a:defRPr sz="1220">
                <a:solidFill>
                  <a:srgbClr val="1F2937"/>
                </a:solidFill>
                <a:latin typeface="Microsoft YaHei"/>
              </a:defRPr>
            </a:pPr>
            <a:r>
              <a:t>m1A/m1G 等同一化学修饰在不同位置可有不同 signature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236208"/>
            <a:ext cx="11173968" cy="347472"/>
          </a:xfrm>
          <a:prstGeom prst="rect">
            <a:avLst/>
          </a:prstGeom>
          <a:solidFill>
            <a:srgbClr val="F7F9FC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6309360"/>
            <a:ext cx="108813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B54949"/>
                </a:solidFill>
                <a:latin typeface="Microsoft YaHei"/>
              </a:rPr>
              <a:t>Take-home: 不能只按修饰名解释测序信号，必须把“修饰 + 位点 + 局部结构”作为最小判读单位。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611112"/>
            <a:ext cx="110642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30" b="0">
                <a:solidFill>
                  <a:srgbClr val="5F6C7D"/>
                </a:solidFill>
                <a:latin typeface="Microsoft YaHei"/>
              </a:rPr>
              <a:t>Source: Nakano et al., Nat Commun 2025, Fig. 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56032"/>
            <a:ext cx="106527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Microsoft YaHei"/>
              </a:rPr>
              <a:t>Induro 还把指纹库推到组织/细胞型层面的协调变化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" y="896112"/>
            <a:ext cx="11155680" cy="16459"/>
          </a:xfrm>
          <a:prstGeom prst="rect">
            <a:avLst/>
          </a:prstGeom>
          <a:solidFill>
            <a:srgbClr val="D5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77541" y="1133856"/>
            <a:ext cx="5015180" cy="4892040"/>
          </a:xfrm>
          <a:prstGeom prst="rect">
            <a:avLst/>
          </a:prstGeom>
          <a:noFill/>
          <a:ln w="1016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akano_fig6_tiss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541" y="1133856"/>
            <a:ext cx="5015180" cy="48920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133856"/>
            <a:ext cx="1965960" cy="310896"/>
          </a:xfrm>
          <a:prstGeom prst="roundRect">
            <a:avLst/>
          </a:prstGeom>
          <a:solidFill>
            <a:srgbClr val="2A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1184148"/>
            <a:ext cx="18745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怎么读这张图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8512" y="1572768"/>
            <a:ext cx="2788920" cy="4206240"/>
          </a:xfrm>
          <a:prstGeom prst="rect">
            <a:avLst/>
          </a:prstGeom>
          <a:noFill/>
        </p:spPr>
        <p:txBody>
          <a:bodyPr wrap="square" lIns="54864" rIns="54864" tIns="18288">
            <a:spAutoFit/>
          </a:bodyPr>
          <a:lstStyle/>
          <a:p>
            <a:pPr>
              <a:spcAft>
                <a:spcPts val="360"/>
              </a:spcAft>
              <a:defRPr sz="1220">
                <a:solidFill>
                  <a:srgbClr val="1F2937"/>
                </a:solidFill>
                <a:latin typeface="Microsoft YaHei"/>
              </a:defRPr>
            </a:pPr>
            <a:r>
              <a:t>三种小鼠组织中修饰信号不是随机漂移</a:t>
            </a:r>
          </a:p>
          <a:p>
            <a:pPr>
              <a:spcAft>
                <a:spcPts val="360"/>
              </a:spcAft>
              <a:defRPr sz="1220">
                <a:solidFill>
                  <a:srgbClr val="1F2937"/>
                </a:solidFill>
                <a:latin typeface="Microsoft YaHei"/>
              </a:defRPr>
            </a:pPr>
            <a:r>
              <a:t>ASL 解码相关位点更稳定，tRNA body 位点更可变</a:t>
            </a:r>
          </a:p>
          <a:p>
            <a:pPr>
              <a:spcAft>
                <a:spcPts val="360"/>
              </a:spcAft>
              <a:defRPr sz="1220">
                <a:solidFill>
                  <a:srgbClr val="1F2937"/>
                </a:solidFill>
                <a:latin typeface="Microsoft YaHei"/>
              </a:defRPr>
            </a:pPr>
            <a:r>
              <a:t>body 修饰差异可能反映组织对 tRNA 结构适配的需求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236208"/>
            <a:ext cx="11173968" cy="347472"/>
          </a:xfrm>
          <a:prstGeom prst="rect">
            <a:avLst/>
          </a:prstGeom>
          <a:solidFill>
            <a:srgbClr val="F7F9FC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6309360"/>
            <a:ext cx="108813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2A7E5C"/>
                </a:solidFill>
                <a:latin typeface="Microsoft YaHei"/>
              </a:rPr>
              <a:t>Take-home: 工具层面的 signature 最终服务于生物学问题：哪些修饰随细胞状态协调变化？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611112"/>
            <a:ext cx="110642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30" b="0">
                <a:solidFill>
                  <a:srgbClr val="5F6C7D"/>
                </a:solidFill>
                <a:latin typeface="Microsoft YaHei"/>
              </a:rPr>
              <a:t>Source: Nakano et al., Nat Commun 2025, Fig. 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56032"/>
            <a:ext cx="106527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Microsoft YaHei"/>
              </a:rPr>
              <a:t>作者提出：ASL 修饰稳定，body 修饰更像结构调节层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" y="896112"/>
            <a:ext cx="11155680" cy="16459"/>
          </a:xfrm>
          <a:prstGeom prst="rect">
            <a:avLst/>
          </a:prstGeom>
          <a:solidFill>
            <a:srgbClr val="D5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77541" y="1133856"/>
            <a:ext cx="5015180" cy="4892040"/>
          </a:xfrm>
          <a:prstGeom prst="rect">
            <a:avLst/>
          </a:prstGeom>
          <a:noFill/>
          <a:ln w="1016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akano_fig7_coordin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541" y="1133856"/>
            <a:ext cx="5015180" cy="48920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133856"/>
            <a:ext cx="1965960" cy="310896"/>
          </a:xfrm>
          <a:prstGeom prst="roundRect">
            <a:avLst/>
          </a:prstGeom>
          <a:solidFill>
            <a:srgbClr val="147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1184148"/>
            <a:ext cx="18745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怎么读这张图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8512" y="1572768"/>
            <a:ext cx="2788920" cy="4206240"/>
          </a:xfrm>
          <a:prstGeom prst="rect">
            <a:avLst/>
          </a:prstGeom>
          <a:noFill/>
        </p:spPr>
        <p:txBody>
          <a:bodyPr wrap="square" lIns="54864" rIns="54864" tIns="18288">
            <a:spAutoFit/>
          </a:bodyPr>
          <a:lstStyle/>
          <a:p>
            <a:pPr>
              <a:spcAft>
                <a:spcPts val="360"/>
              </a:spcAft>
              <a:defRPr sz="1220">
                <a:solidFill>
                  <a:srgbClr val="1F2937"/>
                </a:solidFill>
                <a:latin typeface="Microsoft YaHei"/>
              </a:defRPr>
            </a:pPr>
            <a:r>
              <a:t>ASL 位点承担遗传密码读取，跨细胞/组织更保守</a:t>
            </a:r>
          </a:p>
          <a:p>
            <a:pPr>
              <a:spcAft>
                <a:spcPts val="360"/>
              </a:spcAft>
              <a:defRPr sz="1220">
                <a:solidFill>
                  <a:srgbClr val="1F2937"/>
                </a:solidFill>
                <a:latin typeface="Microsoft YaHei"/>
              </a:defRPr>
            </a:pPr>
            <a:r>
              <a:t>body 位点影响 L 形结构、Mg2+ 配位和局部折叠，可随组织需求变化</a:t>
            </a:r>
          </a:p>
          <a:p>
            <a:pPr>
              <a:spcAft>
                <a:spcPts val="360"/>
              </a:spcAft>
              <a:defRPr sz="1220">
                <a:solidFill>
                  <a:srgbClr val="1F2937"/>
                </a:solidFill>
                <a:latin typeface="Microsoft YaHei"/>
              </a:defRPr>
            </a:pPr>
            <a:r>
              <a:t>这一模型为后续筛选功能位点提供优先级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236208"/>
            <a:ext cx="11173968" cy="347472"/>
          </a:xfrm>
          <a:prstGeom prst="rect">
            <a:avLst/>
          </a:prstGeom>
          <a:solidFill>
            <a:srgbClr val="F7F9FC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6309360"/>
            <a:ext cx="108813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147D8C"/>
                </a:solidFill>
                <a:latin typeface="Microsoft YaHei"/>
              </a:rPr>
              <a:t>Take-home: Induro 的生物学结论是“修饰变化有组织逻辑”，不是一张无序差异列表。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611112"/>
            <a:ext cx="110642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30" b="0">
                <a:solidFill>
                  <a:srgbClr val="5F6C7D"/>
                </a:solidFill>
                <a:latin typeface="Microsoft YaHei"/>
              </a:rPr>
              <a:t>Source: Nakano et al., Nat Commun 2025, Fig. 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56032"/>
            <a:ext cx="106527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Microsoft YaHei"/>
              </a:rPr>
              <a:t>Chen 2016 Science 把 sperm tsRNA 修饰带入功能因果链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" y="896112"/>
            <a:ext cx="11155680" cy="16459"/>
          </a:xfrm>
          <a:prstGeom prst="rect">
            <a:avLst/>
          </a:prstGeom>
          <a:solidFill>
            <a:srgbClr val="D5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60591" y="1133856"/>
            <a:ext cx="2449081" cy="4892040"/>
          </a:xfrm>
          <a:prstGeom prst="rect">
            <a:avLst/>
          </a:prstGeom>
          <a:noFill/>
          <a:ln w="1016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en_science_fig2_fi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0591" y="1133856"/>
            <a:ext cx="2449081" cy="48920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133856"/>
            <a:ext cx="1965960" cy="310896"/>
          </a:xfrm>
          <a:prstGeom prst="roundRect">
            <a:avLst/>
          </a:prstGeom>
          <a:solidFill>
            <a:srgbClr val="2A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1184148"/>
            <a:ext cx="18745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怎么读这张图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8512" y="1572768"/>
            <a:ext cx="2788920" cy="4206240"/>
          </a:xfrm>
          <a:prstGeom prst="rect">
            <a:avLst/>
          </a:prstGeom>
          <a:noFill/>
        </p:spPr>
        <p:txBody>
          <a:bodyPr wrap="square" lIns="54864" rIns="54864" tIns="18288">
            <a:spAutoFit/>
          </a:bodyPr>
          <a:lstStyle/>
          <a:p>
            <a:pPr>
              <a:spcAft>
                <a:spcPts val="360"/>
              </a:spcAft>
              <a:defRPr sz="1220">
                <a:solidFill>
                  <a:srgbClr val="1F2937"/>
                </a:solidFill>
                <a:latin typeface="Microsoft YaHei"/>
              </a:defRPr>
            </a:pPr>
            <a:r>
              <a:t>HFD 父代精子 RNA 可诱导 F1 葡萄糖耐受异常</a:t>
            </a:r>
          </a:p>
          <a:p>
            <a:pPr>
              <a:spcAft>
                <a:spcPts val="360"/>
              </a:spcAft>
              <a:defRPr sz="1220">
                <a:solidFill>
                  <a:srgbClr val="1F2937"/>
                </a:solidFill>
                <a:latin typeface="Microsoft YaHei"/>
              </a:defRPr>
            </a:pPr>
            <a:r>
              <a:t>30-40 nt RNA fraction 主要为 tsRNA，是关键功能亚群</a:t>
            </a:r>
          </a:p>
          <a:p>
            <a:pPr>
              <a:spcAft>
                <a:spcPts val="360"/>
              </a:spcAft>
              <a:defRPr sz="1220">
                <a:solidFill>
                  <a:srgbClr val="1F2937"/>
                </a:solidFill>
                <a:latin typeface="Microsoft YaHei"/>
              </a:defRPr>
            </a:pPr>
            <a:r>
              <a:t>内源 tsRNA 与未修饰合成 tsRNA 的功能差异提示修饰很关键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236208"/>
            <a:ext cx="11173968" cy="347472"/>
          </a:xfrm>
          <a:prstGeom prst="rect">
            <a:avLst/>
          </a:prstGeom>
          <a:solidFill>
            <a:srgbClr val="F7F9FC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6309360"/>
            <a:ext cx="108813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2A7E5C"/>
                </a:solidFill>
                <a:latin typeface="Microsoft YaHei"/>
              </a:rPr>
              <a:t>Take-home: sperm tsRNA 让“tRNA 修饰图谱”从技术问题变成生殖表观遗传问题。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611112"/>
            <a:ext cx="110642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30" b="0">
                <a:solidFill>
                  <a:srgbClr val="5F6C7D"/>
                </a:solidFill>
                <a:latin typeface="Microsoft YaHei"/>
              </a:rPr>
              <a:t>Source: Chen et al., Science 2016, Fig. 2-3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56032"/>
            <a:ext cx="106527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Microsoft YaHei"/>
              </a:rPr>
              <a:t>HFD sperm tsRNA 中 m5C/m2G 升高，但这不是 Induro/mim 可直接解决的问题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" y="896112"/>
            <a:ext cx="11155680" cy="16459"/>
          </a:xfrm>
          <a:prstGeom prst="rect">
            <a:avLst/>
          </a:prstGeom>
          <a:solidFill>
            <a:srgbClr val="D5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1458" y="1133856"/>
            <a:ext cx="7607346" cy="4892040"/>
          </a:xfrm>
          <a:prstGeom prst="rect">
            <a:avLst/>
          </a:prstGeom>
          <a:noFill/>
          <a:ln w="1016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en_science_fig4_mod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458" y="1133856"/>
            <a:ext cx="7607346" cy="48920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133856"/>
            <a:ext cx="1965960" cy="310896"/>
          </a:xfrm>
          <a:prstGeom prst="roundRect">
            <a:avLst/>
          </a:prstGeom>
          <a:solidFill>
            <a:srgbClr val="A77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1184148"/>
            <a:ext cx="18745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怎么读这张图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8512" y="1572768"/>
            <a:ext cx="2788920" cy="4206240"/>
          </a:xfrm>
          <a:prstGeom prst="rect">
            <a:avLst/>
          </a:prstGeom>
          <a:noFill/>
        </p:spPr>
        <p:txBody>
          <a:bodyPr wrap="square" lIns="54864" rIns="54864" tIns="18288">
            <a:spAutoFit/>
          </a:bodyPr>
          <a:lstStyle/>
          <a:p>
            <a:pPr>
              <a:spcAft>
                <a:spcPts val="360"/>
              </a:spcAft>
              <a:defRPr sz="1220">
                <a:solidFill>
                  <a:srgbClr val="1F2937"/>
                </a:solidFill>
                <a:latin typeface="Microsoft YaHei"/>
              </a:defRPr>
            </a:pPr>
            <a:r>
              <a:t>LC-MS/MS 在 30-40 nt sperm RNA 中检测到 10 类修饰</a:t>
            </a:r>
          </a:p>
          <a:p>
            <a:pPr>
              <a:spcAft>
                <a:spcPts val="360"/>
              </a:spcAft>
              <a:defRPr sz="1220">
                <a:solidFill>
                  <a:srgbClr val="1F2937"/>
                </a:solidFill>
                <a:latin typeface="Microsoft YaHei"/>
              </a:defRPr>
            </a:pPr>
            <a:r>
              <a:t>HFD 组 m5C 与 m2G 显著升高，miRNA fraction 中未见同样变化</a:t>
            </a:r>
          </a:p>
          <a:p>
            <a:pPr>
              <a:spcAft>
                <a:spcPts val="360"/>
              </a:spcAft>
              <a:defRPr sz="1220">
                <a:solidFill>
                  <a:srgbClr val="1F2937"/>
                </a:solidFill>
                <a:latin typeface="Microsoft YaHei"/>
              </a:defRPr>
            </a:pPr>
            <a:r>
              <a:t>LC-MS/MS 给总量，不给具体 tsRNA 序列和位点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236208"/>
            <a:ext cx="11173968" cy="347472"/>
          </a:xfrm>
          <a:prstGeom prst="rect">
            <a:avLst/>
          </a:prstGeom>
          <a:solidFill>
            <a:srgbClr val="F7F9FC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6309360"/>
            <a:ext cx="108813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A77425"/>
                </a:solidFill>
                <a:latin typeface="Microsoft YaHei"/>
              </a:rPr>
              <a:t>Take-home: m5C/m2G 是生殖功能重点，但需要质谱、化学定位和功能实验补证。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611112"/>
            <a:ext cx="110642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30" b="0">
                <a:solidFill>
                  <a:srgbClr val="5F6C7D"/>
                </a:solidFill>
                <a:latin typeface="Microsoft YaHei"/>
              </a:rPr>
              <a:t>Source: Chen et al., Science 2016, Fig.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56032"/>
            <a:ext cx="106527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Microsoft YaHei"/>
              </a:rPr>
              <a:t>NRG 综述给出 sperm RNA 与 RNA modification 的机制框架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" y="896112"/>
            <a:ext cx="11155680" cy="16459"/>
          </a:xfrm>
          <a:prstGeom prst="rect">
            <a:avLst/>
          </a:prstGeom>
          <a:solidFill>
            <a:srgbClr val="D5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061157" y="1133856"/>
            <a:ext cx="2847948" cy="4892040"/>
          </a:xfrm>
          <a:prstGeom prst="rect">
            <a:avLst/>
          </a:prstGeom>
          <a:noFill/>
          <a:ln w="10160"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rg_fig4_sperm_rna_mechan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1157" y="1133856"/>
            <a:ext cx="2847948" cy="48920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133856"/>
            <a:ext cx="1965960" cy="310896"/>
          </a:xfrm>
          <a:prstGeom prst="roundRect">
            <a:avLst/>
          </a:prstGeom>
          <a:solidFill>
            <a:srgbClr val="7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1184148"/>
            <a:ext cx="18745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怎么读这张图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8512" y="1572768"/>
            <a:ext cx="2788920" cy="4206240"/>
          </a:xfrm>
          <a:prstGeom prst="rect">
            <a:avLst/>
          </a:prstGeom>
          <a:noFill/>
        </p:spPr>
        <p:txBody>
          <a:bodyPr wrap="square" lIns="54864" rIns="54864" tIns="18288">
            <a:spAutoFit/>
          </a:bodyPr>
          <a:lstStyle/>
          <a:p>
            <a:pPr>
              <a:spcAft>
                <a:spcPts val="360"/>
              </a:spcAft>
              <a:defRPr sz="1220">
                <a:solidFill>
                  <a:srgbClr val="1F2937"/>
                </a:solidFill>
                <a:latin typeface="Microsoft YaHei"/>
              </a:defRPr>
            </a:pPr>
            <a:r>
              <a:t>精子 RNA 可来自睾丸发生过程，也可在附睾成熟中被重塑</a:t>
            </a:r>
          </a:p>
          <a:p>
            <a:pPr>
              <a:spcAft>
                <a:spcPts val="360"/>
              </a:spcAft>
              <a:defRPr sz="1220">
                <a:solidFill>
                  <a:srgbClr val="1F2937"/>
                </a:solidFill>
                <a:latin typeface="Microsoft YaHei"/>
              </a:defRPr>
            </a:pPr>
            <a:r>
              <a:t>tsRNA、miRNA 等可能在早期胚胎触发转录级联</a:t>
            </a:r>
          </a:p>
          <a:p>
            <a:pPr>
              <a:spcAft>
                <a:spcPts val="360"/>
              </a:spcAft>
              <a:defRPr sz="1220">
                <a:solidFill>
                  <a:srgbClr val="1F2937"/>
                </a:solidFill>
                <a:latin typeface="Microsoft YaHei"/>
              </a:defRPr>
            </a:pPr>
            <a:r>
              <a:t>RNA 修饰既影响功能，也会造成常规测序漏检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236208"/>
            <a:ext cx="11173968" cy="347472"/>
          </a:xfrm>
          <a:prstGeom prst="rect">
            <a:avLst/>
          </a:prstGeom>
          <a:solidFill>
            <a:srgbClr val="F7F9FC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6309360"/>
            <a:ext cx="108813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7056A0"/>
                </a:solidFill>
                <a:latin typeface="Microsoft YaHei"/>
              </a:rPr>
              <a:t>Take-home: 未来研究必须同时处理 abundance、modification 和测序偏差三件事。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611112"/>
            <a:ext cx="110642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30" b="0">
                <a:solidFill>
                  <a:srgbClr val="5F6C7D"/>
                </a:solidFill>
                <a:latin typeface="Microsoft YaHei"/>
              </a:rPr>
              <a:t>Source: Chen, Yan &amp; Duan, Nat Rev Genet 2016, Fig. 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Rectangle 10"/>
          <p:cNvSpPr/>
          <p:nvPr/>
        </p:nvSpPr>
        <p:spPr>
          <a:xfrm>
            <a:off x="8019288" y="1234440"/>
            <a:ext cx="3886200" cy="365760"/>
          </a:xfrm>
          <a:prstGeom prst="rect">
            <a:avLst/>
          </a:prstGeom>
          <a:solidFill>
            <a:srgbClr val="147D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950208" y="1234440"/>
            <a:ext cx="4069080" cy="365760"/>
          </a:xfrm>
          <a:prstGeom prst="rect">
            <a:avLst/>
          </a:prstGeom>
          <a:solidFill>
            <a:srgbClr val="147D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24328" y="1234440"/>
            <a:ext cx="1325880" cy="365760"/>
          </a:xfrm>
          <a:prstGeom prst="rect">
            <a:avLst/>
          </a:prstGeom>
          <a:solidFill>
            <a:srgbClr val="147D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234440"/>
            <a:ext cx="1965960" cy="365760"/>
          </a:xfrm>
          <a:prstGeom prst="rect">
            <a:avLst/>
          </a:prstGeom>
          <a:solidFill>
            <a:srgbClr val="147D8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75488" y="256032"/>
            <a:ext cx="106527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Microsoft YaHei"/>
              </a:rPr>
              <a:t>三篇文献之间的关系：方法、功能、框架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" y="896112"/>
            <a:ext cx="11155680" cy="16459"/>
          </a:xfrm>
          <a:prstGeom prst="rect">
            <a:avLst/>
          </a:prstGeom>
          <a:solidFill>
            <a:srgbClr val="D5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9659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文献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24328" y="1234440"/>
            <a:ext cx="13258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类型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208" y="1234440"/>
            <a:ext cx="40690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核心贡献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19288" y="1234440"/>
            <a:ext cx="38862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对本报告的作用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1645920"/>
            <a:ext cx="1965960" cy="1024128"/>
          </a:xfrm>
          <a:prstGeom prst="rect">
            <a:avLst/>
          </a:prstGeom>
          <a:solidFill>
            <a:srgbClr val="F7F9FC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792224"/>
            <a:ext cx="1819656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40" b="1">
                <a:solidFill>
                  <a:srgbClr val="1F2937"/>
                </a:solidFill>
                <a:latin typeface="Microsoft YaHei"/>
              </a:rPr>
              <a:t>Nakano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24328" y="1645920"/>
            <a:ext cx="1325880" cy="1024128"/>
          </a:xfrm>
          <a:prstGeom prst="rect">
            <a:avLst/>
          </a:prstGeom>
          <a:solidFill>
            <a:srgbClr val="F7F9FC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80" y="1792224"/>
            <a:ext cx="1179576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40" b="0">
                <a:solidFill>
                  <a:srgbClr val="1F2937"/>
                </a:solidFill>
                <a:latin typeface="Microsoft YaHei"/>
              </a:rPr>
              <a:t>方法学/资源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50208" y="1645920"/>
            <a:ext cx="4069080" cy="1024128"/>
          </a:xfrm>
          <a:prstGeom prst="rect">
            <a:avLst/>
          </a:prstGeom>
          <a:solidFill>
            <a:srgbClr val="F7F9FC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3360" y="1792224"/>
            <a:ext cx="3922776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40" b="0">
                <a:solidFill>
                  <a:srgbClr val="1F2937"/>
                </a:solidFill>
                <a:latin typeface="Microsoft YaHei"/>
              </a:rPr>
              <a:t>定义 Induro 对 tRNA 修饰的 RT signature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9288" y="1645920"/>
            <a:ext cx="3886200" cy="1024128"/>
          </a:xfrm>
          <a:prstGeom prst="rect">
            <a:avLst/>
          </a:prstGeom>
          <a:solidFill>
            <a:srgbClr val="F7F9FC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1792224"/>
            <a:ext cx="3739896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40" b="0">
                <a:solidFill>
                  <a:srgbClr val="1F2937"/>
                </a:solidFill>
                <a:latin typeface="Microsoft YaHei"/>
              </a:rPr>
              <a:t>回答 Induro 能读哪些修饰、如何读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2788920"/>
            <a:ext cx="1965960" cy="1024128"/>
          </a:xfrm>
          <a:prstGeom prst="rect">
            <a:avLst/>
          </a:prstGeom>
          <a:solidFill>
            <a:srgbClr val="FFFFFF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935224"/>
            <a:ext cx="1819656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40" b="1">
                <a:solidFill>
                  <a:srgbClr val="1F2937"/>
                </a:solidFill>
                <a:latin typeface="Microsoft YaHei"/>
              </a:rPr>
              <a:t>Chen 2016 Science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24328" y="2788920"/>
            <a:ext cx="1325880" cy="1024128"/>
          </a:xfrm>
          <a:prstGeom prst="rect">
            <a:avLst/>
          </a:prstGeom>
          <a:solidFill>
            <a:srgbClr val="FFFFFF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97480" y="2935224"/>
            <a:ext cx="1179576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40" b="0">
                <a:solidFill>
                  <a:srgbClr val="1F2937"/>
                </a:solidFill>
                <a:latin typeface="Microsoft YaHei"/>
              </a:rPr>
              <a:t>功能实验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50208" y="2788920"/>
            <a:ext cx="4069080" cy="1024128"/>
          </a:xfrm>
          <a:prstGeom prst="rect">
            <a:avLst/>
          </a:prstGeom>
          <a:solidFill>
            <a:srgbClr val="FFFFFF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23360" y="2935224"/>
            <a:ext cx="3922776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40" b="0">
                <a:solidFill>
                  <a:srgbClr val="1F2937"/>
                </a:solidFill>
                <a:latin typeface="Microsoft YaHei"/>
              </a:rPr>
              <a:t>HFD sperm tsRNA 可诱导代谢异常，m5C/m2G 升高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19288" y="2788920"/>
            <a:ext cx="3886200" cy="1024128"/>
          </a:xfrm>
          <a:prstGeom prst="rect">
            <a:avLst/>
          </a:prstGeom>
          <a:solidFill>
            <a:srgbClr val="FFFFFF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92440" y="2935224"/>
            <a:ext cx="3739896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40" b="0">
                <a:solidFill>
                  <a:srgbClr val="1F2937"/>
                </a:solidFill>
                <a:latin typeface="Microsoft YaHei"/>
              </a:rPr>
              <a:t>提示 tRNA/tsRNA 修饰有生殖功能意义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931920"/>
            <a:ext cx="1965960" cy="1024128"/>
          </a:xfrm>
          <a:prstGeom prst="rect">
            <a:avLst/>
          </a:prstGeom>
          <a:solidFill>
            <a:srgbClr val="F7F9FC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078224"/>
            <a:ext cx="1819656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40" b="1">
                <a:solidFill>
                  <a:srgbClr val="1F2937"/>
                </a:solidFill>
                <a:latin typeface="Microsoft YaHei"/>
              </a:rPr>
              <a:t>Chen/Yan/Duan 2016 NRG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24328" y="3931920"/>
            <a:ext cx="1325880" cy="1024128"/>
          </a:xfrm>
          <a:prstGeom prst="rect">
            <a:avLst/>
          </a:prstGeom>
          <a:solidFill>
            <a:srgbClr val="F7F9FC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97480" y="4078224"/>
            <a:ext cx="1179576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40" b="0">
                <a:solidFill>
                  <a:srgbClr val="1F2937"/>
                </a:solidFill>
                <a:latin typeface="Microsoft YaHei"/>
              </a:rPr>
              <a:t>综述框架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50208" y="3931920"/>
            <a:ext cx="4069080" cy="1024128"/>
          </a:xfrm>
          <a:prstGeom prst="rect">
            <a:avLst/>
          </a:prstGeom>
          <a:solidFill>
            <a:srgbClr val="F7F9FC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23360" y="4078224"/>
            <a:ext cx="3922776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40" b="0">
                <a:solidFill>
                  <a:srgbClr val="1F2937"/>
                </a:solidFill>
                <a:latin typeface="Microsoft YaHei"/>
              </a:rPr>
              <a:t>整理 sperm RNA / RNA modification 的机制假说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19288" y="3931920"/>
            <a:ext cx="3886200" cy="1024128"/>
          </a:xfrm>
          <a:prstGeom prst="rect">
            <a:avLst/>
          </a:prstGeom>
          <a:solidFill>
            <a:srgbClr val="F7F9FC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92440" y="4078224"/>
            <a:ext cx="3739896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40" b="0">
                <a:solidFill>
                  <a:srgbClr val="1F2937"/>
                </a:solidFill>
                <a:latin typeface="Microsoft YaHei"/>
              </a:rPr>
              <a:t>提示测序偏差和位点级证据缺口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6236208"/>
            <a:ext cx="11173968" cy="347472"/>
          </a:xfrm>
          <a:prstGeom prst="rect">
            <a:avLst/>
          </a:prstGeom>
          <a:solidFill>
            <a:srgbClr val="F7F9FC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6309360"/>
            <a:ext cx="108813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147D8C"/>
                </a:solidFill>
                <a:latin typeface="Microsoft YaHei"/>
              </a:rPr>
              <a:t>Take-home: Nakano 解决“怎么读”，Chen Science 提供“为什么值得读”，NRG 提供“怎样设计下一步”。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352" y="6611112"/>
            <a:ext cx="110642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30" b="0">
                <a:solidFill>
                  <a:srgbClr val="5F6C7D"/>
                </a:solidFill>
                <a:latin typeface="Microsoft YaHei"/>
              </a:rPr>
              <a:t>Source: 本地阅读版 PDF p10；三篇原文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56032"/>
            <a:ext cx="106527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Microsoft YaHei"/>
              </a:rPr>
              <a:t>下一步研究设计：把全长 tRNA 指纹与 sperm tsRNA 功能接起来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" y="896112"/>
            <a:ext cx="11155680" cy="16459"/>
          </a:xfrm>
          <a:prstGeom prst="rect">
            <a:avLst/>
          </a:prstGeom>
          <a:solidFill>
            <a:srgbClr val="D5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207008"/>
            <a:ext cx="3364992" cy="4407408"/>
          </a:xfrm>
          <a:prstGeom prst="roundRect">
            <a:avLst/>
          </a:prstGeom>
          <a:solidFill>
            <a:srgbClr val="F7F9FC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59536" y="1444752"/>
            <a:ext cx="2395728" cy="310896"/>
          </a:xfrm>
          <a:prstGeom prst="roundRect">
            <a:avLst/>
          </a:prstGeom>
          <a:solidFill>
            <a:srgbClr val="147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495044"/>
            <a:ext cx="2304288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A. 全长 tRNA 指纹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993392"/>
            <a:ext cx="2852928" cy="2926080"/>
          </a:xfrm>
          <a:prstGeom prst="rect">
            <a:avLst/>
          </a:prstGeom>
          <a:noFill/>
        </p:spPr>
        <p:txBody>
          <a:bodyPr wrap="square" lIns="54864" rIns="54864" tIns="18288">
            <a:spAutoFit/>
          </a:bodyPr>
          <a:lstStyle/>
          <a:p>
            <a:pPr>
              <a:spcAft>
                <a:spcPts val="360"/>
              </a:spcAft>
              <a:defRPr sz="1120">
                <a:solidFill>
                  <a:srgbClr val="1F2937"/>
                </a:solidFill>
                <a:latin typeface="Microsoft YaHei"/>
              </a:defRPr>
            </a:pPr>
            <a:r>
              <a:t>Induro-tRNAseq + mim/TGIRT 双 RT 互证</a:t>
            </a:r>
          </a:p>
          <a:p>
            <a:pPr>
              <a:spcAft>
                <a:spcPts val="360"/>
              </a:spcAft>
              <a:defRPr sz="1120">
                <a:solidFill>
                  <a:srgbClr val="1F2937"/>
                </a:solidFill>
                <a:latin typeface="Microsoft YaHei"/>
              </a:defRPr>
            </a:pPr>
            <a:r>
              <a:t>重点：I34、m1A58、m1G37、m3C32、acp3U20、A37 复杂修饰</a:t>
            </a:r>
          </a:p>
          <a:p>
            <a:pPr>
              <a:spcAft>
                <a:spcPts val="360"/>
              </a:spcAft>
              <a:defRPr sz="1120">
                <a:solidFill>
                  <a:srgbClr val="1F2937"/>
                </a:solidFill>
                <a:latin typeface="Microsoft YaHei"/>
              </a:defRPr>
            </a:pPr>
            <a:r>
              <a:t>RT stop 与 mismatch 同时建模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207008"/>
            <a:ext cx="3364992" cy="4407408"/>
          </a:xfrm>
          <a:prstGeom prst="roundRect">
            <a:avLst/>
          </a:prstGeom>
          <a:solidFill>
            <a:srgbClr val="F7F9FC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81727" y="1444752"/>
            <a:ext cx="2395728" cy="310896"/>
          </a:xfrm>
          <a:prstGeom prst="roundRect">
            <a:avLst/>
          </a:prstGeom>
          <a:solidFill>
            <a:srgbClr val="A77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7" y="1495044"/>
            <a:ext cx="2304288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B. tsRNA 修饰定位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59" y="1993392"/>
            <a:ext cx="2852928" cy="2926080"/>
          </a:xfrm>
          <a:prstGeom prst="rect">
            <a:avLst/>
          </a:prstGeom>
          <a:noFill/>
        </p:spPr>
        <p:txBody>
          <a:bodyPr wrap="square" lIns="54864" rIns="54864" tIns="18288">
            <a:spAutoFit/>
          </a:bodyPr>
          <a:lstStyle/>
          <a:p>
            <a:pPr>
              <a:spcAft>
                <a:spcPts val="360"/>
              </a:spcAft>
              <a:defRPr sz="1120">
                <a:solidFill>
                  <a:srgbClr val="1F2937"/>
                </a:solidFill>
                <a:latin typeface="Microsoft YaHei"/>
              </a:defRPr>
            </a:pPr>
            <a:r>
              <a:t>small RNA-seq 配套 LC-MS/MS</a:t>
            </a:r>
          </a:p>
          <a:p>
            <a:pPr>
              <a:spcAft>
                <a:spcPts val="360"/>
              </a:spcAft>
              <a:defRPr sz="1120">
                <a:solidFill>
                  <a:srgbClr val="1F2937"/>
                </a:solidFill>
                <a:latin typeface="Microsoft YaHei"/>
              </a:defRPr>
            </a:pPr>
            <a:r>
              <a:t>m5C/m2G 需要 bisulfite、AlkB 或靶向修饰定位</a:t>
            </a:r>
          </a:p>
          <a:p>
            <a:pPr>
              <a:spcAft>
                <a:spcPts val="360"/>
              </a:spcAft>
              <a:defRPr sz="1120">
                <a:solidFill>
                  <a:srgbClr val="1F2937"/>
                </a:solidFill>
                <a:latin typeface="Microsoft YaHei"/>
              </a:defRPr>
            </a:pPr>
            <a:r>
              <a:t>区分修饰总量、具体位点和具体 tsRNA 序列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207008"/>
            <a:ext cx="3364992" cy="4407408"/>
          </a:xfrm>
          <a:prstGeom prst="roundRect">
            <a:avLst/>
          </a:prstGeom>
          <a:solidFill>
            <a:srgbClr val="F7F9FC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503920" y="1444752"/>
            <a:ext cx="2395728" cy="310896"/>
          </a:xfrm>
          <a:prstGeom prst="roundRect">
            <a:avLst/>
          </a:prstGeom>
          <a:solidFill>
            <a:srgbClr val="2A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1495044"/>
            <a:ext cx="2304288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C. 功能因果验证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1352" y="1993392"/>
            <a:ext cx="2852928" cy="2926080"/>
          </a:xfrm>
          <a:prstGeom prst="rect">
            <a:avLst/>
          </a:prstGeom>
          <a:noFill/>
        </p:spPr>
        <p:txBody>
          <a:bodyPr wrap="square" lIns="54864" rIns="54864" tIns="18288">
            <a:spAutoFit/>
          </a:bodyPr>
          <a:lstStyle/>
          <a:p>
            <a:pPr>
              <a:spcAft>
                <a:spcPts val="360"/>
              </a:spcAft>
              <a:defRPr sz="1120">
                <a:solidFill>
                  <a:srgbClr val="1F2937"/>
                </a:solidFill>
                <a:latin typeface="Microsoft YaHei"/>
              </a:defRPr>
            </a:pPr>
            <a:r>
              <a:t>天然 tsRNA vs 未修饰/定点修饰合成 tsRNA</a:t>
            </a:r>
          </a:p>
          <a:p>
            <a:pPr>
              <a:spcAft>
                <a:spcPts val="360"/>
              </a:spcAft>
              <a:defRPr sz="1120">
                <a:solidFill>
                  <a:srgbClr val="1F2937"/>
                </a:solidFill>
                <a:latin typeface="Microsoft YaHei"/>
              </a:defRPr>
            </a:pPr>
            <a:r>
              <a:t>writer/eraser 操作：NSUN2/DNMT2、TRMT、ALKBH 等</a:t>
            </a:r>
          </a:p>
          <a:p>
            <a:pPr>
              <a:spcAft>
                <a:spcPts val="360"/>
              </a:spcAft>
              <a:defRPr sz="1120">
                <a:solidFill>
                  <a:srgbClr val="1F2937"/>
                </a:solidFill>
                <a:latin typeface="Microsoft YaHei"/>
              </a:defRPr>
            </a:pPr>
            <a:r>
              <a:t>合子到 2-cell/8-cell/blastocyst 时间序列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236208"/>
            <a:ext cx="11173968" cy="347472"/>
          </a:xfrm>
          <a:prstGeom prst="rect">
            <a:avLst/>
          </a:prstGeom>
          <a:solidFill>
            <a:srgbClr val="F7F9FC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6309360"/>
            <a:ext cx="108813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B54949"/>
                </a:solidFill>
                <a:latin typeface="Microsoft YaHei"/>
              </a:rPr>
              <a:t>Take-home: 推荐证据链：tRNA 母体修饰变化 -&gt; tsRNA 修饰继承/稳定性 -&gt; 胚胎转录或翻译改变 -&gt; 后代表型。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611112"/>
            <a:ext cx="110642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30" b="0">
                <a:solidFill>
                  <a:srgbClr val="5F6C7D"/>
                </a:solidFill>
                <a:latin typeface="Microsoft YaHei"/>
              </a:rPr>
              <a:t>Synthesized from local reading PDF and cited papers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56032"/>
            <a:ext cx="106527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Microsoft YaHei"/>
              </a:rPr>
              <a:t>结论：指纹库是解释规则，不是万能修饰探测器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" y="896112"/>
            <a:ext cx="11155680" cy="16459"/>
          </a:xfrm>
          <a:prstGeom prst="rect">
            <a:avLst/>
          </a:prstGeom>
          <a:solidFill>
            <a:srgbClr val="D5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1170432"/>
            <a:ext cx="10881360" cy="2788920"/>
          </a:xfrm>
          <a:prstGeom prst="rect">
            <a:avLst/>
          </a:prstGeom>
          <a:noFill/>
        </p:spPr>
        <p:txBody>
          <a:bodyPr wrap="square" lIns="54864" rIns="54864" tIns="18288">
            <a:spAutoFit/>
          </a:bodyPr>
          <a:lstStyle/>
          <a:p>
            <a:pPr>
              <a:spcAft>
                <a:spcPts val="360"/>
              </a:spcAft>
              <a:defRPr sz="1420">
                <a:solidFill>
                  <a:srgbClr val="1F2937"/>
                </a:solidFill>
                <a:latin typeface="Microsoft YaHei"/>
              </a:defRPr>
            </a:pPr>
            <a:r>
              <a:t>mim/TGIRT 的强项是成熟注释规则和 canonical hotspot；Induro 的强项是位点化、条件化的 RT signature 图谱。</a:t>
            </a:r>
          </a:p>
          <a:p>
            <a:pPr>
              <a:spcAft>
                <a:spcPts val="360"/>
              </a:spcAft>
              <a:defRPr sz="1420">
                <a:solidFill>
                  <a:srgbClr val="1F2937"/>
                </a:solidFill>
                <a:latin typeface="Microsoft YaHei"/>
              </a:defRPr>
            </a:pPr>
            <a:r>
              <a:t>多数 Induro-readable 修饰看 0 位 mismatch；acp3U20 与 ms2i6A/ms2t6A37 等必须把 +1 RT stop 纳入判读。</a:t>
            </a:r>
          </a:p>
          <a:p>
            <a:pPr>
              <a:spcAft>
                <a:spcPts val="360"/>
              </a:spcAft>
              <a:defRPr sz="1420">
                <a:solidFill>
                  <a:srgbClr val="1F2937"/>
                </a:solidFill>
                <a:latin typeface="Microsoft YaHei"/>
              </a:defRPr>
            </a:pPr>
            <a:r>
              <a:t>m5C/m2G 在 sperm tsRNA 功能研究中很重要，但需要 LC-MS/MS、化学/酶处理定位和功能实验补证。</a:t>
            </a:r>
          </a:p>
          <a:p>
            <a:pPr>
              <a:spcAft>
                <a:spcPts val="360"/>
              </a:spcAft>
              <a:defRPr sz="1420">
                <a:solidFill>
                  <a:srgbClr val="1F2937"/>
                </a:solidFill>
                <a:latin typeface="Microsoft YaHei"/>
              </a:defRPr>
            </a:pPr>
            <a:r>
              <a:t>最稳妥路线是双 RT 互证 + 质谱总量验证 + 位点级修饰定位 + 胚胎时间序列功能读出。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736592"/>
            <a:ext cx="2331720" cy="310896"/>
          </a:xfrm>
          <a:prstGeom prst="roundRect">
            <a:avLst/>
          </a:prstGeom>
          <a:solidFill>
            <a:srgbClr val="2D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86884"/>
            <a:ext cx="22402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不要把 170 项字典当可检测表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4736592"/>
            <a:ext cx="2331720" cy="310896"/>
          </a:xfrm>
          <a:prstGeom prst="roundRect">
            <a:avLst/>
          </a:prstGeom>
          <a:solidFill>
            <a:srgbClr val="B5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4786884"/>
            <a:ext cx="22402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不要只看 mismatch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0" y="4736592"/>
            <a:ext cx="2331720" cy="310896"/>
          </a:xfrm>
          <a:prstGeom prst="roundRect">
            <a:avLst/>
          </a:prstGeom>
          <a:solidFill>
            <a:srgbClr val="A77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0" y="4786884"/>
            <a:ext cx="22402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不要混淆 m2G 与 m2,2G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4736592"/>
            <a:ext cx="2331720" cy="310896"/>
          </a:xfrm>
          <a:prstGeom prst="roundRect">
            <a:avLst/>
          </a:prstGeom>
          <a:solidFill>
            <a:srgbClr val="2A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4786884"/>
            <a:ext cx="22402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不要用未修饰 tsRNA 否定天然 tsRNA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236208"/>
            <a:ext cx="11173968" cy="347472"/>
          </a:xfrm>
          <a:prstGeom prst="rect">
            <a:avLst/>
          </a:prstGeom>
          <a:solidFill>
            <a:srgbClr val="F7F9FC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6309360"/>
            <a:ext cx="108813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147D8C"/>
                </a:solidFill>
                <a:latin typeface="Microsoft YaHei"/>
              </a:rPr>
              <a:t>Take-home: 下一步最有价值的问题，是把工具层 signature 变成生殖发育中的位点级因果证据。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611112"/>
            <a:ext cx="110642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30" b="0">
                <a:solidFill>
                  <a:srgbClr val="5F6C7D"/>
                </a:solidFill>
                <a:latin typeface="Microsoft YaHei"/>
              </a:rPr>
              <a:t>Prepared from local source package, 2026-06-04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