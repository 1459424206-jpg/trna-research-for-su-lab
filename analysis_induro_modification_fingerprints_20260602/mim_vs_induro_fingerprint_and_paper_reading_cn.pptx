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6da784796154610" /><Relationship Type="http://schemas.openxmlformats.org/officeDocument/2006/relationships/extended-properties" Target="/docProps/app.xml" Id="R84f87c050ecb4e7d" /><Relationship Type="http://schemas.openxmlformats.org/officeDocument/2006/relationships/officeDocument" Target="/ppt/presentation.xml" Id="Rce5281d2f2694b9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a04a6162958424e"/>
  </p:sldMasterIdLst>
  <p:notesMasterIdLst>
    <p:notesMasterId xmlns:r="http://schemas.openxmlformats.org/officeDocument/2006/relationships" r:id="R8f5e7c2c40d74dfc"/>
  </p:notesMasterIdLst>
  <p:sldIdLst>
    <p:sldId xmlns:r="http://schemas.openxmlformats.org/officeDocument/2006/relationships" id="256" r:id="R899f51eeecca40b5"/>
    <p:sldId xmlns:r="http://schemas.openxmlformats.org/officeDocument/2006/relationships" id="257" r:id="R76a445d40aa34f63"/>
    <p:sldId xmlns:r="http://schemas.openxmlformats.org/officeDocument/2006/relationships" id="258" r:id="R1297a690a35b4aa2"/>
    <p:sldId xmlns:r="http://schemas.openxmlformats.org/officeDocument/2006/relationships" id="259" r:id="Rdbb01e5d4e3b4963"/>
    <p:sldId xmlns:r="http://schemas.openxmlformats.org/officeDocument/2006/relationships" id="260" r:id="R05ae1664560b4ef2"/>
    <p:sldId xmlns:r="http://schemas.openxmlformats.org/officeDocument/2006/relationships" id="261" r:id="R2e545e4e3b8446f3"/>
    <p:sldId xmlns:r="http://schemas.openxmlformats.org/officeDocument/2006/relationships" id="262" r:id="Re5d822a5c503413d"/>
    <p:sldId xmlns:r="http://schemas.openxmlformats.org/officeDocument/2006/relationships" id="263" r:id="Rf96c46d3fc6e4600"/>
    <p:sldId xmlns:r="http://schemas.openxmlformats.org/officeDocument/2006/relationships" id="264" r:id="R55c490e458584237"/>
    <p:sldId xmlns:r="http://schemas.openxmlformats.org/officeDocument/2006/relationships" id="265" r:id="R40339506baad4878"/>
    <p:sldId xmlns:r="http://schemas.openxmlformats.org/officeDocument/2006/relationships" id="266" r:id="Rf349a394f0db4989"/>
    <p:sldId xmlns:r="http://schemas.openxmlformats.org/officeDocument/2006/relationships" id="267" r:id="R81794908a2e743f5"/>
    <p:sldId xmlns:r="http://schemas.openxmlformats.org/officeDocument/2006/relationships" id="268" r:id="R88bc1bbdf6c54173"/>
    <p:sldId xmlns:r="http://schemas.openxmlformats.org/officeDocument/2006/relationships" id="269" r:id="Rc1811288a5424d4c"/>
    <p:sldId xmlns:r="http://schemas.openxmlformats.org/officeDocument/2006/relationships" id="270" r:id="Rbb2c399ec30b40ca"/>
    <p:sldId xmlns:r="http://schemas.openxmlformats.org/officeDocument/2006/relationships" id="271" r:id="Rb00471ef220143d8"/>
    <p:sldId xmlns:r="http://schemas.openxmlformats.org/officeDocument/2006/relationships" id="272" r:id="R6949ad40687545dc"/>
    <p:sldId xmlns:r="http://schemas.openxmlformats.org/officeDocument/2006/relationships" id="273" r:id="Rcd638d03312a4df8"/>
    <p:sldId xmlns:r="http://schemas.openxmlformats.org/officeDocument/2006/relationships" id="274" r:id="Rc8a4854a20bd4d29"/>
    <p:sldId xmlns:r="http://schemas.openxmlformats.org/officeDocument/2006/relationships" id="275" r:id="R07014180722d4c42"/>
    <p:sldId xmlns:r="http://schemas.openxmlformats.org/officeDocument/2006/relationships" id="276" r:id="R3aff80ebc9084c39"/>
    <p:sldId xmlns:r="http://schemas.openxmlformats.org/officeDocument/2006/relationships" id="277" r:id="Ra293d568a37c49d7"/>
    <p:sldId xmlns:r="http://schemas.openxmlformats.org/officeDocument/2006/relationships" id="278" r:id="R4b1b157a6aa54c27"/>
    <p:sldId xmlns:r="http://schemas.openxmlformats.org/officeDocument/2006/relationships" id="279" r:id="R33f809313f4043d7"/>
    <p:sldId xmlns:r="http://schemas.openxmlformats.org/officeDocument/2006/relationships" id="280" r:id="Ra1b3e795a84742e5"/>
    <p:sldId xmlns:r="http://schemas.openxmlformats.org/officeDocument/2006/relationships" id="281" r:id="R4108d4b6327444c8"/>
    <p:sldId xmlns:r="http://schemas.openxmlformats.org/officeDocument/2006/relationships" id="282" r:id="R52b1a39291b24c3f"/>
    <p:sldId xmlns:r="http://schemas.openxmlformats.org/officeDocument/2006/relationships" id="283" r:id="R28d411525b2c428b"/>
    <p:sldId xmlns:r="http://schemas.openxmlformats.org/officeDocument/2006/relationships" id="284" r:id="R95bbc5a9e4f5460e"/>
    <p:sldId xmlns:r="http://schemas.openxmlformats.org/officeDocument/2006/relationships" id="285" r:id="R4798f3ffcb9f4480"/>
    <p:sldId xmlns:r="http://schemas.openxmlformats.org/officeDocument/2006/relationships" id="286" r:id="R137f8cb6f8374a3d"/>
    <p:sldId xmlns:r="http://schemas.openxmlformats.org/officeDocument/2006/relationships" id="287" r:id="R4faee8b5229043db"/>
    <p:sldId xmlns:r="http://schemas.openxmlformats.org/officeDocument/2006/relationships" id="288" r:id="R486bfa5db356461e"/>
    <p:sldId xmlns:r="http://schemas.openxmlformats.org/officeDocument/2006/relationships" id="289" r:id="R85b60aa1d52641f4"/>
    <p:sldId xmlns:r="http://schemas.openxmlformats.org/officeDocument/2006/relationships" id="290" r:id="R6456f3f08b974b4f"/>
    <p:sldId xmlns:r="http://schemas.openxmlformats.org/officeDocument/2006/relationships" id="291" r:id="R7cbed55fb4b94139"/>
    <p:sldId xmlns:r="http://schemas.openxmlformats.org/officeDocument/2006/relationships" id="292" r:id="R43da818f4ac44d0b"/>
    <p:sldId xmlns:r="http://schemas.openxmlformats.org/officeDocument/2006/relationships" id="293" r:id="R48ea902f0f264e4e"/>
    <p:sldId xmlns:r="http://schemas.openxmlformats.org/officeDocument/2006/relationships" id="294" r:id="R366444155d624de5"/>
    <p:sldId xmlns:r="http://schemas.openxmlformats.org/officeDocument/2006/relationships" id="295" r:id="R581f0cb8191645c8"/>
    <p:sldId xmlns:r="http://schemas.openxmlformats.org/officeDocument/2006/relationships" id="296" r:id="R3c69ea3c4d68439c"/>
    <p:sldId xmlns:r="http://schemas.openxmlformats.org/officeDocument/2006/relationships" id="297" r:id="R87f415458cfb409b"/>
    <p:sldId xmlns:r="http://schemas.openxmlformats.org/officeDocument/2006/relationships" id="298" r:id="R55a3545f9c7142cd"/>
    <p:sldId xmlns:r="http://schemas.openxmlformats.org/officeDocument/2006/relationships" id="299" r:id="R1438861b8e0c4b36"/>
    <p:sldId xmlns:r="http://schemas.openxmlformats.org/officeDocument/2006/relationships" id="300" r:id="R2d4fdfbc97324191"/>
    <p:sldId xmlns:r="http://schemas.openxmlformats.org/officeDocument/2006/relationships" id="301" r:id="R15a8ef5c241d48c2"/>
    <p:sldId xmlns:r="http://schemas.openxmlformats.org/officeDocument/2006/relationships" id="302" r:id="Rfa7aad854c464f8d"/>
    <p:sldId xmlns:r="http://schemas.openxmlformats.org/officeDocument/2006/relationships" id="303" r:id="R33dd708c64f541c5"/>
    <p:sldId xmlns:r="http://schemas.openxmlformats.org/officeDocument/2006/relationships" id="304" r:id="Re691bdead8544485"/>
    <p:sldId xmlns:r="http://schemas.openxmlformats.org/officeDocument/2006/relationships" id="305" r:id="Rd791f3c3c7684a8f"/>
    <p:sldId xmlns:r="http://schemas.openxmlformats.org/officeDocument/2006/relationships" id="306" r:id="R7ab6010e81ea4e0c"/>
    <p:sldId xmlns:r="http://schemas.openxmlformats.org/officeDocument/2006/relationships" id="307" r:id="R1e2c1752f9d84fb3"/>
    <p:sldId xmlns:r="http://schemas.openxmlformats.org/officeDocument/2006/relationships" id="308" r:id="R62dfde5a400246d5"/>
    <p:sldId xmlns:r="http://schemas.openxmlformats.org/officeDocument/2006/relationships" id="309" r:id="R2e3c0b307fd34702"/>
    <p:sldId xmlns:r="http://schemas.openxmlformats.org/officeDocument/2006/relationships" id="310" r:id="R2daaceed8641409e"/>
    <p:sldId xmlns:r="http://schemas.openxmlformats.org/officeDocument/2006/relationships" id="311" r:id="Rf5e939010b744858"/>
    <p:sldId xmlns:r="http://schemas.openxmlformats.org/officeDocument/2006/relationships" id="312" r:id="R2fbd32a4e6f043f6"/>
    <p:sldId xmlns:r="http://schemas.openxmlformats.org/officeDocument/2006/relationships" id="313" r:id="Rbfbdee3762174182"/>
    <p:sldId xmlns:r="http://schemas.openxmlformats.org/officeDocument/2006/relationships" id="314" r:id="Rfa8d017b0d8f4ce9"/>
    <p:sldId xmlns:r="http://schemas.openxmlformats.org/officeDocument/2006/relationships" id="315" r:id="Re56b49a905d24eec"/>
    <p:sldId xmlns:r="http://schemas.openxmlformats.org/officeDocument/2006/relationships" id="316" r:id="R48dca09cb437444f"/>
    <p:sldId xmlns:r="http://schemas.openxmlformats.org/officeDocument/2006/relationships" id="317" r:id="R0c0c6b168d204d85"/>
    <p:sldId xmlns:r="http://schemas.openxmlformats.org/officeDocument/2006/relationships" id="318" r:id="R317766c48b8c46d1"/>
    <p:sldId xmlns:r="http://schemas.openxmlformats.org/officeDocument/2006/relationships" id="319" r:id="Rd49da3e0407e4b3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04a6162958424e" /><Relationship Type="http://schemas.openxmlformats.org/officeDocument/2006/relationships/theme" Target="/ppt/theme/theme1.xml" Id="R91cc03b5aed1498c" /><Relationship Type="http://schemas.openxmlformats.org/officeDocument/2006/relationships/notesMaster" Target="/ppt/notesMasters/notesMaster1.xml" Id="R8f5e7c2c40d74dfc" /><Relationship Type="http://schemas.openxmlformats.org/officeDocument/2006/relationships/presProps" Target="/ppt/presProps.xml" Id="Reed880ca4c4a4807" /><Relationship Type="http://schemas.openxmlformats.org/officeDocument/2006/relationships/viewProps" Target="/ppt/viewProps.xml" Id="R48ceaaa9f0f140d9" /><Relationship Type="http://schemas.openxmlformats.org/officeDocument/2006/relationships/tableStyles" Target="/ppt/tableStyles.xml" Id="Rae01796495614a7d" /><Relationship Type="http://schemas.openxmlformats.org/officeDocument/2006/relationships/slide" Target="/ppt/slides/slide1.xml" Id="R899f51eeecca40b5" /><Relationship Type="http://schemas.openxmlformats.org/officeDocument/2006/relationships/slide" Target="/ppt/slides/slide2.xml" Id="R76a445d40aa34f63" /><Relationship Type="http://schemas.openxmlformats.org/officeDocument/2006/relationships/slide" Target="/ppt/slides/slide3.xml" Id="R1297a690a35b4aa2" /><Relationship Type="http://schemas.openxmlformats.org/officeDocument/2006/relationships/slide" Target="/ppt/slides/slide4.xml" Id="Rdbb01e5d4e3b4963" /><Relationship Type="http://schemas.openxmlformats.org/officeDocument/2006/relationships/slide" Target="/ppt/slides/slide5.xml" Id="R05ae1664560b4ef2" /><Relationship Type="http://schemas.openxmlformats.org/officeDocument/2006/relationships/slide" Target="/ppt/slides/slide6.xml" Id="R2e545e4e3b8446f3" /><Relationship Type="http://schemas.openxmlformats.org/officeDocument/2006/relationships/slide" Target="/ppt/slides/slide7.xml" Id="Re5d822a5c503413d" /><Relationship Type="http://schemas.openxmlformats.org/officeDocument/2006/relationships/slide" Target="/ppt/slides/slide8.xml" Id="Rf96c46d3fc6e4600" /><Relationship Type="http://schemas.openxmlformats.org/officeDocument/2006/relationships/slide" Target="/ppt/slides/slide9.xml" Id="R55c490e458584237" /><Relationship Type="http://schemas.openxmlformats.org/officeDocument/2006/relationships/slide" Target="/ppt/slides/slide10.xml" Id="R40339506baad4878" /><Relationship Type="http://schemas.openxmlformats.org/officeDocument/2006/relationships/slide" Target="/ppt/slides/slide11.xml" Id="Rf349a394f0db4989" /><Relationship Type="http://schemas.openxmlformats.org/officeDocument/2006/relationships/slide" Target="/ppt/slides/slide12.xml" Id="R81794908a2e743f5" /><Relationship Type="http://schemas.openxmlformats.org/officeDocument/2006/relationships/slide" Target="/ppt/slides/slide13.xml" Id="R88bc1bbdf6c54173" /><Relationship Type="http://schemas.openxmlformats.org/officeDocument/2006/relationships/slide" Target="/ppt/slides/slide14.xml" Id="Rc1811288a5424d4c" /><Relationship Type="http://schemas.openxmlformats.org/officeDocument/2006/relationships/slide" Target="/ppt/slides/slide15.xml" Id="Rbb2c399ec30b40ca" /><Relationship Type="http://schemas.openxmlformats.org/officeDocument/2006/relationships/slide" Target="/ppt/slides/slide16.xml" Id="Rb00471ef220143d8" /><Relationship Type="http://schemas.openxmlformats.org/officeDocument/2006/relationships/slide" Target="/ppt/slides/slide17.xml" Id="R6949ad40687545dc" /><Relationship Type="http://schemas.openxmlformats.org/officeDocument/2006/relationships/slide" Target="/ppt/slides/slide18.xml" Id="Rcd638d03312a4df8" /><Relationship Type="http://schemas.openxmlformats.org/officeDocument/2006/relationships/slide" Target="/ppt/slides/slide19.xml" Id="Rc8a4854a20bd4d29" /><Relationship Type="http://schemas.openxmlformats.org/officeDocument/2006/relationships/slide" Target="/ppt/slides/slide20.xml" Id="R07014180722d4c42" /><Relationship Type="http://schemas.openxmlformats.org/officeDocument/2006/relationships/slide" Target="/ppt/slides/slide21.xml" Id="R3aff80ebc9084c39" /><Relationship Type="http://schemas.openxmlformats.org/officeDocument/2006/relationships/slide" Target="/ppt/slides/slide22.xml" Id="Ra293d568a37c49d7" /><Relationship Type="http://schemas.openxmlformats.org/officeDocument/2006/relationships/slide" Target="/ppt/slides/slide23.xml" Id="R4b1b157a6aa54c27" /><Relationship Type="http://schemas.openxmlformats.org/officeDocument/2006/relationships/slide" Target="/ppt/slides/slide24.xml" Id="R33f809313f4043d7" /><Relationship Type="http://schemas.openxmlformats.org/officeDocument/2006/relationships/slide" Target="/ppt/slides/slide25.xml" Id="Ra1b3e795a84742e5" /><Relationship Type="http://schemas.openxmlformats.org/officeDocument/2006/relationships/slide" Target="/ppt/slides/slide26.xml" Id="R4108d4b6327444c8" /><Relationship Type="http://schemas.openxmlformats.org/officeDocument/2006/relationships/slide" Target="/ppt/slides/slide27.xml" Id="R52b1a39291b24c3f" /><Relationship Type="http://schemas.openxmlformats.org/officeDocument/2006/relationships/slide" Target="/ppt/slides/slide28.xml" Id="R28d411525b2c428b" /><Relationship Type="http://schemas.openxmlformats.org/officeDocument/2006/relationships/slide" Target="/ppt/slides/slide29.xml" Id="R95bbc5a9e4f5460e" /><Relationship Type="http://schemas.openxmlformats.org/officeDocument/2006/relationships/slide" Target="/ppt/slides/slide30.xml" Id="R4798f3ffcb9f4480" /><Relationship Type="http://schemas.openxmlformats.org/officeDocument/2006/relationships/slide" Target="/ppt/slides/slide31.xml" Id="R137f8cb6f8374a3d" /><Relationship Type="http://schemas.openxmlformats.org/officeDocument/2006/relationships/slide" Target="/ppt/slides/slide32.xml" Id="R4faee8b5229043db" /><Relationship Type="http://schemas.openxmlformats.org/officeDocument/2006/relationships/slide" Target="/ppt/slides/slide33.xml" Id="R486bfa5db356461e" /><Relationship Type="http://schemas.openxmlformats.org/officeDocument/2006/relationships/slide" Target="/ppt/slides/slide34.xml" Id="R85b60aa1d52641f4" /><Relationship Type="http://schemas.openxmlformats.org/officeDocument/2006/relationships/slide" Target="/ppt/slides/slide35.xml" Id="R6456f3f08b974b4f" /><Relationship Type="http://schemas.openxmlformats.org/officeDocument/2006/relationships/slide" Target="/ppt/slides/slide36.xml" Id="R7cbed55fb4b94139" /><Relationship Type="http://schemas.openxmlformats.org/officeDocument/2006/relationships/slide" Target="/ppt/slides/slide37.xml" Id="R43da818f4ac44d0b" /><Relationship Type="http://schemas.openxmlformats.org/officeDocument/2006/relationships/slide" Target="/ppt/slides/slide38.xml" Id="R48ea902f0f264e4e" /><Relationship Type="http://schemas.openxmlformats.org/officeDocument/2006/relationships/slide" Target="/ppt/slides/slide39.xml" Id="R366444155d624de5" /><Relationship Type="http://schemas.openxmlformats.org/officeDocument/2006/relationships/slide" Target="/ppt/slides/slide40.xml" Id="R581f0cb8191645c8" /><Relationship Type="http://schemas.openxmlformats.org/officeDocument/2006/relationships/slide" Target="/ppt/slides/slide41.xml" Id="R3c69ea3c4d68439c" /><Relationship Type="http://schemas.openxmlformats.org/officeDocument/2006/relationships/slide" Target="/ppt/slides/slide42.xml" Id="R87f415458cfb409b" /><Relationship Type="http://schemas.openxmlformats.org/officeDocument/2006/relationships/slide" Target="/ppt/slides/slide43.xml" Id="R55a3545f9c7142cd" /><Relationship Type="http://schemas.openxmlformats.org/officeDocument/2006/relationships/slide" Target="/ppt/slides/slide44.xml" Id="R1438861b8e0c4b36" /><Relationship Type="http://schemas.openxmlformats.org/officeDocument/2006/relationships/slide" Target="/ppt/slides/slide45.xml" Id="R2d4fdfbc97324191" /><Relationship Type="http://schemas.openxmlformats.org/officeDocument/2006/relationships/slide" Target="/ppt/slides/slide46.xml" Id="R15a8ef5c241d48c2" /><Relationship Type="http://schemas.openxmlformats.org/officeDocument/2006/relationships/slide" Target="/ppt/slides/slide47.xml" Id="Rfa7aad854c464f8d" /><Relationship Type="http://schemas.openxmlformats.org/officeDocument/2006/relationships/slide" Target="/ppt/slides/slide48.xml" Id="R33dd708c64f541c5" /><Relationship Type="http://schemas.openxmlformats.org/officeDocument/2006/relationships/slide" Target="/ppt/slides/slide49.xml" Id="Re691bdead8544485" /><Relationship Type="http://schemas.openxmlformats.org/officeDocument/2006/relationships/slide" Target="/ppt/slides/slide50.xml" Id="Rd791f3c3c7684a8f" /><Relationship Type="http://schemas.openxmlformats.org/officeDocument/2006/relationships/slide" Target="/ppt/slides/slide51.xml" Id="R7ab6010e81ea4e0c" /><Relationship Type="http://schemas.openxmlformats.org/officeDocument/2006/relationships/slide" Target="/ppt/slides/slide52.xml" Id="R1e2c1752f9d84fb3" /><Relationship Type="http://schemas.openxmlformats.org/officeDocument/2006/relationships/slide" Target="/ppt/slides/slide53.xml" Id="R62dfde5a400246d5" /><Relationship Type="http://schemas.openxmlformats.org/officeDocument/2006/relationships/slide" Target="/ppt/slides/slide54.xml" Id="R2e3c0b307fd34702" /><Relationship Type="http://schemas.openxmlformats.org/officeDocument/2006/relationships/slide" Target="/ppt/slides/slide55.xml" Id="R2daaceed8641409e" /><Relationship Type="http://schemas.openxmlformats.org/officeDocument/2006/relationships/slide" Target="/ppt/slides/slide56.xml" Id="Rf5e939010b744858" /><Relationship Type="http://schemas.openxmlformats.org/officeDocument/2006/relationships/slide" Target="/ppt/slides/slide57.xml" Id="R2fbd32a4e6f043f6" /><Relationship Type="http://schemas.openxmlformats.org/officeDocument/2006/relationships/slide" Target="/ppt/slides/slide58.xml" Id="Rbfbdee3762174182" /><Relationship Type="http://schemas.openxmlformats.org/officeDocument/2006/relationships/slide" Target="/ppt/slides/slide59.xml" Id="Rfa8d017b0d8f4ce9" /><Relationship Type="http://schemas.openxmlformats.org/officeDocument/2006/relationships/slide" Target="/ppt/slides/slide60.xml" Id="Re56b49a905d24eec" /><Relationship Type="http://schemas.openxmlformats.org/officeDocument/2006/relationships/slide" Target="/ppt/slides/slide61.xml" Id="R48dca09cb437444f" /><Relationship Type="http://schemas.openxmlformats.org/officeDocument/2006/relationships/slide" Target="/ppt/slides/slide62.xml" Id="R0c0c6b168d204d85" /><Relationship Type="http://schemas.openxmlformats.org/officeDocument/2006/relationships/slide" Target="/ppt/slides/slide63.xml" Id="R317766c48b8c46d1" /><Relationship Type="http://schemas.openxmlformats.org/officeDocument/2006/relationships/slide" Target="/ppt/slides/slide64.xml" Id="Rd49da3e0407e4b3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0263b655323143f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38a83d133834790" /><Relationship Type="http://schemas.openxmlformats.org/officeDocument/2006/relationships/notesMaster" Target="/ppt/notesMasters/notesMaster1.xml" Id="R6a3910a783b64ee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5a71e9f750441cf" /><Relationship Type="http://schemas.openxmlformats.org/officeDocument/2006/relationships/notesMaster" Target="/ppt/notesMasters/notesMaster1.xml" Id="Re14f00f19d434d7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a7b882cbf744248" /><Relationship Type="http://schemas.openxmlformats.org/officeDocument/2006/relationships/notesMaster" Target="/ppt/notesMasters/notesMaster1.xml" Id="R749eaf5edb75409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e7e6ff3a40f46d9" /><Relationship Type="http://schemas.openxmlformats.org/officeDocument/2006/relationships/notesMaster" Target="/ppt/notesMasters/notesMaster1.xml" Id="Rb366d1665bcc4ab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cf31a9ac86e401c" /><Relationship Type="http://schemas.openxmlformats.org/officeDocument/2006/relationships/notesMaster" Target="/ppt/notesMasters/notesMaster1.xml" Id="Re1cfcc0be8b544d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920bb1d1adf4e4d" /><Relationship Type="http://schemas.openxmlformats.org/officeDocument/2006/relationships/notesMaster" Target="/ppt/notesMasters/notesMaster1.xml" Id="R012dae08d3f2497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6abce25a5d945d2" /><Relationship Type="http://schemas.openxmlformats.org/officeDocument/2006/relationships/notesMaster" Target="/ppt/notesMasters/notesMaster1.xml" Id="R16260752b76f476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cea3c5c6b824e43" /><Relationship Type="http://schemas.openxmlformats.org/officeDocument/2006/relationships/notesMaster" Target="/ppt/notesMasters/notesMaster1.xml" Id="R67905b0efab0428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25dfc378f044eec" /><Relationship Type="http://schemas.openxmlformats.org/officeDocument/2006/relationships/notesMaster" Target="/ppt/notesMasters/notesMaster1.xml" Id="Rbd0501ca8359414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7578595c3c74ac2" /><Relationship Type="http://schemas.openxmlformats.org/officeDocument/2006/relationships/notesMaster" Target="/ppt/notesMasters/notesMaster1.xml" Id="Rd23b764041ee494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1d08b1101434326" /><Relationship Type="http://schemas.openxmlformats.org/officeDocument/2006/relationships/notesMaster" Target="/ppt/notesMasters/notesMaster1.xml" Id="Rbece924f73a6441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ad2af57a6344c34" /><Relationship Type="http://schemas.openxmlformats.org/officeDocument/2006/relationships/notesMaster" Target="/ppt/notesMasters/notesMaster1.xml" Id="R69d2982e2fc3411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c1e2ae485dd4d54" /><Relationship Type="http://schemas.openxmlformats.org/officeDocument/2006/relationships/notesMaster" Target="/ppt/notesMasters/notesMaster1.xml" Id="R0f9611949cb64b0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008b509a8cf44d6" /><Relationship Type="http://schemas.openxmlformats.org/officeDocument/2006/relationships/notesMaster" Target="/ppt/notesMasters/notesMaster1.xml" Id="R362a41596158425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2a84472276b49b9" /><Relationship Type="http://schemas.openxmlformats.org/officeDocument/2006/relationships/notesMaster" Target="/ppt/notesMasters/notesMaster1.xml" Id="Rc08ed2b26bb946c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c0cc67b48f345a8" /><Relationship Type="http://schemas.openxmlformats.org/officeDocument/2006/relationships/notesMaster" Target="/ppt/notesMasters/notesMaster1.xml" Id="R79a894d74e934b8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79890913e014794" /><Relationship Type="http://schemas.openxmlformats.org/officeDocument/2006/relationships/notesMaster" Target="/ppt/notesMasters/notesMaster1.xml" Id="R695b7778c00f43e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e2434a1f7a64f07" /><Relationship Type="http://schemas.openxmlformats.org/officeDocument/2006/relationships/notesMaster" Target="/ppt/notesMasters/notesMaster1.xml" Id="R71ec2f4f923f4b3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a2cccc357b74476" /><Relationship Type="http://schemas.openxmlformats.org/officeDocument/2006/relationships/notesMaster" Target="/ppt/notesMasters/notesMaster1.xml" Id="R219b725d66844fb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3291013035548f0" /><Relationship Type="http://schemas.openxmlformats.org/officeDocument/2006/relationships/notesMaster" Target="/ppt/notesMasters/notesMaster1.xml" Id="R26830db56c2140c6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a3c393a82d4849ba" /><Relationship Type="http://schemas.openxmlformats.org/officeDocument/2006/relationships/notesMaster" Target="/ppt/notesMasters/notesMaster1.xml" Id="R9190d51e8e5540aa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a72e3c9a9d044c68" /><Relationship Type="http://schemas.openxmlformats.org/officeDocument/2006/relationships/notesMaster" Target="/ppt/notesMasters/notesMaster1.xml" Id="R2f0948ca8cdc4870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48f56f567ea44959" /><Relationship Type="http://schemas.openxmlformats.org/officeDocument/2006/relationships/notesMaster" Target="/ppt/notesMasters/notesMaster1.xml" Id="R355eb0f1c30049f5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73e33c7440cc40af" /><Relationship Type="http://schemas.openxmlformats.org/officeDocument/2006/relationships/notesMaster" Target="/ppt/notesMasters/notesMaster1.xml" Id="Ra0b0fac69f4c437d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7e6d91d9d7324ab6" /><Relationship Type="http://schemas.openxmlformats.org/officeDocument/2006/relationships/notesMaster" Target="/ppt/notesMasters/notesMaster1.xml" Id="R29bb556a48994a5e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59b9c882b2fc4a60" /><Relationship Type="http://schemas.openxmlformats.org/officeDocument/2006/relationships/notesMaster" Target="/ppt/notesMasters/notesMaster1.xml" Id="R0395de1301a8471f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00616c72d9a74c9e" /><Relationship Type="http://schemas.openxmlformats.org/officeDocument/2006/relationships/notesMaster" Target="/ppt/notesMasters/notesMaster1.xml" Id="Rbc94e98fe29c4fcb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144507518f5e40f8" /><Relationship Type="http://schemas.openxmlformats.org/officeDocument/2006/relationships/notesMaster" Target="/ppt/notesMasters/notesMaster1.xml" Id="R96c2092a9a794f40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adda612118444ac3" /><Relationship Type="http://schemas.openxmlformats.org/officeDocument/2006/relationships/notesMaster" Target="/ppt/notesMasters/notesMaster1.xml" Id="Re4042619169c44d5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f0d5da1d7d22412a" /><Relationship Type="http://schemas.openxmlformats.org/officeDocument/2006/relationships/notesMaster" Target="/ppt/notesMasters/notesMaster1.xml" Id="R129c298bfc7449cc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97fed3e2192e4200" /><Relationship Type="http://schemas.openxmlformats.org/officeDocument/2006/relationships/notesMaster" Target="/ppt/notesMasters/notesMaster1.xml" Id="Rb9d418ea77f144dd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5f5e7972293e40e9" /><Relationship Type="http://schemas.openxmlformats.org/officeDocument/2006/relationships/notesMaster" Target="/ppt/notesMasters/notesMaster1.xml" Id="Rc9e45c1fedc446cc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bc43449b3352490a" /><Relationship Type="http://schemas.openxmlformats.org/officeDocument/2006/relationships/notesMaster" Target="/ppt/notesMasters/notesMaster1.xml" Id="Ra11499f6edeb4def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aea042d8776b4743" /><Relationship Type="http://schemas.openxmlformats.org/officeDocument/2006/relationships/notesMaster" Target="/ppt/notesMasters/notesMaster1.xml" Id="Rb144b52e275844d2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9114545f18204445" /><Relationship Type="http://schemas.openxmlformats.org/officeDocument/2006/relationships/notesMaster" Target="/ppt/notesMasters/notesMaster1.xml" Id="R7ac6577c1fe8420f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172f1ad7d7d844be" /><Relationship Type="http://schemas.openxmlformats.org/officeDocument/2006/relationships/notesMaster" Target="/ppt/notesMasters/notesMaster1.xml" Id="R7158139db97b4008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cd471fa8a5b640c8" /><Relationship Type="http://schemas.openxmlformats.org/officeDocument/2006/relationships/notesMaster" Target="/ppt/notesMasters/notesMaster1.xml" Id="R9e568701edff4daf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2d89cab293bf4733" /><Relationship Type="http://schemas.openxmlformats.org/officeDocument/2006/relationships/notesMaster" Target="/ppt/notesMasters/notesMaster1.xml" Id="R714372f3d00b4850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d3e054c8fab84a66" /><Relationship Type="http://schemas.openxmlformats.org/officeDocument/2006/relationships/notesMaster" Target="/ppt/notesMasters/notesMaster1.xml" Id="R59412fe4e6b44526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b607c402af38436b" /><Relationship Type="http://schemas.openxmlformats.org/officeDocument/2006/relationships/notesMaster" Target="/ppt/notesMasters/notesMaster1.xml" Id="R5118388956fa429c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7410c0f481e64f20" /><Relationship Type="http://schemas.openxmlformats.org/officeDocument/2006/relationships/notesMaster" Target="/ppt/notesMasters/notesMaster1.xml" Id="Rfef03e29bd8f4853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9c8bdc3005f34d23" /><Relationship Type="http://schemas.openxmlformats.org/officeDocument/2006/relationships/notesMaster" Target="/ppt/notesMasters/notesMaster1.xml" Id="Rdf27bb00ad8a4f3f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a32561d039674261" /><Relationship Type="http://schemas.openxmlformats.org/officeDocument/2006/relationships/notesMaster" Target="/ppt/notesMasters/notesMaster1.xml" Id="Rd2fab4ad77fa455b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7e36d46ed2994e86" /><Relationship Type="http://schemas.openxmlformats.org/officeDocument/2006/relationships/notesMaster" Target="/ppt/notesMasters/notesMaster1.xml" Id="R73e2029c28c742c6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5e7ca3bea7644ae7" /><Relationship Type="http://schemas.openxmlformats.org/officeDocument/2006/relationships/notesMaster" Target="/ppt/notesMasters/notesMaster1.xml" Id="Rc1b7a6a7aecb4087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594b00e2e5954609" /><Relationship Type="http://schemas.openxmlformats.org/officeDocument/2006/relationships/notesMaster" Target="/ppt/notesMasters/notesMaster1.xml" Id="R789f454a99d04220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5e49e1b5b0bc4555" /><Relationship Type="http://schemas.openxmlformats.org/officeDocument/2006/relationships/notesMaster" Target="/ppt/notesMasters/notesMaster1.xml" Id="R8068ec5865f843b3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550ac24fca3c4151" /><Relationship Type="http://schemas.openxmlformats.org/officeDocument/2006/relationships/notesMaster" Target="/ppt/notesMasters/notesMaster1.xml" Id="Rb12321c8b1fa401a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15ccf039be614f22" /><Relationship Type="http://schemas.openxmlformats.org/officeDocument/2006/relationships/notesMaster" Target="/ppt/notesMasters/notesMaster1.xml" Id="Ra6c23247ea274d7b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c34293345fca41a4" /><Relationship Type="http://schemas.openxmlformats.org/officeDocument/2006/relationships/notesMaster" Target="/ppt/notesMasters/notesMaster1.xml" Id="R26b7c72dc09e46b9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9f92a73cb5ac497a" /><Relationship Type="http://schemas.openxmlformats.org/officeDocument/2006/relationships/notesMaster" Target="/ppt/notesMasters/notesMaster1.xml" Id="R774ab96420714f1d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7e4c39f09a464f6c" /><Relationship Type="http://schemas.openxmlformats.org/officeDocument/2006/relationships/notesMaster" Target="/ppt/notesMasters/notesMaster1.xml" Id="R05c0d10797a54ad6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8fd35f59e69b4b87" /><Relationship Type="http://schemas.openxmlformats.org/officeDocument/2006/relationships/notesMaster" Target="/ppt/notesMasters/notesMaster1.xml" Id="R9e2d33937e944b8b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3073916a1f4a4c5d" /><Relationship Type="http://schemas.openxmlformats.org/officeDocument/2006/relationships/notesMaster" Target="/ppt/notesMasters/notesMaster1.xml" Id="Rd6f914f722c24b2e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a89ab0aea0264672" /><Relationship Type="http://schemas.openxmlformats.org/officeDocument/2006/relationships/notesMaster" Target="/ppt/notesMasters/notesMaster1.xml" Id="R8972cfc3ed374c79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9aff582ef6654191" /><Relationship Type="http://schemas.openxmlformats.org/officeDocument/2006/relationships/notesMaster" Target="/ppt/notesMasters/notesMaster1.xml" Id="Rd5149b9b5737460e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baaa49cec12e40d0" /><Relationship Type="http://schemas.openxmlformats.org/officeDocument/2006/relationships/notesMaster" Target="/ppt/notesMasters/notesMaster1.xml" Id="Ra8f0fb4491f34701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ea97cf5769b94711" /><Relationship Type="http://schemas.openxmlformats.org/officeDocument/2006/relationships/notesMaster" Target="/ppt/notesMasters/notesMaster1.xml" Id="Ra09367908fdb4341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128bb6a246de400f" /><Relationship Type="http://schemas.openxmlformats.org/officeDocument/2006/relationships/notesMaster" Target="/ppt/notesMasters/notesMaster1.xml" Id="R80b76c9ce6d546bb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5d454fc6c44549e8" /><Relationship Type="http://schemas.openxmlformats.org/officeDocument/2006/relationships/notesMaster" Target="/ppt/notesMasters/notesMaster1.xml" Id="R00fbd840877c4ef4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15d3931ed2674ad0" /><Relationship Type="http://schemas.openxmlformats.org/officeDocument/2006/relationships/notesMaster" Target="/ppt/notesMasters/notesMaster1.xml" Id="Rcc9dec54923942e1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5ae06bb2d1f847a1" /><Relationship Type="http://schemas.openxmlformats.org/officeDocument/2006/relationships/notesMaster" Target="/ppt/notesMasters/notesMaster1.xml" Id="Rfd7c2f9f6fd345f0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2997140562654124" /><Relationship Type="http://schemas.openxmlformats.org/officeDocument/2006/relationships/notesMaster" Target="/ppt/notesMasters/notesMaster1.xml" Id="R2cf129fbd33249c5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a32529e6717b4ccc" /><Relationship Type="http://schemas.openxmlformats.org/officeDocument/2006/relationships/notesMaster" Target="/ppt/notesMasters/notesMaster1.xml" Id="R0bb12fe4f333426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dc7307f1fc4482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256f853cb0604496" /><Relationship Type="http://schemas.openxmlformats.org/officeDocument/2006/relationships/slideLayout" Target="/ppt/slideLayouts/slideLayout2.xml" Id="Rf26f31564ab7431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26f31564ab7431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7a15e6ba3db482c" /><Relationship Type="http://schemas.openxmlformats.org/officeDocument/2006/relationships/notesSlide" Target="/ppt/notesSlides/notesSlide1.xml" Id="R59cdbfe22551407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ab61425607547ee" /><Relationship Type="http://schemas.openxmlformats.org/officeDocument/2006/relationships/notesSlide" Target="/ppt/notesSlides/notesSlide2.xml" Id="R67e7eda1342e4b7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0cf52a974134475" /><Relationship Type="http://schemas.openxmlformats.org/officeDocument/2006/relationships/notesSlide" Target="/ppt/notesSlides/notesSlide3.xml" Id="R7ee6ab956ec24e2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3cc0370c51a46a8" /><Relationship Type="http://schemas.openxmlformats.org/officeDocument/2006/relationships/notesSlide" Target="/ppt/notesSlides/notesSlide4.xml" Id="R09d2694b1f1e425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283ca1db3b64d00" /><Relationship Type="http://schemas.openxmlformats.org/officeDocument/2006/relationships/notesSlide" Target="/ppt/notesSlides/notesSlide5.xml" Id="R6d8287edfeb948d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fd73532c5824dba" /><Relationship Type="http://schemas.openxmlformats.org/officeDocument/2006/relationships/notesSlide" Target="/ppt/notesSlides/notesSlide6.xml" Id="Re378d70e0fa5464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3d89739e8a64f31" /><Relationship Type="http://schemas.openxmlformats.org/officeDocument/2006/relationships/notesSlide" Target="/ppt/notesSlides/notesSlide7.xml" Id="R851205b94529476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52281821741487b" /><Relationship Type="http://schemas.openxmlformats.org/officeDocument/2006/relationships/notesSlide" Target="/ppt/notesSlides/notesSlide8.xml" Id="R61cb383df4ef493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9a99ac8e67541cf" /><Relationship Type="http://schemas.openxmlformats.org/officeDocument/2006/relationships/notesSlide" Target="/ppt/notesSlides/notesSlide9.xml" Id="Ra57d666fa9714dd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0de2db3c1ef4fb1" /><Relationship Type="http://schemas.openxmlformats.org/officeDocument/2006/relationships/notesSlide" Target="/ppt/notesSlides/notesSlide10.xml" Id="R881db7b6d3bd471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05c96118b684e75" /><Relationship Type="http://schemas.openxmlformats.org/officeDocument/2006/relationships/notesSlide" Target="/ppt/notesSlides/notesSlide11.xml" Id="R5e978a0ac38345e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fdc9ef72ed44309" /><Relationship Type="http://schemas.openxmlformats.org/officeDocument/2006/relationships/notesSlide" Target="/ppt/notesSlides/notesSlide12.xml" Id="R6c849daf048d457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0f5f3b8e18544fc" /><Relationship Type="http://schemas.openxmlformats.org/officeDocument/2006/relationships/notesSlide" Target="/ppt/notesSlides/notesSlide13.xml" Id="Rade870f48a4b4ad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27c709032204307" /><Relationship Type="http://schemas.openxmlformats.org/officeDocument/2006/relationships/notesSlide" Target="/ppt/notesSlides/notesSlide14.xml" Id="Rebc59d288fea452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69e8f2851e64416" /><Relationship Type="http://schemas.openxmlformats.org/officeDocument/2006/relationships/notesSlide" Target="/ppt/notesSlides/notesSlide15.xml" Id="Rff80fa47397b472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774ed6c9db04e04" /><Relationship Type="http://schemas.openxmlformats.org/officeDocument/2006/relationships/image" Target="/ppt/media/image.png" Id="R3480c71f438c4a9c" /><Relationship Type="http://schemas.openxmlformats.org/officeDocument/2006/relationships/notesSlide" Target="/ppt/notesSlides/notesSlide16.xml" Id="Rc61364a1398642e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a91e65bc993481e" /><Relationship Type="http://schemas.openxmlformats.org/officeDocument/2006/relationships/image" Target="/ppt/media/image2.png" Id="R55169c5207f54770" /><Relationship Type="http://schemas.openxmlformats.org/officeDocument/2006/relationships/notesSlide" Target="/ppt/notesSlides/notesSlide17.xml" Id="R3c14bc3e35ae4ae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e8f8b5ad81b4c5c" /><Relationship Type="http://schemas.openxmlformats.org/officeDocument/2006/relationships/image" Target="/ppt/media/image3.png" Id="R9beb88889ec8458f" /><Relationship Type="http://schemas.openxmlformats.org/officeDocument/2006/relationships/notesSlide" Target="/ppt/notesSlides/notesSlide18.xml" Id="Rcc5d2f4f133244b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e4e327c81b34c2e" /><Relationship Type="http://schemas.openxmlformats.org/officeDocument/2006/relationships/image" Target="/ppt/media/image4.png" Id="R37faaa1d51914369" /><Relationship Type="http://schemas.openxmlformats.org/officeDocument/2006/relationships/notesSlide" Target="/ppt/notesSlides/notesSlide19.xml" Id="R1294133565dc462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531932bd7f94412" /><Relationship Type="http://schemas.openxmlformats.org/officeDocument/2006/relationships/image" Target="/ppt/media/image5.png" Id="Ref4284b760874112" /><Relationship Type="http://schemas.openxmlformats.org/officeDocument/2006/relationships/notesSlide" Target="/ppt/notesSlides/notesSlide20.xml" Id="R9e47ea67c2ec4f64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1220aae54a24eae" /><Relationship Type="http://schemas.openxmlformats.org/officeDocument/2006/relationships/image" Target="/ppt/media/image6.png" Id="R9386a0a3a2024289" /><Relationship Type="http://schemas.openxmlformats.org/officeDocument/2006/relationships/notesSlide" Target="/ppt/notesSlides/notesSlide21.xml" Id="R27511f4f774d4a19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a4b2d3d7b6749cc" /><Relationship Type="http://schemas.openxmlformats.org/officeDocument/2006/relationships/image" Target="/ppt/media/image7.png" Id="Rc23b3def2d0a4b6d" /><Relationship Type="http://schemas.openxmlformats.org/officeDocument/2006/relationships/notesSlide" Target="/ppt/notesSlides/notesSlide22.xml" Id="R3660ce0cc8e74446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95cfb48008f4f7c" /><Relationship Type="http://schemas.openxmlformats.org/officeDocument/2006/relationships/image" Target="/ppt/media/image8.png" Id="Reff345e08d6c4180" /><Relationship Type="http://schemas.openxmlformats.org/officeDocument/2006/relationships/notesSlide" Target="/ppt/notesSlides/notesSlide23.xml" Id="R6baea1f1344042d0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2e5683046ea4e5b" /><Relationship Type="http://schemas.openxmlformats.org/officeDocument/2006/relationships/notesSlide" Target="/ppt/notesSlides/notesSlide24.xml" Id="Rbe07a1a9fbb14676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87a46a06f0542dd" /><Relationship Type="http://schemas.openxmlformats.org/officeDocument/2006/relationships/notesSlide" Target="/ppt/notesSlides/notesSlide25.xml" Id="Ra832f32ebed84348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addca5d71ba40d4" /><Relationship Type="http://schemas.openxmlformats.org/officeDocument/2006/relationships/notesSlide" Target="/ppt/notesSlides/notesSlide26.xml" Id="R03c41eabf36a4915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5541da4f7a1475b" /><Relationship Type="http://schemas.openxmlformats.org/officeDocument/2006/relationships/notesSlide" Target="/ppt/notesSlides/notesSlide27.xml" Id="R3ac099ca880f4965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6670577f1cb4d34" /><Relationship Type="http://schemas.openxmlformats.org/officeDocument/2006/relationships/notesSlide" Target="/ppt/notesSlides/notesSlide28.xml" Id="Rebe1d1b5cdc04c75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7a0380fa5d14a9d" /><Relationship Type="http://schemas.openxmlformats.org/officeDocument/2006/relationships/notesSlide" Target="/ppt/notesSlides/notesSlide29.xml" Id="Rf1fe9bb6941a4c36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04cecbdb5dc41ae" /><Relationship Type="http://schemas.openxmlformats.org/officeDocument/2006/relationships/notesSlide" Target="/ppt/notesSlides/notesSlide30.xml" Id="R44e47a8e03b24488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fc2a4bc328e4532" /><Relationship Type="http://schemas.openxmlformats.org/officeDocument/2006/relationships/notesSlide" Target="/ppt/notesSlides/notesSlide31.xml" Id="R3029c02363dc4c3b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2865866da804d4e" /><Relationship Type="http://schemas.openxmlformats.org/officeDocument/2006/relationships/notesSlide" Target="/ppt/notesSlides/notesSlide32.xml" Id="R22b92718ebe74794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cae9dc865a74a8d" /><Relationship Type="http://schemas.openxmlformats.org/officeDocument/2006/relationships/notesSlide" Target="/ppt/notesSlides/notesSlide33.xml" Id="R65fefec9289140eb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84e6372ae724c32" /><Relationship Type="http://schemas.openxmlformats.org/officeDocument/2006/relationships/image" Target="/ppt/media/image9.png" Id="R410116f75894441b" /><Relationship Type="http://schemas.openxmlformats.org/officeDocument/2006/relationships/notesSlide" Target="/ppt/notesSlides/notesSlide34.xml" Id="R3cd3705919af4791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0cd1db6f3054d49" /><Relationship Type="http://schemas.openxmlformats.org/officeDocument/2006/relationships/image" Target="/ppt/media/image10.png" Id="R5f7d1072ca544432" /><Relationship Type="http://schemas.openxmlformats.org/officeDocument/2006/relationships/notesSlide" Target="/ppt/notesSlides/notesSlide35.xml" Id="Rbedb0f2e95d24994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5515d4eeefa4d44" /><Relationship Type="http://schemas.openxmlformats.org/officeDocument/2006/relationships/image" Target="/ppt/media/image11.png" Id="R2d50533c0b8f4408" /><Relationship Type="http://schemas.openxmlformats.org/officeDocument/2006/relationships/notesSlide" Target="/ppt/notesSlides/notesSlide36.xml" Id="Rf3d088318ec84e25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413103ea2294157" /><Relationship Type="http://schemas.openxmlformats.org/officeDocument/2006/relationships/notesSlide" Target="/ppt/notesSlides/notesSlide37.xml" Id="Rda9791e6c3d441a8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0ca9736bb234d83" /><Relationship Type="http://schemas.openxmlformats.org/officeDocument/2006/relationships/notesSlide" Target="/ppt/notesSlides/notesSlide38.xml" Id="R6141799505af4fda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c958826805d435b" /><Relationship Type="http://schemas.openxmlformats.org/officeDocument/2006/relationships/notesSlide" Target="/ppt/notesSlides/notesSlide39.xml" Id="R307742d26f024f00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e4b403dae87469e" /><Relationship Type="http://schemas.openxmlformats.org/officeDocument/2006/relationships/notesSlide" Target="/ppt/notesSlides/notesSlide40.xml" Id="Re5cd7dda1de543fc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ca8a9da16ef4f50" /><Relationship Type="http://schemas.openxmlformats.org/officeDocument/2006/relationships/notesSlide" Target="/ppt/notesSlides/notesSlide41.xml" Id="R97376eb727a64c0a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d5fc0e635a344bd" /><Relationship Type="http://schemas.openxmlformats.org/officeDocument/2006/relationships/notesSlide" Target="/ppt/notesSlides/notesSlide42.xml" Id="R3edc83d6fd3340d0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c8f1c947bf14416" /><Relationship Type="http://schemas.openxmlformats.org/officeDocument/2006/relationships/notesSlide" Target="/ppt/notesSlides/notesSlide43.xml" Id="R2a6139dc83f64cf9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4687003676842dd" /><Relationship Type="http://schemas.openxmlformats.org/officeDocument/2006/relationships/notesSlide" Target="/ppt/notesSlides/notesSlide44.xml" Id="R58e4bcc7cef54f71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c800dbf4619459c" /><Relationship Type="http://schemas.openxmlformats.org/officeDocument/2006/relationships/notesSlide" Target="/ppt/notesSlides/notesSlide45.xml" Id="R49f2409c3f894541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bde8fc6328b4157" /><Relationship Type="http://schemas.openxmlformats.org/officeDocument/2006/relationships/notesSlide" Target="/ppt/notesSlides/notesSlide46.xml" Id="R36cb4464c2ae4bc0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4568186833a46f4" /><Relationship Type="http://schemas.openxmlformats.org/officeDocument/2006/relationships/image" Target="/ppt/media/image12.png" Id="R096e8643225b47d9" /><Relationship Type="http://schemas.openxmlformats.org/officeDocument/2006/relationships/notesSlide" Target="/ppt/notesSlides/notesSlide47.xml" Id="Rd6b4e1d81567468e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70f3dc951e84203" /><Relationship Type="http://schemas.openxmlformats.org/officeDocument/2006/relationships/image" Target="/ppt/media/image13.png" Id="R37c790be76f84820" /><Relationship Type="http://schemas.openxmlformats.org/officeDocument/2006/relationships/notesSlide" Target="/ppt/notesSlides/notesSlide48.xml" Id="R20d1848c33ba4274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6a4c43a8b474821" /><Relationship Type="http://schemas.openxmlformats.org/officeDocument/2006/relationships/image" Target="/ppt/media/image14.png" Id="Rf19e394dbca44705" /><Relationship Type="http://schemas.openxmlformats.org/officeDocument/2006/relationships/notesSlide" Target="/ppt/notesSlides/notesSlide49.xml" Id="R0a520aa39a3b4144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5ed46c83a164a9e" /><Relationship Type="http://schemas.openxmlformats.org/officeDocument/2006/relationships/image" Target="/ppt/media/image15.png" Id="Rdbcf9bb2ea4c4a7c" /><Relationship Type="http://schemas.openxmlformats.org/officeDocument/2006/relationships/notesSlide" Target="/ppt/notesSlides/notesSlide50.xml" Id="R4ce9470b3546458a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f4da589085f4fd3" /><Relationship Type="http://schemas.openxmlformats.org/officeDocument/2006/relationships/image" Target="/ppt/media/image16.png" Id="R4c6e65e234e74cb4" /><Relationship Type="http://schemas.openxmlformats.org/officeDocument/2006/relationships/notesSlide" Target="/ppt/notesSlides/notesSlide51.xml" Id="R7b6f652250c444d8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77d6e5e5a484355" /><Relationship Type="http://schemas.openxmlformats.org/officeDocument/2006/relationships/notesSlide" Target="/ppt/notesSlides/notesSlide52.xml" Id="Rea09d40dfee74d5c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9c05c9ee00b47a2" /><Relationship Type="http://schemas.openxmlformats.org/officeDocument/2006/relationships/notesSlide" Target="/ppt/notesSlides/notesSlide53.xml" Id="R8acea0cf13774124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ebebe5757304c35" /><Relationship Type="http://schemas.openxmlformats.org/officeDocument/2006/relationships/notesSlide" Target="/ppt/notesSlides/notesSlide54.xml" Id="Rb2fde606d9ef4860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20cb14734c34d32" /><Relationship Type="http://schemas.openxmlformats.org/officeDocument/2006/relationships/notesSlide" Target="/ppt/notesSlides/notesSlide55.xml" Id="R752b6d2edac54060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9be2075f7274a57" /><Relationship Type="http://schemas.openxmlformats.org/officeDocument/2006/relationships/notesSlide" Target="/ppt/notesSlides/notesSlide56.xml" Id="R2d3b508829bb4446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5370dd5914249bb" /><Relationship Type="http://schemas.openxmlformats.org/officeDocument/2006/relationships/notesSlide" Target="/ppt/notesSlides/notesSlide57.xml" Id="R68721e14afff4d32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1e00ec2271d4cf4" /><Relationship Type="http://schemas.openxmlformats.org/officeDocument/2006/relationships/notesSlide" Target="/ppt/notesSlides/notesSlide58.xml" Id="Rf173a037d7fa4525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f6e537fb94d4eb2" /><Relationship Type="http://schemas.openxmlformats.org/officeDocument/2006/relationships/notesSlide" Target="/ppt/notesSlides/notesSlide59.xml" Id="Rd14b51852c384ecc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c952c6aeef840b1" /><Relationship Type="http://schemas.openxmlformats.org/officeDocument/2006/relationships/notesSlide" Target="/ppt/notesSlides/notesSlide60.xml" Id="Re46d1e91dc114273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946be0d11cb4520" /><Relationship Type="http://schemas.openxmlformats.org/officeDocument/2006/relationships/notesSlide" Target="/ppt/notesSlides/notesSlide61.xml" Id="Rc1ecb1abdbb441fb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791f9c029c44a26" /><Relationship Type="http://schemas.openxmlformats.org/officeDocument/2006/relationships/notesSlide" Target="/ppt/notesSlides/notesSlide62.xml" Id="R5b6e66551b8b4378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c671d2e369f4bec" /><Relationship Type="http://schemas.openxmlformats.org/officeDocument/2006/relationships/notesSlide" Target="/ppt/notesSlides/notesSlide63.xml" Id="R11935b89e9b343f9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8c149ed3c684c27" /><Relationship Type="http://schemas.openxmlformats.org/officeDocument/2006/relationships/notesSlide" Target="/ppt/notesSlides/notesSlide64.xml" Id="Rdd1244c5912346e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FC4A5A8-CBF1-4DE2-B42D-C110BB24A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881823-6642-4177-9CF1-B5460514C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47650"/>
            <a:ext cx="11468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mim-tRNAseq 与 Induro-tRNAseq 修饰指纹库对比及三篇文献精读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7D56F2-EF72-4D5F-8191-97ABC0C97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47700"/>
            <a:ext cx="11468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25DE57-633C-4FFB-B2F2-6B8E8DF13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11049000" cy="542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来源：根据 Markdown 报告自动整理。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格式：白底黑字；大标题 16 pt，其余正文 12 pt；文献精读部分插入论文原文截图或图件，并配中文解释。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33C9A4-32CE-4FAE-88BD-F6F9892C9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72250"/>
            <a:ext cx="1123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defRPr>
            </a:pPr>
            <a:r>
              <a:rPr sz="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mim-tRNAseq / Induro-tRNAseq | 1</a:t>
            </a:r>
          </a:p>
        </p:txBody>
      </p:sp>
    </p:spTree>
    <p:extLst>
      <p:ext uri="{BB962C8B-B14F-4D97-AF65-F5344CB8AC3E}">
        <p14:creationId xmlns:p14="http://schemas.microsoft.com/office/powerpoint/2010/main" val="20579480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0C18BB5-AA2F-4B92-AD7B-DDB3CB512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A886F7-AE66-48F6-9DB1-023FD2976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47650"/>
            <a:ext cx="11468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一、核心结论 (1/2)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28A82C-D1A5-4548-A4A8-99AF0407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47700"/>
            <a:ext cx="11468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908BC6-6F02-4D85-A879-D57366595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43000"/>
            <a:ext cx="10715625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1. `mim-tRNAseq` 与 `Induro-tRNAseq` 不是两个完全同构的“修饰数据库”。`mim-tRNAseq` 的指纹库更偏向源码内置规则：完整修饰字典、可检测修饰集合、人工补充位点、canonical 位点先验。`Induro-tRNAseq` 的指纹库更偏向酶学实测图谱：Induro 在每类 tRNA 修饰上的读穿（readthrough）、反转录停顿（RT stop）和错配掺入（misincorporation）响应。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2. 两者共享一组主要可读修饰：m1A、m1G、m2,2G、m3C、m1I、I34、yW、acp3U、ms2i6A、ms2t6A。它们大多位于 9、20、26/27、32、34、37、58 等经典 tRNA 修饰热点。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3. 主要差异不在“有没有这些修饰名称”，而在“如何把测序错误解释成修饰”。Induro 论文系统测定了每种修饰的 RT stop 与 misincorporation 模式，并指出 Induro 大多数情况下以 0 位错配为主，少数修饰以 +1 RT stop 为主。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4. Induro 对 acp3U20 和 ms2i6A37/ms2t6A37 的表现最有区分度：这两类是 Induro 的主要停顿型例外。acp3U20 上 Induro 的 RT stop 强于 TGIRT；ms2i6A37/ms2t6A37 上 Induro 的停顿弱于 TGIRT，且 Mn2+ 可改善该位点读穿。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5. mim-tRNAseq 源码额外收录了 o2yW 和 OHyW 这两个 wybutosine 家族条目；Induro 论文主要以 yW37 作为实测条目，并没有把 o2yW/OHyW 分拆成单独规则。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34C740-11D7-498F-A5C3-7C322411A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72250"/>
            <a:ext cx="1123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defRPr>
            </a:pPr>
            <a:r>
              <a:rPr sz="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mim-tRNAseq / Induro-tRNAseq | 2</a:t>
            </a:r>
          </a:p>
        </p:txBody>
      </p:sp>
    </p:spTree>
    <p:extLst>
      <p:ext uri="{BB962C8B-B14F-4D97-AF65-F5344CB8AC3E}">
        <p14:creationId xmlns:p14="http://schemas.microsoft.com/office/powerpoint/2010/main" val="60707426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104B672-C319-42F2-AB45-473160ECF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12F6C8-D331-4BB2-9394-FE006F5B4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47650"/>
            <a:ext cx="11468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一、核心结论 (2/2)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DE137B-F1A5-4598-83DC-8C2A68B17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47700"/>
            <a:ext cx="11468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2646E2-4F06-4BC0-97BA-380BFB382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11049000" cy="542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6. 两者都不能把所有 tRNA 修饰直接读出来。假尿苷（pseudouridine, Ψ）、二氢尿苷（dihydrouridine, D）、m5C、T/ribothymidine、τm5U 等不改变 Watson-Crick 配对面的修饰，在常规 Mg2+ 条件下不属于稳定 RT-readable 修饰；需要化学处理、酶处理或质谱等互补技术。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0EE3F4-80CC-4F54-B539-A4D3D5895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72250"/>
            <a:ext cx="1123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defRPr>
            </a:pPr>
            <a:r>
              <a:rPr sz="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mim-tRNAseq / Induro-tRNAseq | 3</a:t>
            </a:r>
          </a:p>
        </p:txBody>
      </p:sp>
    </p:spTree>
    <p:extLst>
      <p:ext uri="{BB962C8B-B14F-4D97-AF65-F5344CB8AC3E}">
        <p14:creationId xmlns:p14="http://schemas.microsoft.com/office/powerpoint/2010/main" val="9816585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122931F-3D11-4170-ABB4-A5660FEB4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03161F-D015-49E4-8E26-114FA0D0A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47650"/>
            <a:ext cx="11468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二、术语速查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8C5B16-44FA-44C6-BCF2-570BE6A6A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47700"/>
            <a:ext cx="11468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93A3C9-C279-4700-A07B-26B0BD6BB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43000"/>
            <a:ext cx="10715625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| 中文术语 | English | 本报告中的含义 |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|---|---|---|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| 反转录酶 | reverse transcriptase, RT | 把 tRNA 反转录为 cDNA 的酶。不同 RT 面对修饰碱基时会停顿、错配或读穿。 |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| 读穿 | readthrough | RT 从 tRNA 3' 端一路合成到 5' 端附近，未在修饰处终止。 |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| 反转录停顿 | RT stop | RT 在修饰位点或附近停止，产生截短 cDNA。 |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| 错配掺入 | misincorporation | RT 遇到修饰碱基时掺入非标准互补碱基，测序中表现为 mismatch。 |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| 读出身份 | read identity | 在测序读段中，修饰位点被读成 A/C/G/U 的哪一种。 |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| 反密码子茎环 | anticodon stem-loop, ASL | tRNA 识别密码子的结构区域，34/37 位等修饰常在此影响翻译。 |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| tRNA 主体 | tRNA body | ASL 以外、更多参与 L 形三级结构稳定的 tRNA 区域。 |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| 同解码子 | isodecoder | 反密码子相同、解码同一密码子但序列可不同的 tRNA。 |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| 同受体 | isoacceptor | 携带同一氨基酸、但反密码子可不同的一组 tRNA。 |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| wobble 位点 | wobble position | 反密码子的第 34 位，可决定一个 tRNA 能识别哪些同义密码子。 |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| Watson-Crick 配对面 | Watson-Crick face | 参与 A-U、G-C 标准碱基配对的碱基化学面；被修饰后更容易影响 RT。 |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E18924-B005-49A5-9CAD-5DB13016C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72250"/>
            <a:ext cx="1123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defRPr>
            </a:pPr>
            <a:r>
              <a:rPr sz="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mim-tRNAseq / Induro-tRNAseq | 4</a:t>
            </a:r>
          </a:p>
        </p:txBody>
      </p:sp>
    </p:spTree>
    <p:extLst>
      <p:ext uri="{BB962C8B-B14F-4D97-AF65-F5344CB8AC3E}">
        <p14:creationId xmlns:p14="http://schemas.microsoft.com/office/powerpoint/2010/main" val="31820272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CB13EEC-B909-4D38-AC04-374EB1106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43B5A3-4B2F-49F2-9578-87943FAC6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47650"/>
            <a:ext cx="11468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三、mim-tRNAseq 与 Induro-tRNAseq：工具层面对比总表 (1/3)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13F001-1C87-4F9E-BA4F-F7F4EF357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47700"/>
            <a:ext cx="11468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384167-24CC-4DEC-9A85-D21360BE7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43000"/>
            <a:ext cx="10715625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| 比较维度 | mim-tRNAseq / TGIRT | Induro-tRNAseq / Induro | 相同点与差异解释 |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|---|---|---|---|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| 核心 RT | TGIRT，group-II intron-derived RT。 | Induro，新的 group-II intron-encoded RT，商业化试剂 NEB M0681。 | 二者同属 group-II intron RT，整体 misincorporation 图谱相近；Induro 论文将二者并行比较，用于增强修饰预测置信度。 |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| 指纹库的本质 | 源码内置库：`mimseq/modifications`、`Mods + I`、`additionalMods.txt`、`mmQuant.py::mods`。 | 实测酶响应库：每类修饰对应 RT stop、misincorporation、read identity、读穿条件和 Mg2+/Mn2+ 影响。 | mim 更像“规则/注释库”；Induro 更像“酶学行为图谱”。 |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| 完整修饰字典 | 170 个修饰符号条目，可把 MODOMICS 符号还原为未修饰参考碱基。 | 论文不提供等价的 170 项完整字典；重点是 RT-readable 修饰。 | mim 的底层字典覆盖广，但并不表示全部可检测。 |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| 真正可检测核心集合 | 12 类：m1A、m1G、m2,2G、m3C、m1I、yW、o2yW、OHyW、acp3U、ms2i6A、ms2t6A、I/I34。 | 主要实测：m1A9/58、m1G9/37、acp3U20、m2,2G26/27、m3C32、I34、m1I37、yW37、ms2i6A37、ms2t6A37。 | 共同核心高度重叠；mim 额外把 o2yW/OHyW 单列，Induro 主文未单列。 |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008B43-CC14-4AD0-B3D6-92DEA04E3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72250"/>
            <a:ext cx="1123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defRPr>
            </a:pPr>
            <a:r>
              <a:rPr sz="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mim-tRNAseq / Induro-tRNAseq | 5</a:t>
            </a:r>
          </a:p>
        </p:txBody>
      </p:sp>
    </p:spTree>
    <p:extLst>
      <p:ext uri="{BB962C8B-B14F-4D97-AF65-F5344CB8AC3E}">
        <p14:creationId xmlns:p14="http://schemas.microsoft.com/office/powerpoint/2010/main" val="21626911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CB68C8E-B902-4C60-B1B3-1AE8F0915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687356-B5A9-4975-86B2-20E72FBFB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47650"/>
            <a:ext cx="11468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三、mim-tRNAseq 与 Induro-tRNAseq：工具层面对比总表 (2/3)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88FF5C-70EF-4BDC-BD80-58B299302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47700"/>
            <a:ext cx="11468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DF5C9F-1674-467C-904A-FD4E29980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11049000" cy="542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| 人工补充位点 | 有。`additionalMods.txt` 主要补 I34，另有少量 m1A9、mcm5s2U34。 | 没有同构的人工补充文件；论文按已知位置和 &gt;10% RT stop/mismatch 标准识别已注释或未注释位点。 | mim 更依赖预定义位点；Induro 更强调从 RT 行为发现/确认。 |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| canonical 位点先验 | 有。9、20、20a、20b、26、32、37、58、e9 等作为修饰干扰热点，避免误判 isodecoder 差异。 | 论文分析聚焦 9、20、26、32、34、37、58 等已知 tRNA 修饰位置，并用 -1/0/+1 窗口报告停顿。 | 两者热点位置高度一致；mim 在去卷积层面硬编码得更明确。 |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| 主要 readout | mismatch / misincorporation，RT stop 也可作为修饰信号，但源码库重点是错配容忍和注释。 | 大多数修饰：0 位 misincorporation；acp3U20a 与 ms2i6A37/ms2t6A37：+1 RT stop 更关键。 | Induro 对每类修饰给了更细的 readout 建议。 |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| 读穿优化 | 资料中主要体现为既有 mim 流程与 TGIRT 数据集。 | Induro 明确优化：37 °C 过夜读穿最高约 90%；42 °C 过夜为论文工作流选择；55 °C 推荐条件反而读穿低。 | Induro 论文的一个重要贡献是把 RT 条件本身系统化。 |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| Mg2+/Mn2+ | mim 资料中无同等系统的 Mg2+/Mn2+ 指纹比较。 | Mn2+ 可特别改善 ms2i6A37/ms2t6A37 的 readthrough，并增强低阈值 m7G 检出；但常规工作流仍用 Mg2+。 | Induro 在金属离子调控方面提供了可操作线索。 |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E9AFB7-6638-43E8-AF56-F4F969BCA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72250"/>
            <a:ext cx="1123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defRPr>
            </a:pPr>
            <a:r>
              <a:rPr sz="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mim-tRNAseq / Induro-tRNAseq | 6</a:t>
            </a:r>
          </a:p>
        </p:txBody>
      </p:sp>
    </p:spTree>
    <p:extLst>
      <p:ext uri="{BB962C8B-B14F-4D97-AF65-F5344CB8AC3E}">
        <p14:creationId xmlns:p14="http://schemas.microsoft.com/office/powerpoint/2010/main" val="2078879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92B9EF4-C9A4-496E-B742-E8CC21436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F4A903-2DEE-479F-9A01-36CBF5176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47650"/>
            <a:ext cx="11468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三、mim-tRNAseq 与 Induro-tRNAseq：工具层面对比总表 (3/3)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D255B5-5A9E-45EC-A281-E5D3B9CEE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47700"/>
            <a:ext cx="11468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8CE4E4-835B-4298-AD45-2ADD0F623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11049000" cy="542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| 与样本无关的局限 | 依赖 MODOMICS/人工位点与源码规则；不是所有 170 个修饰都能被判读。 | 不改变 Watson-Crick 配对面的修饰在 Mg2+ 条件下仍难读，如 Ψ、D、m5C、T、τm5U；低信号位点仍需谨慎。 | 两者都需要 LC-MS/MS、化学处理或酶处理补证。 |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| 数据分析骨架 | mimseq 管线：BLAST/MODOMICS 注释、聚类、GSNAP 比对、错配和停顿统计。 | Induro 论文的数据处理仍使用 mimseq v1.2 进行映射和部分分析。 | Induro 不是完全另起炉灶；它在 RT 与实验读出层面扩展了 mim/TGIRT 框架。 |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| 最适合的问题 | 快速利用已有 TGIRT/mim 规则做 tRNA 丰度、修饰热点、isodecoder 去卷积。 | 系统比较修饰位点的 RT signature、选择最佳 RT 条件、发现组织/细胞间协调修饰变化。 | 若研究目标是“修饰指纹本身”，Induro 信息更细；若目标是“已有注释库驱动分析”，mim 更成熟。 |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D3707C-BFA3-49AD-ACCC-632B44005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72250"/>
            <a:ext cx="1123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defRPr>
            </a:pPr>
            <a:r>
              <a:rPr sz="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mim-tRNAseq / Induro-tRNAseq | 7</a:t>
            </a:r>
          </a:p>
        </p:txBody>
      </p:sp>
    </p:spTree>
    <p:extLst>
      <p:ext uri="{BB962C8B-B14F-4D97-AF65-F5344CB8AC3E}">
        <p14:creationId xmlns:p14="http://schemas.microsoft.com/office/powerpoint/2010/main" val="109622696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048E12D-0916-43E0-8B76-991512EB8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37EFE4-EC66-4D0A-BA2B-F1D4830F6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47650"/>
            <a:ext cx="11468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四、逐修饰指纹库异同表 (1/4)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23A437-5450-4533-A72F-C8345718D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47700"/>
            <a:ext cx="11468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CB9480-749A-4424-BFCF-D45079E99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43000"/>
            <a:ext cx="10715625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| 修饰 | 中文（English） | 经典位置 | mim-tRNAseq 状态 | Induro-tRNAseq 状态 | 异同与解释 |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|---|---|---:|---|---|---|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| m1A | 1-甲基腺苷（1-methyladenosine） | 9、58，也可见 14/16 | 核心可检测条目；源码把它作为经典错配/停顿指纹位点。 | 实测 m1A9/58；位置敏感，m1A9 与 m1A58 的读穿随温度/结构不同。主要看 0 位错配和读穿。 | 共同核心修饰。差异在于 Induro 明确强调“同一化学修饰在不同结构位置有不同 RT signature”。 |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| m1G | 1-甲基鸟苷（1-methylguanosine） | 9、37 | 核心可检测条目，常见于 G9/G37。 | 实测 m1G9/37；m1G37 读穿随温度增加更明显，m1G9 与 m1G37 行为不同。 | 共同核心修饰。Induro 论文还用 Pro(AGG) 的 m1G37/I34 读出解决了此前人/鼠 Pro(AGG) m1G37 是否稳定存在的问题。 |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| m2,2G | N2,N2-二甲基鸟苷（N2,N2-dimethylguanosine） | 26、27 | 核心可检测条目；26 位是 canonical 先验热点。 | 实测 m2,2G26/27；通常以 0 位错配为主，局部结构可影响信号。 | 共同核心修饰。需要注意它与 sperm tsRNA 文献中的 m2G（N2-methylguanosine）不是同一化学物种。 |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D8B467-C55D-4762-A5A2-13B47A014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72250"/>
            <a:ext cx="1123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defRPr>
            </a:pPr>
            <a:r>
              <a:rPr sz="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mim-tRNAseq / Induro-tRNAseq | 8</a:t>
            </a:r>
          </a:p>
        </p:txBody>
      </p:sp>
    </p:spTree>
    <p:extLst>
      <p:ext uri="{BB962C8B-B14F-4D97-AF65-F5344CB8AC3E}">
        <p14:creationId xmlns:p14="http://schemas.microsoft.com/office/powerpoint/2010/main" val="117631361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47CE65A-483C-45BA-8EC0-75EFF364E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2FEDA2-7042-45CB-94C8-47C3CB9B3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47650"/>
            <a:ext cx="11468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四、逐修饰指纹库异同表 (2/4)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3C40CA-91D3-4558-8C70-510A5E108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47700"/>
            <a:ext cx="11468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627859-1364-4D1D-8396-13305EC85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11049000" cy="542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| m3C | 3-甲基胞苷（3-methylcytidine） | 32 | 核心可检测条目；32 位是先验热点。 | 实测 m3C32；Induro 可读穿 m3C32，主要以错配而非强停顿读出。 | 共同核心修饰。Induro 的亮点是无需先对 m3C 做化学处理即可读出。 |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| m1I | 1-甲基次黄嘌呤（1-methylinosine） | 37 | 核心可检测条目。 | 实测 m1I37；接近均一的 0 位 misincorporation。 | 共同核心修饰。Induro 给出更明确的 read identity/错配主导判断。 |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| I / I34 | 次黄嘌呤（inosine） | 34 | 源码单独处理 I，人工补充库大量补 I34。 | 实测 I34；几乎完全是 0 位错配，几乎无 RT stop。 | 共同核心修饰。I34 是 wobble 解码研究的高价值位点，两个工具都很重要。 |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| yW | wybutosine | 37 | 核心可检测条目。 | 实测 yW37；与 TGIRT 相比，Induro 的 read identity 可不同，Induro 主要读成 G，而 TGIRT 主要读成 T。 | 共同核心修饰。Induro/TGIRT 的差异可作为区分 yW37 的酶学指纹。 |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| o2yW | 过氧 wybutosine（peroxywybutosine） | 37 | mim 源码单列为可检测条目。 | 主文未作为独立条目系统展开。 | mim 特有/更细分。Induro 可能在 yW 家族相关读出中有信息，但没有主文级独立规则。 |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5065DF-7D3A-417D-837A-F8A3CF744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72250"/>
            <a:ext cx="1123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defRPr>
            </a:pPr>
            <a:r>
              <a:rPr sz="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mim-tRNAseq / Induro-tRNAseq | 9</a:t>
            </a:r>
          </a:p>
        </p:txBody>
      </p:sp>
    </p:spTree>
    <p:extLst>
      <p:ext uri="{BB962C8B-B14F-4D97-AF65-F5344CB8AC3E}">
        <p14:creationId xmlns:p14="http://schemas.microsoft.com/office/powerpoint/2010/main" val="81610123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93BFF66-A9F2-456B-ABB9-0AF7F6B49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ED3E74-B893-4DEB-966D-9FDB596E0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47650"/>
            <a:ext cx="11468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四、逐修饰指纹库异同表 (3/4)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F0FA55-7846-4A92-9AAD-DD66D586E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47700"/>
            <a:ext cx="11468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530A3F-F738-48FE-99E0-F7E412210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11049000" cy="542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| OHyW | 羟基 wybutosine（hydroxywybutosine） | 37 | mim 源码单列为可检测条目。 | 主文未作为独立条目系统展开。 | mim 特有/更细分。需要质谱或更精细注释确认具体 wybutosine 衍生物。 |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| acp3U | 3-(3-氨基-3-羧丙基)尿苷（3-(3-amino-3-carboxypropyl)uridine） | 20、20a | 核心可检测条目；20/20a/20b 是 canonical 热点。 | Induro 的主要例外之一，常以 +1 RT stop 为主；Induro 在 acp3U20 的 RT stop 强于 TGIRT。 | 共同核心修饰，但最佳 readout 不同于多数修饰。研究 acp3U20 时，Induro 的停顿信号尤其有用。 |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| ms2i6A | 2-甲硫基-N6-异戊烯基腺苷（2-methylthio-N6-isopentenyladenosine） | 37 | 核心可检测条目。 | 与 ms2t6A37 合并讨论；Induro 的主要停顿型例外之一，常在 +1 RT stop；Mn2+ 可改善读穿。 | 共同核心修饰。Induro 论文将它和 ms2t6A 作为 A37 复杂修饰组合来读。 |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| ms2t6A | 2-甲硫基-N6-苏氨酰氨甲酰腺苷（2-methylthio-N6-threonylcarbamoyladenosine） | 37 | 核心可检测条目。 | 与 ms2i6A37 合并讨论；主要 readout 是 RT stop 窗口，尤其 +1。 | 共同核心修饰。对翻译解码和胚胎/生殖相关研究具有较高优先级。 |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6F2B0C-50B4-4016-81FD-443F182BD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72250"/>
            <a:ext cx="1123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defRPr>
            </a:pPr>
            <a:r>
              <a:rPr sz="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mim-tRNAseq / Induro-tRNAseq | 10</a:t>
            </a:r>
          </a:p>
        </p:txBody>
      </p:sp>
    </p:spTree>
    <p:extLst>
      <p:ext uri="{BB962C8B-B14F-4D97-AF65-F5344CB8AC3E}">
        <p14:creationId xmlns:p14="http://schemas.microsoft.com/office/powerpoint/2010/main" val="66620394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D9550E4-CAFB-46EC-8EAF-BE88390A6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B8A651-8DBE-45AF-A539-06EFBFAEC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47650"/>
            <a:ext cx="11468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四、逐修饰指纹库异同表 (4/4)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5CAE04-43C2-417E-B279-9BD938BF8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47700"/>
            <a:ext cx="11468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8C03CC-288A-4AAE-BFE5-998E44EFD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11049000" cy="542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| m7G | 7-甲基鸟苷（7-methylguanosine） | 常见 46 等 | 不是 mim 核心 12 个可检测条目之一。 | 常规 &gt;10% 阈值下不作为主要 RT-readable；Mn2+ 与较低错配阈值可提高检出。 | Induro 论文提供了低阈值探索线索，但不应把 m7G 当作常规高置信核心指纹。 |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| Ψ | 假尿苷（pseudouridine） | 多位点 | 不在 mim 核心 12 个可检测条目。 | Mg2+ 条件下不可稳定 RT-readable；Mn2+ 也未可靠检出。作者建议未来考虑 CMC 或 bisulfite 等化学处理。 | 两者都需要化学处理或其他方法补充。 |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| m5C | 5-甲基胞苷（5-methylcytidine） | 多位点，含 tRNA/tsRNA | 不在 mim 核心 12 个可检测条目。 | 论文明确把 m5C 归入常规 Mg2+ 条件下不 RT-readable 的非 Watson-Crick face 修饰。 | 与 sperm tsRNA 文献高度相关，但不能仅靠这两个 RT 指纹库可靠定位。 |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674AFF-285A-43BA-9FFE-0B89EF044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72250"/>
            <a:ext cx="1123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defRPr>
            </a:pPr>
            <a:r>
              <a:rPr sz="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mim-tRNAseq / Induro-tRNAseq | 11</a:t>
            </a:r>
          </a:p>
        </p:txBody>
      </p:sp>
    </p:spTree>
    <p:extLst>
      <p:ext uri="{BB962C8B-B14F-4D97-AF65-F5344CB8AC3E}">
        <p14:creationId xmlns:p14="http://schemas.microsoft.com/office/powerpoint/2010/main" val="632042797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42558A8-13D2-4088-A0E4-4F54D0192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8AC151-3518-4CA9-B181-C29980965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47650"/>
            <a:ext cx="11468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五、如何理解“指纹库”这个词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C7D942-43E7-4A04-BE1E-B8D12471A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47700"/>
            <a:ext cx="11468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BC33E8-173C-4112-88D0-659F13EC4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43000"/>
            <a:ext cx="10715625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14010D-2551-4676-AD43-3573107EB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72250"/>
            <a:ext cx="1123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defRPr>
            </a:pPr>
            <a:r>
              <a:rPr sz="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mim-tRNAseq / Induro-tRNAseq | 12</a:t>
            </a:r>
          </a:p>
        </p:txBody>
      </p:sp>
    </p:spTree>
    <p:extLst>
      <p:ext uri="{BB962C8B-B14F-4D97-AF65-F5344CB8AC3E}">
        <p14:creationId xmlns:p14="http://schemas.microsoft.com/office/powerpoint/2010/main" val="1658428040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3A77F97-462C-41CE-AE8D-2297B55D0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B467D3-B563-41D8-8D33-CF0B16E4A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47650"/>
            <a:ext cx="11468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1. mim-tRNAseq 的指纹库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1C886A-F672-4B13-8966-9552CCDCF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47700"/>
            <a:ext cx="11468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44ACE7-4266-4D7E-925D-16C09EED6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11049000" cy="542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mim-tRNAseq 的“指纹库”至少有四层：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1. 完整修饰字典：170 个修饰符号条目，用于把 MODOMICS 修饰字符转换成修饰名和原始碱基。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2. 可检测核心集合：真正进入 signature 判读的 12 类修饰。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3. 人工补充位点：尤其是多个物种中的 I34，还有少量 m1A9、mcm5s2U34。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4. canonical hotspot 先验：9、20、20a、20b、26、32、37、58、e9 等，用于避免把修饰造成的错配误判为 isodecoder 差异。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所以，mim-tRNAseq 的完整修饰字典不是“全部可检测修饰表”。真正用于判读的核心集合远小于 170 项。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311937-9CE0-4E43-8835-D75057DE5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72250"/>
            <a:ext cx="1123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defRPr>
            </a:pPr>
            <a:r>
              <a:rPr sz="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mim-tRNAseq / Induro-tRNAseq | 13</a:t>
            </a:r>
          </a:p>
        </p:txBody>
      </p:sp>
    </p:spTree>
    <p:extLst>
      <p:ext uri="{BB962C8B-B14F-4D97-AF65-F5344CB8AC3E}">
        <p14:creationId xmlns:p14="http://schemas.microsoft.com/office/powerpoint/2010/main" val="141523358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067E5BA-12FD-4850-99D3-C2372B835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B8AE00-AB47-4C37-9DEE-66E670093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47650"/>
            <a:ext cx="11468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2. Induro-tRNAseq 的指纹库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362D8D-F5C9-4B22-B7AE-7E7F22699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47700"/>
            <a:ext cx="11468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115DB3-2743-4F20-B35B-1AE9F44F4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11049000" cy="542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Induro-tRNAseq 的“指纹库”主要来自 Nakano et al. 2025 对 Induro 反转录酶的系统实测：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1. 大多数 RT-readable 修饰以 0 位 misincorporation 为主。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2. I34 几乎纯错配，几乎没有 RT stop。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3. acp3U20a 和 ms2i6A37/ms2t6A37 是两个主要例外，以 +1 RT stop 为主。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4. 同一化学修饰在不同结构位置可有不同酶学响应，例如 m1A9 与 m1A58、m1G9 与 m1G37。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5. Induro 与 TGIRT 整体相似，但 acp3U、ms2i6A/ms2t6A、yW 等处存在可利用差异。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因此，Induro 的价值不只是“多一个 RT”，而是给出了按修饰/位点/局部结构拆开的酶学指纹规则。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3021AE-6A2C-43C2-9E1B-F6BE783FD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72250"/>
            <a:ext cx="1123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defRPr>
            </a:pPr>
            <a:r>
              <a:rPr sz="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mim-tRNAseq / Induro-tRNAseq | 14</a:t>
            </a:r>
          </a:p>
        </p:txBody>
      </p:sp>
    </p:spTree>
    <p:extLst>
      <p:ext uri="{BB962C8B-B14F-4D97-AF65-F5344CB8AC3E}">
        <p14:creationId xmlns:p14="http://schemas.microsoft.com/office/powerpoint/2010/main" val="1701349406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7A70F2B-4EF4-4DAC-93EB-2BF878FDA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8D5775-D29A-4CAC-9127-1E4AAF840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47650"/>
            <a:ext cx="11468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六、文献精读 1：Nakano et al. 2025, Nature Communications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9E9165-5404-4DE6-8B2D-5510B6902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47700"/>
            <a:ext cx="11468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B268CB-56A7-4D6F-A082-F5B5E11C5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43000"/>
            <a:ext cx="10715625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题目：Genome-wide profiling of tRNA modifications by Induro-tRNAseq reveals coordinated changes  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类型：方法学 + 资源型 + 生物学发现论文  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主题：建立 Induro-tRNAseq，系统定义 Induro 对 tRNA 修饰的 RT signature，并用其分析不同细胞/组织中的协调性 tRNA 修饰变化。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ED5E32-05CE-4A86-BB27-6A034D68A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72250"/>
            <a:ext cx="1123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defRPr>
            </a:pPr>
            <a:r>
              <a:rPr sz="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mim-tRNAseq / Induro-tRNAseq | 15</a:t>
            </a:r>
          </a:p>
        </p:txBody>
      </p:sp>
    </p:spTree>
    <p:extLst>
      <p:ext uri="{BB962C8B-B14F-4D97-AF65-F5344CB8AC3E}">
        <p14:creationId xmlns:p14="http://schemas.microsoft.com/office/powerpoint/2010/main" val="1674935068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8DC4E13-6A18-467D-A99C-1B85A1834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F2AC3B-35BC-47B5-AF4E-98FE822B8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47650"/>
            <a:ext cx="11468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文献精读 1 原文截图：论文首页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2625BE-13F1-45FF-A7AA-1043F63E8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47700"/>
            <a:ext cx="11468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80c71f438c4a9c"/>
          <a:stretch xmlns:a="http://schemas.openxmlformats.org/drawingml/2006/main"/>
        </p:blipFill>
        <p:spPr>
          <a:xfrm xmlns:a="http://schemas.openxmlformats.org/drawingml/2006/main">
            <a:off x="1316389" y="876300"/>
            <a:ext cx="4015673" cy="5334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60C157-9C64-4063-A07B-7889374D1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29350"/>
            <a:ext cx="581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DDD"/>
          </a:solidFill>
          <a:ln xmlns:a="http://schemas.openxmlformats.org/drawingml/2006/main" w="0">
            <a:solidFill>
              <a:srgbClr val="DDDDD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96BFAA-F845-4DCC-B949-5C5940E2C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0"/>
            <a:ext cx="581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675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Nakano et al. 2025, Nature Communications 首页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07E4C6-5ED0-4824-A781-429CE5012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895350"/>
            <a:ext cx="5143500" cy="442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这页用于定位论文基本信息：研究对象是 Induro reverse transcriptase（Induro 反转录酶）在 tRNA-seq 中的读穿能力、错配模式与修饰识别性能。PPT 后续讨论的“Induro 指纹库”主要来自该论文对不同 tRNA 修饰的实测响应。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053429-2155-4828-AB53-0178C642E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476875"/>
            <a:ext cx="5143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阅读时要把它看作方法学论文：核心不是某个样本的修饰水平，而是反转录酶本身如何把修饰转化为可观测测序信号。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76650E-4813-483A-9F0C-90CD323C1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72250"/>
            <a:ext cx="1123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defRPr>
            </a:pPr>
            <a:r>
              <a:rPr sz="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mim-tRNAseq / Induro-tRNAseq | 16</a:t>
            </a:r>
          </a:p>
        </p:txBody>
      </p:sp>
    </p:spTree>
    <p:extLst>
      <p:ext uri="{BB962C8B-B14F-4D97-AF65-F5344CB8AC3E}">
        <p14:creationId xmlns:p14="http://schemas.microsoft.com/office/powerpoint/2010/main" val="2123183888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F97E1E5-309E-4294-ABBC-79906F097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DA0EF7-3384-4586-A2D9-1011A3F90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47650"/>
            <a:ext cx="11468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文献精读 1 原文图：Induro-tRNAseq 工作流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A939E3-FAD3-47BB-80A6-9C12C53CB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47700"/>
            <a:ext cx="11468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169c5207f54770"/>
          <a:stretch xmlns:a="http://schemas.openxmlformats.org/drawingml/2006/main"/>
        </p:blipFill>
        <p:spPr>
          <a:xfrm xmlns:a="http://schemas.openxmlformats.org/drawingml/2006/main">
            <a:off x="1316389" y="876300"/>
            <a:ext cx="4015673" cy="5334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961134-B283-4127-B5B3-2E670BE58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29350"/>
            <a:ext cx="581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DDD"/>
          </a:solidFill>
          <a:ln xmlns:a="http://schemas.openxmlformats.org/drawingml/2006/main" w="0">
            <a:solidFill>
              <a:srgbClr val="DDDDD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E89223-B65E-480F-B4D8-C5AF37690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0"/>
            <a:ext cx="581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675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Fig. 1 工作流与总体设计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703039-FF46-4341-A632-D433DF19A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895350"/>
            <a:ext cx="5143500" cy="442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该图展示 Induro-tRNAseq 的基本流程：tRNA 提取、接头连接或建库、Induro 反转录、测序、比对和错误/停顿信号分析。它说明 Induro 的价值在于提高困难模板上的 cDNA 延伸能力，从而把 tRNA 修饰从“阻断测序”的问题转化为“可读出的错误模式”。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9084B1-FEF6-4B10-B7ED-48C608C39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476875"/>
            <a:ext cx="5143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关注 readthrough（读穿）、RT stop（反转录停顿）和 misincorporation（错配掺入）三类信号如何进入后续分析。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50D094-E7A8-4CFC-8675-80A3222B3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72250"/>
            <a:ext cx="1123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defRPr>
            </a:pPr>
            <a:r>
              <a:rPr sz="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mim-tRNAseq / Induro-tRNAseq | 17</a:t>
            </a:r>
          </a:p>
        </p:txBody>
      </p:sp>
    </p:spTree>
    <p:extLst>
      <p:ext uri="{BB962C8B-B14F-4D97-AF65-F5344CB8AC3E}">
        <p14:creationId xmlns:p14="http://schemas.microsoft.com/office/powerpoint/2010/main" val="1491648705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5F1DFFD-77A1-45CF-A3E5-220505C0E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EBA94A-23C6-4324-A0FC-1C80DA3BE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47650"/>
            <a:ext cx="11468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文献精读 1 原文图：读穿与停顿信号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AB61D4-EE0E-409C-85F6-69E7C0E0C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47700"/>
            <a:ext cx="11468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eb88889ec8458f"/>
          <a:stretch xmlns:a="http://schemas.openxmlformats.org/drawingml/2006/main"/>
        </p:blipFill>
        <p:spPr>
          <a:xfrm xmlns:a="http://schemas.openxmlformats.org/drawingml/2006/main">
            <a:off x="1316389" y="876300"/>
            <a:ext cx="4015673" cy="5334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FA216C-9844-4E5A-A110-881562E92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29350"/>
            <a:ext cx="581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DDD"/>
          </a:solidFill>
          <a:ln xmlns:a="http://schemas.openxmlformats.org/drawingml/2006/main" w="0">
            <a:solidFill>
              <a:srgbClr val="DDDDD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B19543-6235-42F3-A487-D351BEDB3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0"/>
            <a:ext cx="581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675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Fig. 3 读穿、停顿和错配特征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4336C2-629C-4240-BFE4-5744DF914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895350"/>
            <a:ext cx="5143500" cy="442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这组图是理解 Induro 指纹库的关键。多数 RT-readable tRNA modifications（反转录可读修饰）在 Induro 条件下表现为修饰位点附近的错配，而不是强烈 RT stop。少数修饰仍以停顿为主，说明“读穿增强”并不等于“所有修饰都无阻碍通过”。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6357D9-4B30-43BC-82F6-2A2842288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476875"/>
            <a:ext cx="5143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这也是比较 mim-tRNAseq 与 Induro-tRNAseq 时最重要的差异：mim 更像规则库，Induro 更像酶学响应图谱。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B52ECA-B90F-4CD9-BB57-FD0139666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72250"/>
            <a:ext cx="1123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defRPr>
            </a:pPr>
            <a:r>
              <a:rPr sz="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mim-tRNAseq / Induro-tRNAseq | 18</a:t>
            </a:r>
          </a:p>
        </p:txBody>
      </p:sp>
    </p:spTree>
    <p:extLst>
      <p:ext uri="{BB962C8B-B14F-4D97-AF65-F5344CB8AC3E}">
        <p14:creationId xmlns:p14="http://schemas.microsoft.com/office/powerpoint/2010/main" val="596343819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D75E6B1-F36F-418B-9F3C-2460E9553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283FF8-9268-4094-B4C5-6BDD34017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47650"/>
            <a:ext cx="11468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文献精读 1 原文图：反应条件影响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DFF4D0-7DEA-488C-98A6-4DA64E67D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47700"/>
            <a:ext cx="11468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faaa1d51914369"/>
          <a:stretch xmlns:a="http://schemas.openxmlformats.org/drawingml/2006/main"/>
        </p:blipFill>
        <p:spPr>
          <a:xfrm xmlns:a="http://schemas.openxmlformats.org/drawingml/2006/main">
            <a:off x="1316389" y="876300"/>
            <a:ext cx="4015673" cy="5334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19AE06-0DAA-4C59-BBA9-E8F3E0A62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29350"/>
            <a:ext cx="581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DDD"/>
          </a:solidFill>
          <a:ln xmlns:a="http://schemas.openxmlformats.org/drawingml/2006/main" w="0">
            <a:solidFill>
              <a:srgbClr val="DDDDD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B70726-490A-4921-9D2F-73939E6B9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0"/>
            <a:ext cx="581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675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Fig. 4 温度、时间、离子环境等参数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5FBEE0-E8FE-4F87-ACB4-C0281BBB1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895350"/>
            <a:ext cx="5143500" cy="442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该图强调反转录条件会塑造指纹。温度、反应时间、Mg2+/Mn2+ 条件会影响 readthrough 和 RT stop 的平衡，因此 Induro 指纹不是只由修饰化学结构决定，也受酶和反应环境共同决定。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AF5A65-7EFC-4EC5-872F-FD2DE128C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476875"/>
            <a:ext cx="5143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做实验时同一批样本必须保持建库和反转录条件一致，否则“修饰差异”可能混入技术条件差异。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AD55DC-F67D-4A38-953A-CE9231187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72250"/>
            <a:ext cx="1123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defRPr>
            </a:pPr>
            <a:r>
              <a:rPr sz="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mim-tRNAseq / Induro-tRNAseq | 19</a:t>
            </a:r>
          </a:p>
        </p:txBody>
      </p:sp>
    </p:spTree>
    <p:extLst>
      <p:ext uri="{BB962C8B-B14F-4D97-AF65-F5344CB8AC3E}">
        <p14:creationId xmlns:p14="http://schemas.microsoft.com/office/powerpoint/2010/main" val="1154911358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9E3FFB6-D632-4F58-98E3-3E72C3E41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3E9542-A6BB-401D-AECF-0FDD03797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47650"/>
            <a:ext cx="11468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文献精读 1 原文图：Induro 与 TGIRT 对比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DF4D4B-1010-4E44-BA05-2E0E6B9DA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47700"/>
            <a:ext cx="11468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4284b760874112"/>
          <a:stretch xmlns:a="http://schemas.openxmlformats.org/drawingml/2006/main"/>
        </p:blipFill>
        <p:spPr>
          <a:xfrm xmlns:a="http://schemas.openxmlformats.org/drawingml/2006/main">
            <a:off x="1316389" y="876300"/>
            <a:ext cx="4015673" cy="5334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986D31-069E-4C30-B223-36381551E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29350"/>
            <a:ext cx="581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DDD"/>
          </a:solidFill>
          <a:ln xmlns:a="http://schemas.openxmlformats.org/drawingml/2006/main" w="0">
            <a:solidFill>
              <a:srgbClr val="DDDDD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F0762B-162A-4CA1-8844-41C39B8C4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0"/>
            <a:ext cx="581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675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Fig. 5 Induro 与 TGIRT 比较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FEE6DE-8212-41A3-AECB-029E38776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895350"/>
            <a:ext cx="5143500" cy="442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该图用于说明 Induro 并非简单替代 TGIRT，而是在不同修饰和位点上有不同偏好。某些修饰 Induro 读穿更好，某些修饰 TGIRT 或特定离子条件更有利。因此选择反转录酶时要根据目标修饰决定。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D5132A-0ACE-4515-898C-8EB6A6375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476875"/>
            <a:ext cx="5143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对 tRNA 研究的启示是：如果目标是 m1A、m1G、m3C 等可读修饰，可以优先比较两种 RT 的错配谱，而不是只看总读数。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A8C0E3-614E-4C22-86F6-C6AFB81F4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72250"/>
            <a:ext cx="1123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defRPr>
            </a:pPr>
            <a:r>
              <a:rPr sz="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mim-tRNAseq / Induro-tRNAseq | 20</a:t>
            </a:r>
          </a:p>
        </p:txBody>
      </p:sp>
    </p:spTree>
    <p:extLst>
      <p:ext uri="{BB962C8B-B14F-4D97-AF65-F5344CB8AC3E}">
        <p14:creationId xmlns:p14="http://schemas.microsoft.com/office/powerpoint/2010/main" val="1351824750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A0944A2-D98E-47BE-A768-8CB79A030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061398-3451-469C-8093-4D6B0FDBB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47650"/>
            <a:ext cx="11468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文献精读 1 原文图：组织/样本适用性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A0D55A-78A7-4E61-A521-CFB694D87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47700"/>
            <a:ext cx="11468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86a0a3a2024289"/>
          <a:stretch xmlns:a="http://schemas.openxmlformats.org/drawingml/2006/main"/>
        </p:blipFill>
        <p:spPr>
          <a:xfrm xmlns:a="http://schemas.openxmlformats.org/drawingml/2006/main">
            <a:off x="1316389" y="876300"/>
            <a:ext cx="4015673" cy="5334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0F05D1-CEDC-4A50-8473-09E2ED77A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29350"/>
            <a:ext cx="581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DDD"/>
          </a:solidFill>
          <a:ln xmlns:a="http://schemas.openxmlformats.org/drawingml/2006/main" w="0">
            <a:solidFill>
              <a:srgbClr val="DDDDD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CD3482-961A-4D58-846A-BCD1D8BE8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0"/>
            <a:ext cx="581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675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Fig. 6 不同组织或样本中的应用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09BA6D-012F-4F32-A503-31AE112B0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895350"/>
            <a:ext cx="5143500" cy="442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该图展示方法可用于真实生物样本，说明 Induro-tRNAseq 不只是合成模板或标准品验证。它支持后续将该方法用于不同组织、发育阶段或疾病状态中的 tRNA 修饰研究。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930675-FCFC-4103-B475-6B1089216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476875"/>
            <a:ext cx="5143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不过这些结果仍需与样本质量、tRNA 表达量和同工受体 tRNA（isodecoder）区分能力一起解释。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2C6CA0-49EA-48EC-948E-1CF19466D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72250"/>
            <a:ext cx="1123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defRPr>
            </a:pPr>
            <a:r>
              <a:rPr sz="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mim-tRNAseq / Induro-tRNAseq | 21</a:t>
            </a:r>
          </a:p>
        </p:txBody>
      </p:sp>
    </p:spTree>
    <p:extLst>
      <p:ext uri="{BB962C8B-B14F-4D97-AF65-F5344CB8AC3E}">
        <p14:creationId xmlns:p14="http://schemas.microsoft.com/office/powerpoint/2010/main" val="1165232033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CA6EC82-B18A-4F93-A1BC-06B4A6F8B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48A087-0012-4F94-912C-81749BD08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47650"/>
            <a:ext cx="11468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文献精读 1 原文图：模型与方法细节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15B656-8461-42F0-8B75-58ADAB3B3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47700"/>
            <a:ext cx="11468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3b3def2d0a4b6d"/>
          <a:stretch xmlns:a="http://schemas.openxmlformats.org/drawingml/2006/main"/>
        </p:blipFill>
        <p:spPr>
          <a:xfrm xmlns:a="http://schemas.openxmlformats.org/drawingml/2006/main">
            <a:off x="1316389" y="876300"/>
            <a:ext cx="4015673" cy="5334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2E6818-2748-436C-A3FD-ED4992BDC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29350"/>
            <a:ext cx="581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DDD"/>
          </a:solidFill>
          <a:ln xmlns:a="http://schemas.openxmlformats.org/drawingml/2006/main" w="0">
            <a:solidFill>
              <a:srgbClr val="DDDDD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ACE177-BA73-4D4E-AB53-1DD7B4631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0"/>
            <a:ext cx="581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675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Fig. 7 模型化解释与综合图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983313-37F2-4351-9D4F-7D64F0E86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895350"/>
            <a:ext cx="5143500" cy="442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该图把前面实验结果收束为机制模型：Induro 通过提高读穿让更多修饰位点被测到，同时保留修饰诱导的错配或停顿信号。也就是说，指纹库的本质是“修饰化学结构、酶活性和反应条件”的组合响应。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45F62A-91B7-40AD-A471-81949BB5A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476875"/>
            <a:ext cx="5143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后续做自己的 tRNA-seq 时，建议先用标准品或已知修饰位点建立本实验体系的本地指纹。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265FB1-90EB-4136-A2B9-2498A9705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72250"/>
            <a:ext cx="1123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defRPr>
            </a:pPr>
            <a:r>
              <a:rPr sz="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mim-tRNAseq / Induro-tRNAseq | 22</a:t>
            </a:r>
          </a:p>
        </p:txBody>
      </p:sp>
    </p:spTree>
    <p:extLst>
      <p:ext uri="{BB962C8B-B14F-4D97-AF65-F5344CB8AC3E}">
        <p14:creationId xmlns:p14="http://schemas.microsoft.com/office/powerpoint/2010/main" val="266809651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B14247C-A740-4724-888F-AAA6DB3EA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8BEE3A-A1FA-4293-9D86-0134F393A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47650"/>
            <a:ext cx="11468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文献精读 1 原文截图：方法部分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444116-F942-4CF3-B390-FD260B0BB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47700"/>
            <a:ext cx="11468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f345e08d6c4180"/>
          <a:stretch xmlns:a="http://schemas.openxmlformats.org/drawingml/2006/main"/>
        </p:blipFill>
        <p:spPr>
          <a:xfrm xmlns:a="http://schemas.openxmlformats.org/drawingml/2006/main">
            <a:off x="1316389" y="876300"/>
            <a:ext cx="4015673" cy="5334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3E3E5B-42D0-46AB-8D37-BF1889276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29350"/>
            <a:ext cx="581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DDD"/>
          </a:solidFill>
          <a:ln xmlns:a="http://schemas.openxmlformats.org/drawingml/2006/main" w="0">
            <a:solidFill>
              <a:srgbClr val="DDDDD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7F70C2-21C1-4A8D-9ADC-0D62B3958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0"/>
            <a:ext cx="581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675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Methods 建库、反转录与数据分析方法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093419-6D66-4AEC-86BF-88E8DD6E5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895350"/>
            <a:ext cx="5143500" cy="442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方法部分决定结果能否复现。需要重点记录 RNA 输入量、接头方案、反转录温度和时间、使用的二价离子、比对策略、错配统计窗口、RT stop 定义和过滤阈值。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5D7F48-DE59-4C16-9FA3-5B7EA3585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476875"/>
            <a:ext cx="5143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如果复用论文指纹库，必须确认自己的参数与论文足够接近；如果参数不同，应重新校准。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F614E7-E4BE-46C1-A384-377E34586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72250"/>
            <a:ext cx="1123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defRPr>
            </a:pPr>
            <a:r>
              <a:rPr sz="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mim-tRNAseq / Induro-tRNAseq | 23</a:t>
            </a:r>
          </a:p>
        </p:txBody>
      </p:sp>
    </p:spTree>
    <p:extLst>
      <p:ext uri="{BB962C8B-B14F-4D97-AF65-F5344CB8AC3E}">
        <p14:creationId xmlns:p14="http://schemas.microsoft.com/office/powerpoint/2010/main" val="2048573280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41A3B64-594D-43BB-A940-07B8934A0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EF2473-E9AA-4FA8-8BC2-663F005AA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47650"/>
            <a:ext cx="11468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1. 背景知识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6B5140-6E90-4754-B5D2-EAA081A33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47700"/>
            <a:ext cx="11468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EBA3E4-07CA-49E1-8168-2CF606D19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11049000" cy="542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tRNA 是修饰最密集的 RNA 类型之一。成熟 tRNA 中约 10-20% 的核苷酸可带有转录后修饰（post-transcriptional modifications）。这些修饰大致分两类：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1. 反密码子茎环修饰（ASL modifications）：位于 32、34、37 等位点，直接影响密码子-反密码子配对、解码准确性、移码抑制和翻译效率。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2. tRNA 主体修饰（body modifications）：位于 9、20、26、58 等位点，更多影响 tRNA L 形三级结构、折叠稳定性、成熟和蛋白因子识别。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Illumina tRNA-seq 的核心难题是 RT 很难穿过高度修饰、结构紧密的 tRNA。不同 RT 面对同一修饰时可能有三种行为：停下来、错配读过去、直接读过去。这个行为就是“RT signature”。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已有 TGIRT 被用于 mim-tRNAseq，Marathon 被用于 tRNA structure-seq/ALL-tRNAseq。作者认为目前仍缺少对每类修饰的系统 RT signature 定义，因此引入新的 group-II intron RT：Induro。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0F47DB-3192-49BB-BE43-961699E8D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72250"/>
            <a:ext cx="1123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defRPr>
            </a:pPr>
            <a:r>
              <a:rPr sz="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mim-tRNAseq / Induro-tRNAseq | 24</a:t>
            </a:r>
          </a:p>
        </p:txBody>
      </p:sp>
    </p:spTree>
    <p:extLst>
      <p:ext uri="{BB962C8B-B14F-4D97-AF65-F5344CB8AC3E}">
        <p14:creationId xmlns:p14="http://schemas.microsoft.com/office/powerpoint/2010/main" val="597904300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6E23855-337C-45C5-A8BD-D0C9CFB3C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87DE0C-4252-4CFD-BDE8-C56195FC1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47650"/>
            <a:ext cx="11468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2. 研究逻辑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E423A6-813A-4CE7-8E0B-B29EA6F83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47700"/>
            <a:ext cx="11468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821983-2EEE-4D89-A853-6A82313C6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11049000" cy="542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论文的逻辑链如下：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1. 先建立一个可多重化（multiplexing）的 Induro-tRNAseq 工作流。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2. 验证该工作流能稳定测 tRNA 丰度、3' CCA 端完整性和 tRNA charging。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3. 系统优化 Induro 反转录温度和时间，找出读穿条件。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4. 在已知 RT-readable tRNA 修饰上建立 Induro 的 RT stop/misincorporation 图谱。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5. 与 TGIRT/mim-tRNAseq 数据并行比较，判断二者在每类修饰上的相同与差异。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6. 把方法应用到 5 种人类细胞系和 3 种小鼠组织，寻找 tRNA 修饰的组织/细胞型变化。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7. 得出一个概念模型：ASL 中直接参与遗传密码读取的修饰更稳定，tRNA body 中参与结构适配的修饰更可变。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5A664B-6F70-4DDD-AEAF-2922D384C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72250"/>
            <a:ext cx="1123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defRPr>
            </a:pPr>
            <a:r>
              <a:rPr sz="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mim-tRNAseq / Induro-tRNAseq | 25</a:t>
            </a:r>
          </a:p>
        </p:txBody>
      </p:sp>
    </p:spTree>
    <p:extLst>
      <p:ext uri="{BB962C8B-B14F-4D97-AF65-F5344CB8AC3E}">
        <p14:creationId xmlns:p14="http://schemas.microsoft.com/office/powerpoint/2010/main" val="143729826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51A4464-B918-496F-BB05-54D28625B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035D56-43EA-440E-90FA-1995F2318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47650"/>
            <a:ext cx="11468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3. 实验方法 (1/2)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DEEC63-11F3-4891-B523-732DBB14C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47700"/>
            <a:ext cx="11468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EAA974-69BB-46E7-9DD6-658434BFE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11049000" cy="542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样本与输入：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- 人类细胞系：HEK293T、K562、HeLa、SH-SY5Y、HAP1。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- 小鼠组织：小脑、肾、脾等。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- 输入可为总 RNA（total RNA）或凝胶纯化 tRNA。作者发现总 RNA 输入更简便且效果相近，因此工作流主要使用总 RNA。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文库构建流程：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1. tRNA charging 测定：对未氨酰化 tRNA 的 2',3'-羟基进行高碘酸氧化（periodate oxidation），再通过 β-消除（β-elimination）去除 A76，形成 CC 端；氨酰化 tRNA 先受保护，去酰化后保留 CCA 端。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2. T4 PNK 修复 3' 端。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3. T4 RNA ligase 2（T4 Rnl2）在 DNA splint 辅助下连接带 barcode 的 3' adapter。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4. Induro RT 反转录，标准工作流为 42 °C 过夜 12-16 h。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5. cDNA 凝胶纯化、Circligase 环化、Q5 PCR 扩增。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6. Illumina NextSeq 500 进行 2×75 paired-end sequencing。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优化与验证：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- 温度：25、37、42、55 °C。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- 时间：1、2、16 h。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- 金属离子：Mg2+ 与 Mn2+。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- 定量校准：用含 0%、25%、75%、100% m1G9 的 mt-Leu(TAA) 合成/重构 tRNA 进行线性校准。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- 质谱补证：用 LC-MS/MS 验证小鼠组织 acp3U 水平。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数据分析：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5837CD-FA92-4071-B19F-094EC8095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72250"/>
            <a:ext cx="1123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defRPr>
            </a:pPr>
            <a:r>
              <a:rPr sz="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mim-tRNAseq / Induro-tRNAseq | 26</a:t>
            </a:r>
          </a:p>
        </p:txBody>
      </p:sp>
    </p:spTree>
    <p:extLst>
      <p:ext uri="{BB962C8B-B14F-4D97-AF65-F5344CB8AC3E}">
        <p14:creationId xmlns:p14="http://schemas.microsoft.com/office/powerpoint/2010/main" val="1145673950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CA46E3D-C198-4551-935D-876E34B30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D98A21-E0C4-4F29-BB36-7BF22BCA3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47650"/>
            <a:ext cx="11468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3. 实验方法 (2/2)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1D383E-10DB-4FC3-8AED-CB401F068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47700"/>
            <a:ext cx="11468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F0FDEF-A51D-4A13-8E1D-50A525AB3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11049000" cy="542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- PEAR 合并 paired-end reads。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- cutadapt 去 barcode/adaptor，并去除 RT 引入的 5' RN 两个核苷酸。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- 用 mimseq v1.2 将人类 reads 映射至 hg38 tRNA 参考，小鼠映射至 mm39。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- GSNAP 比对成熟 tRNA representative cluster。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- mismatch rate：目标位点四种错配碱基计数之和 / 总 reads。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- RT stop frequency：该位点 stops / 该位点总 reads。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- readthrough：1 - RT stop ratio。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- 对每个修饰，RT stop 取 -1、0、+1 三核苷酸窗口最大值，降低误估。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- 已知和未知修饰候选：在已知位置 9、20、26、32、34、37、58 以及非注释位置，RT stop 或 misincorporation &gt;10%。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- 差异丰度：DESeq2 归一化后计算 Pearson correlation。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- 组织/细胞差异：按 tRNA 表达量加权的 misincorporation difference。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- 统计：两侧 Wilcoxon test、Student's t-test 等。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DD539C-B6A3-46A3-9990-EC07D9116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72250"/>
            <a:ext cx="1123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defRPr>
            </a:pPr>
            <a:r>
              <a:rPr sz="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mim-tRNAseq / Induro-tRNAseq | 27</a:t>
            </a:r>
          </a:p>
        </p:txBody>
      </p:sp>
    </p:spTree>
    <p:extLst>
      <p:ext uri="{BB962C8B-B14F-4D97-AF65-F5344CB8AC3E}">
        <p14:creationId xmlns:p14="http://schemas.microsoft.com/office/powerpoint/2010/main" val="110925716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1396B22-EE46-4FC4-B385-49173EFE3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FE1ACA-A791-4F5E-B406-17B048B39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47650"/>
            <a:ext cx="11468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4. 主要结果 (1/2)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2995D6-06EA-43D8-92B9-0FE72D482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47700"/>
            <a:ext cx="11468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765F34-67C0-4501-ABE7-E1FE6F9E1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11049000" cy="542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结果 1：Induro-tRNAseq 工作流可靠。  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Induro 与 TGIRT/mim-tRNAseq 测得的 cytosolic tRNA 和 mitochondrial tRNA 丰度整体高度相关。Induro 对 mt-Ser(GCT) 的检测优于 TGIRT 工作流。3' CCA 完整性较高，说明流程对 tRNA 降解较少。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结果 2：Induro 读穿强烈依赖温度和时间。  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55 °C 是厂家推荐的通用条件，但对 tRNA 修饰读穿并不理想，读穿约 10% 且随时间不改善。37 °C 过夜最高可到约 90% 读穿，42 °C 过夜约 60%。作者最终选择 42 °C 过夜，因为 42 °C 有完整时间梯度数据，且检测到的潜在修饰数量更多。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结果 3：Induro 的读穿提升主要来自减少 RT stop，而不是改变 misincorporation。  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作者发现 misincorporation 频率在时间过程中基本稳定，readthrough 增加来自 RT stops 下降。这说明 misincorporation 更像 Induro 对特定修饰的内在指纹，而 RT stop 更受温度、时间和结构环境调控。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结果 4：不同修饰的 Induro 指纹不同。  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多数 RT-readable 修饰以 0 位 misincorporation 为主，RT stop 较低。I34 几乎只有错配、没有停顿。acp3U20a 和 ms2i6A37/ms2t6A37 是主要例外，常在修饰后 +1 位发生 RT stop。m3C32 可被 Induro 读穿，这是方法学亮点。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E2427B-6F67-49BD-BEA0-CED938F95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72250"/>
            <a:ext cx="1123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defRPr>
            </a:pPr>
            <a:r>
              <a:rPr sz="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mim-tRNAseq / Induro-tRNAseq | 28</a:t>
            </a:r>
          </a:p>
        </p:txBody>
      </p:sp>
    </p:spTree>
    <p:extLst>
      <p:ext uri="{BB962C8B-B14F-4D97-AF65-F5344CB8AC3E}">
        <p14:creationId xmlns:p14="http://schemas.microsoft.com/office/powerpoint/2010/main" val="1845418845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FB909D6-1F32-4074-9554-1C0E2B823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3368D1-63E6-43FD-9123-C9E8110E4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47650"/>
            <a:ext cx="11468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4. 主要结果 (2/2)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B0A025-0317-41F2-8E16-A294A5336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47700"/>
            <a:ext cx="11468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4A274A-37BF-4A9C-B776-75C5DE847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11049000" cy="542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结果 5：同一化学修饰在不同位置有不同酶学行为。  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m1A9 与 m1A58 不同，m1G9 与 m1G37 也不同。这说明不能只按“修饰名”解释测序信号，还必须考虑 tRNA 局部结构环境。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结果 6：Mn2+ 主要改善 ms2i6A37/ms2t6A37。  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以 Mn2+ 替代 Mg2+ 后，Induro 对 ms2i6A37/ms2t6A37 的 misincorporation 增加、RT stop 降低。此外，在低错配阈值下，m7G 检出增强；但 Ψ 仍不能可靠检出。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结果 7：Induro 与 TGIRT 总体相似，但可互补。  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两者对多数修饰的 misincorporation 率和可检测注释修饰数量相近。差异主要包括：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- acp3U20：Induro RT stop 强于 TGIRT。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- ms2i6A37/ms2t6A37：Induro RT stop 弱于 TGIRT。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- yW37：read identity 不同，Induro 主要读为 G，TGIRT 主要读为 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结果 8：tRNA 修饰变化具有协调性。  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ASL 中参与解码的修饰在不同组织和细胞中更稳定；tRNA body 中稳定 L 形结构的修饰更可变。作者据此提出：tRNA 修饰在满足翻译供应-需求平衡和蛋白稳态（protein homeostasis）中具有协调机制。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D845DA-3EF7-43F1-A440-001984EE7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72250"/>
            <a:ext cx="1123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defRPr>
            </a:pPr>
            <a:r>
              <a:rPr sz="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mim-tRNAseq / Induro-tRNAseq | 29</a:t>
            </a:r>
          </a:p>
        </p:txBody>
      </p:sp>
    </p:spTree>
    <p:extLst>
      <p:ext uri="{BB962C8B-B14F-4D97-AF65-F5344CB8AC3E}">
        <p14:creationId xmlns:p14="http://schemas.microsoft.com/office/powerpoint/2010/main" val="140714693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A962B7A-1B86-4936-BC9E-86C2AE242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75BFBD-5151-4BC8-8F8D-0856B877F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47650"/>
            <a:ext cx="11468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5. 讨论发散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D68F63-046C-4695-804E-48ED78A44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47700"/>
            <a:ext cx="11468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4C1D76-4950-4188-BB09-B5FC43870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11049000" cy="542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这篇论文把 tRNA 修饰研究从“一个错配等于一个修饰”推进到“同一修饰在不同位置、不同 RT、不同反应条件下有不同 signature”。它给 tRNA 修饰研究带来的发散方向包括：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1. RT 选择本身可以成为实验设计变量。不要默认厂家推荐温度就是 tRNA 修饰测序最佳条件。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2. Induro 与 TGIRT 可作为双 RT 互证体系：若两个 RT 在同一位点给出符合预期但不同的 read identity/RT stop 图谱，修饰预测更可信。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3. 对低信号修饰，RT stop 与 misincorporation 要同时看，尤其是 acp3U 和 A37 thio/carbamoyl 修饰。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4. tRNA body 修饰的组织差异可能不是噪音，而是细胞型对 tRNA 结构适配的调节。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5. ASL 修饰的稳定性提示这些位点更可能是核心翻译稳态需求，适合做跨组织/跨物种保守性研究。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276DC7-DDF3-416C-BB6D-0DBB4CFAE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72250"/>
            <a:ext cx="1123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defRPr>
            </a:pPr>
            <a:r>
              <a:rPr sz="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mim-tRNAseq / Induro-tRNAseq | 30</a:t>
            </a:r>
          </a:p>
        </p:txBody>
      </p:sp>
    </p:spTree>
    <p:extLst>
      <p:ext uri="{BB962C8B-B14F-4D97-AF65-F5344CB8AC3E}">
        <p14:creationId xmlns:p14="http://schemas.microsoft.com/office/powerpoint/2010/main" val="443364607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E6440C9-8F5B-49C7-BF71-346E32A53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D78664-CA8C-4998-8C58-D1E1CE503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47650"/>
            <a:ext cx="11468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6. 局限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8BE76C-5FC9-48AA-A3E2-0D039E83C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47700"/>
            <a:ext cx="11468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2439D8-6966-42E2-9CC3-03240E115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11049000" cy="542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1. 非 Watson-Crick face 修饰仍难以直接读出，如 Ψ、D、m5C、T、τm5U。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2. 未注释修饰的化学身份不能仅靠 RT signature 最终确认，仍需 LC-MS/MS 或化学处理验证。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3. Induro 序列信息不可用，限制了对其结构机制的深入工程化改造。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4. 主要样本是细胞系和少数小鼠组织，生殖细胞、早期胚胎、精子 tsRNA 并不是本论文主体。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5. &gt;10% 阈值适合高置信筛选，但可能漏掉低丰度或低 stoichiometry 修饰。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442497-3E5A-4015-A5D3-2D40C34C6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72250"/>
            <a:ext cx="1123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defRPr>
            </a:pPr>
            <a:r>
              <a:rPr sz="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mim-tRNAseq / Induro-tRNAseq | 31</a:t>
            </a:r>
          </a:p>
        </p:txBody>
      </p:sp>
    </p:spTree>
    <p:extLst>
      <p:ext uri="{BB962C8B-B14F-4D97-AF65-F5344CB8AC3E}">
        <p14:creationId xmlns:p14="http://schemas.microsoft.com/office/powerpoint/2010/main" val="1238578103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E647582-8AFA-46D6-954D-F8A51BBBE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616166-F239-43F8-99B0-C0C6EC3A3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47650"/>
            <a:ext cx="11468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7. 对 tRNA 研究的提示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CDA8E3-4DC4-472A-A88C-7A3599E38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47700"/>
            <a:ext cx="11468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353B44-2A6B-475A-AB26-9B198B280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11049000" cy="542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如果我们要做 tRNA 修饰研究，Induro-tRNAseq 适合用于：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- 建立 tRNA 修饰位点层面的 RT signature。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- 比较不同细胞状态中 ASL 与 non-ASL 修饰的协调变化。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- 重点追踪 I34、m1A58、m1G37、m3C32、acp3U20、ms2i6A/ms2t6A37 等功能位点。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- 与 TGIRT/mim-tRNAseq 联合使用，提高修饰判读置信度。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- 对不能 RT-readable 的修饰，提前设计 LC-MS/MS、化学处理测序或抗体/酶学验证。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CAC922-80C8-4D74-9F54-F74A1FB16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72250"/>
            <a:ext cx="1123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defRPr>
            </a:pPr>
            <a:r>
              <a:rPr sz="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mim-tRNAseq / Induro-tRNAseq | 32</a:t>
            </a:r>
          </a:p>
        </p:txBody>
      </p:sp>
    </p:spTree>
    <p:extLst>
      <p:ext uri="{BB962C8B-B14F-4D97-AF65-F5344CB8AC3E}">
        <p14:creationId xmlns:p14="http://schemas.microsoft.com/office/powerpoint/2010/main" val="522099353"/>
      </p:ext>
    </p:extLst>
  </p:cSld>
</p:sld>
</file>

<file path=ppt/slides/slide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C0A6A52-FE48-4D38-AA8B-9CF28982C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BD8B08-3D97-4382-ADBC-3A6FB37CE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47650"/>
            <a:ext cx="11468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七、文献精读 2：Chen et al. 2016,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249D88-450B-489A-9421-0D7FD596F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47700"/>
            <a:ext cx="11468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3229E9-DBB0-4BCE-BF4B-80E891ADA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43000"/>
            <a:ext cx="10715625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题目：Sperm tsRNAs contribute to intergenerational inheritance of an acquired metabolic disorder  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类型：实验性论文  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主题：高脂饮食（high-fat diet, HFD）父代小鼠的精子 tsRNA 可把代谢异常信息传递给 F1 后代，并伴随 tsRNA 表达和 RNA 修饰变化。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4C5F42-75A7-4897-8DD4-D3D13B3F7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72250"/>
            <a:ext cx="1123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defRPr>
            </a:pPr>
            <a:r>
              <a:rPr sz="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mim-tRNAseq / Induro-tRNAseq | 33</a:t>
            </a:r>
          </a:p>
        </p:txBody>
      </p:sp>
    </p:spTree>
    <p:extLst>
      <p:ext uri="{BB962C8B-B14F-4D97-AF65-F5344CB8AC3E}">
        <p14:creationId xmlns:p14="http://schemas.microsoft.com/office/powerpoint/2010/main" val="1858804335"/>
      </p:ext>
    </p:extLst>
  </p:cSld>
</p:sld>
</file>

<file path=ppt/slides/slide3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0F4A965-029F-4BA0-A6A9-2F3253CBD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C96C74-852A-4F51-B8AB-235C05BC4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47650"/>
            <a:ext cx="11468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文献精读 2 原文截图：论文首页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66D9B8-2BED-4FD5-88B2-1B24C25DD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47700"/>
            <a:ext cx="11468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0116f75894441b"/>
          <a:stretch xmlns:a="http://schemas.openxmlformats.org/drawingml/2006/main"/>
        </p:blipFill>
        <p:spPr>
          <a:xfrm xmlns:a="http://schemas.openxmlformats.org/drawingml/2006/main">
            <a:off x="1228725" y="876300"/>
            <a:ext cx="4191000" cy="5334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7B6AA0-5A6B-4E17-AC5C-093755F61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29350"/>
            <a:ext cx="581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DDD"/>
          </a:solidFill>
          <a:ln xmlns:a="http://schemas.openxmlformats.org/drawingml/2006/main" w="0">
            <a:solidFill>
              <a:srgbClr val="DDDDD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8C3286-9D0A-414C-93DF-2F79479DB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0"/>
            <a:ext cx="581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675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Chen et al. 2016, Science 首页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98327A-58C5-4ADA-BA30-38B3D7C37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895350"/>
            <a:ext cx="5143500" cy="442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该论文研究精子 RNA 与获得性性状跨代遗传（epigenetic inheritance of acquired traits）的关系。它不是 tRNA 测序方法学论文，但为“tRNA 片段和修饰可作为生物学信息载体”提供了重要背景。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6C7BEB-C752-4AB7-9FD1-6007C00BA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476875"/>
            <a:ext cx="5143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阅读重点是实验逻辑：环境暴露如何改变精子小 RNA，精子 RNA 如何影响早期胚胎和后代表型。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06C6E3-5F5C-4E1A-89B0-A80B8961D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72250"/>
            <a:ext cx="1123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defRPr>
            </a:pPr>
            <a:r>
              <a:rPr sz="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mim-tRNAseq / Induro-tRNAseq | 34</a:t>
            </a:r>
          </a:p>
        </p:txBody>
      </p:sp>
    </p:spTree>
    <p:extLst>
      <p:ext uri="{BB962C8B-B14F-4D97-AF65-F5344CB8AC3E}">
        <p14:creationId xmlns:p14="http://schemas.microsoft.com/office/powerpoint/2010/main" val="1330811260"/>
      </p:ext>
    </p:extLst>
  </p:cSld>
</p:sld>
</file>

<file path=ppt/slides/slide3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A2318BB-578D-4559-BE3A-789B24EC0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B96050-295E-47AC-BCF4-C7C0136B3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47650"/>
            <a:ext cx="11468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文献精读 2 原文图：核心实验链条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0DB86A-0BE6-4B4A-B718-F6D55AF1E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47700"/>
            <a:ext cx="11468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7d1072ca544432"/>
          <a:stretch xmlns:a="http://schemas.openxmlformats.org/drawingml/2006/main"/>
        </p:blipFill>
        <p:spPr>
          <a:xfrm xmlns:a="http://schemas.openxmlformats.org/drawingml/2006/main">
            <a:off x="1228725" y="876300"/>
            <a:ext cx="4191000" cy="5334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515475-7F29-455C-9B6D-94C902FE1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29350"/>
            <a:ext cx="581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DDD"/>
          </a:solidFill>
          <a:ln xmlns:a="http://schemas.openxmlformats.org/drawingml/2006/main" w="0">
            <a:solidFill>
              <a:srgbClr val="DDDDD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4FDD9E-270C-403E-9626-18F5D7E26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0"/>
            <a:ext cx="581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675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Figures 1-3 饮食干预、精子 RNA 与后代表型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E90E32-92D6-415F-B15B-426478A7A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895350"/>
            <a:ext cx="5143500" cy="442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这些图串联了高脂饮食模型、精子小 RNA 变化、注射实验和子代表型观察。逻辑是先证明父代环境改变精子 RNA，再用功能转移实验测试这些 RNA 是否足以影响胚胎和后代代谢。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FDAC9D-1A4A-40E9-8EBD-A9AC93C04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476875"/>
            <a:ext cx="5143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对 tRNA 研究的提示：不能只测丰度，还要问特定 tRNA-derived fragments（tRNA 衍生片段）和修饰是否具有因果功能。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7BA926-181A-4962-B89A-B79767F53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72250"/>
            <a:ext cx="1123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defRPr>
            </a:pPr>
            <a:r>
              <a:rPr sz="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mim-tRNAseq / Induro-tRNAseq | 35</a:t>
            </a:r>
          </a:p>
        </p:txBody>
      </p:sp>
    </p:spTree>
    <p:extLst>
      <p:ext uri="{BB962C8B-B14F-4D97-AF65-F5344CB8AC3E}">
        <p14:creationId xmlns:p14="http://schemas.microsoft.com/office/powerpoint/2010/main" val="829402145"/>
      </p:ext>
    </p:extLst>
  </p:cSld>
</p:sld>
</file>

<file path=ppt/slides/slide3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E698F85-1EAA-475F-A2B8-5A303E32D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46E077-36A1-4803-94BE-EE6466E21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47650"/>
            <a:ext cx="11468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文献精读 2 原文图：机制延伸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218BCC-809E-4EBC-8921-CFC619DB3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47700"/>
            <a:ext cx="11468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50533c0b8f4408"/>
          <a:stretch xmlns:a="http://schemas.openxmlformats.org/drawingml/2006/main"/>
        </p:blipFill>
        <p:spPr>
          <a:xfrm xmlns:a="http://schemas.openxmlformats.org/drawingml/2006/main">
            <a:off x="1228725" y="876300"/>
            <a:ext cx="4191000" cy="5334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50EE15-1A3C-496B-B0DE-14AB531B7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29350"/>
            <a:ext cx="581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DDD"/>
          </a:solidFill>
          <a:ln xmlns:a="http://schemas.openxmlformats.org/drawingml/2006/main" w="0">
            <a:solidFill>
              <a:srgbClr val="DDDDD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202174-F8AB-460D-8015-8BA15DB60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0"/>
            <a:ext cx="581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675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Figure 4 胚胎/后代分子变化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BAAFC6-8265-476E-9A05-81492B25E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895350"/>
            <a:ext cx="5143500" cy="442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该图把精子 RNA 变化与早期胚胎转录或代谢表型联系起来。它提示 tRNA 片段和修饰可能通过影响胚胎早期基因表达网络参与表型传递。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483AD6-AF00-485A-9178-D6A8105B1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476875"/>
            <a:ext cx="5143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缺陷是分子机制仍偏相关，具体是哪一类 tRNA 片段、哪一种修饰、通过哪一个靶标发挥作用，需要更精细的验证。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D2B6E4-89B5-4FFF-B21D-9D31F1DF7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72250"/>
            <a:ext cx="1123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defRPr>
            </a:pPr>
            <a:r>
              <a:rPr sz="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mim-tRNAseq / Induro-tRNAseq | 36</a:t>
            </a:r>
          </a:p>
        </p:txBody>
      </p:sp>
    </p:spTree>
    <p:extLst>
      <p:ext uri="{BB962C8B-B14F-4D97-AF65-F5344CB8AC3E}">
        <p14:creationId xmlns:p14="http://schemas.microsoft.com/office/powerpoint/2010/main" val="390912722"/>
      </p:ext>
    </p:extLst>
  </p:cSld>
</p:sld>
</file>

<file path=ppt/slides/slide3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D6AA9B7-5A3A-49DF-B5EA-38A0D306D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382318-A706-47C8-B43C-6F24CAC48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47650"/>
            <a:ext cx="11468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1. 背景知识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194CC0-4EBF-4184-A270-FB4C1A4F4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47700"/>
            <a:ext cx="11468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28E8FB-273E-45A9-B809-4629FA724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11049000" cy="542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父源获得性性状遗传（paternal inheritance of acquired traits）指父亲在环境暴露、饮食、压力等经历中获得的表型，可通过精子影响后代。传统关注点是 DNA 甲基化（DNA methylation）和组蛋白修饰（histone modifications），但这些标记在受精后会经历大规模重编程，因此是否能稳定传递一直有争议。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精子携带多类小非编码 RNA（small non-coding RNA, sncRNA），包括 miRNA、piRNA、tRNA-derived small RNA。tsRNA 是 tRNA 衍生小 RNA，本文主要关注 5' tRNA halves，长度约 30-34 nt。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36692E-D1F4-4898-848B-6498172A4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72250"/>
            <a:ext cx="1123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defRPr>
            </a:pPr>
            <a:r>
              <a:rPr sz="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mim-tRNAseq / Induro-tRNAseq | 37</a:t>
            </a:r>
          </a:p>
        </p:txBody>
      </p:sp>
    </p:spTree>
    <p:extLst>
      <p:ext uri="{BB962C8B-B14F-4D97-AF65-F5344CB8AC3E}">
        <p14:creationId xmlns:p14="http://schemas.microsoft.com/office/powerpoint/2010/main" val="586131465"/>
      </p:ext>
    </p:extLst>
  </p:cSld>
</p:sld>
</file>

<file path=ppt/slides/slide3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93F2FA0-1D67-496C-87DA-4D5CC8A26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DA3400-E6EA-46B3-A0E3-E797D3D13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47650"/>
            <a:ext cx="11468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2. 研究问题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9087DF-CB08-45D8-B920-2001D13A9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47700"/>
            <a:ext cx="11468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04A0F4-F64F-4284-919F-5C8475769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11049000" cy="542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作者想回答：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1. 父代 HFD 诱导的代谢异常能否通过精子传给后代？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2. 精子 RNA 是否足以诱导后代表型？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3. 哪一类精子 RNA 是主要信息载体？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4. tsRNA 的表达和修饰是否受 HFD 改变？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5. 注入 HFD 精子 tsRNA 后，胚胎和后代胰岛的基因表达如何改变？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4DACB7-7016-4872-A71C-48F77F3A0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72250"/>
            <a:ext cx="1123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defRPr>
            </a:pPr>
            <a:r>
              <a:rPr sz="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mim-tRNAseq / Induro-tRNAseq | 38</a:t>
            </a:r>
          </a:p>
        </p:txBody>
      </p:sp>
    </p:spTree>
    <p:extLst>
      <p:ext uri="{BB962C8B-B14F-4D97-AF65-F5344CB8AC3E}">
        <p14:creationId xmlns:p14="http://schemas.microsoft.com/office/powerpoint/2010/main" val="1135495403"/>
      </p:ext>
    </p:extLst>
  </p:cSld>
</p:sld>
</file>

<file path=ppt/slides/slide3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267C676-F2F2-4FEA-B6AE-D163FC282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173FBE-2171-47EA-AB0D-270CC403E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47650"/>
            <a:ext cx="11468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3. 实验设计与方法 (1/2)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915E04-9945-44C5-B016-98A04FBA7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47700"/>
            <a:ext cx="11468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F2646F-6AF7-413A-A143-07FC21C7E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11049000" cy="542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动物模型：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- F0 雄鼠从 5 周龄开始喂养 6 个月。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- HFD：60% fat。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- ND：normal diet，10% fat。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- HFD 雄鼠出现肥胖、葡萄糖耐受异常和胰岛素抵抗。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验证精子本身可携带信息：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- 精子头注射（sperm-head injection）进入正常卵母细胞，胚胎移植到代孕母鼠。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- 排除自然交配中的精液因子和雌雄接触因素。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- HFD 精子来源后代出现葡萄糖耐受异常和胰岛素抵抗。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验证精子 RNA 可诱导表型：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- 提取 HFD/ND 精子总 RNA。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- 按约 10 个精子的 RNA 量注入正常合子（zygote）。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- 后代进行体重、葡萄糖耐受试验（glucose tolerance test, GTT）、胰岛素耐受试验（insulin tolerance test, ITT）检测。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分离 RNA 亚群：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- 15% PAGE 分离 15-25 nt、30-40 nt、&gt;40 nt RNA。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- 30-40 nt 组主要是 tsRNA。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- 15-25 nt 组主要是 miRNA。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- 分别注入合子，观察 F1 后代表型。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小 RNA 测序与修饰检测：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- 小 RNA-seq 比较 HFD 与 ND 精子中的 sncRNA。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- LC-MS/MS 同时识别和定量多个 RNA 修饰。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- 比较 30-40 nt tsRNA fraction 与 15-25 nt miRNA fraction 中的修饰变化。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胚胎和后代转录组/甲基化分析：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2860B7-6901-419E-9FFE-529EB494D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72250"/>
            <a:ext cx="1123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defRPr>
            </a:pPr>
            <a:r>
              <a:rPr sz="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mim-tRNAseq / Induro-tRNAseq | 39</a:t>
            </a:r>
          </a:p>
        </p:txBody>
      </p:sp>
    </p:spTree>
    <p:extLst>
      <p:ext uri="{BB962C8B-B14F-4D97-AF65-F5344CB8AC3E}">
        <p14:creationId xmlns:p14="http://schemas.microsoft.com/office/powerpoint/2010/main" val="1962934567"/>
      </p:ext>
    </p:extLst>
  </p:cSld>
</p:sld>
</file>

<file path=ppt/slides/slide4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D2073C2-6A39-46F7-A567-745689A86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A4A8C6-7C0A-4C8A-A25F-AB157B630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47650"/>
            <a:ext cx="11468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3. 实验设计与方法 (2/2)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378A68-966D-46A9-83F0-91854D4CE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47700"/>
            <a:ext cx="11468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80756C-F4FA-4E93-90E9-3FA3367C6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11049000" cy="542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- F1 后代胰岛进行 RNA-seq 和 RRBS（reduced representation bisulfite sequencing）。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- 注入 tsRNA 后的 8 细胞胚胎和囊胚进行 RNA-seq。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- 分析差异表达基因、GO 富集和 tsRNA 与启动子区域匹配。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18A524-B6E6-4C0E-8FBE-7DA8F41D7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72250"/>
            <a:ext cx="1123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defRPr>
            </a:pPr>
            <a:r>
              <a:rPr sz="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mim-tRNAseq / Induro-tRNAseq | 40</a:t>
            </a:r>
          </a:p>
        </p:txBody>
      </p:sp>
    </p:spTree>
    <p:extLst>
      <p:ext uri="{BB962C8B-B14F-4D97-AF65-F5344CB8AC3E}">
        <p14:creationId xmlns:p14="http://schemas.microsoft.com/office/powerpoint/2010/main" val="1962705027"/>
      </p:ext>
    </p:extLst>
  </p:cSld>
</p:sld>
</file>

<file path=ppt/slides/slide4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1DB761E-3D30-4DA3-9664-4F0D015AE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414C31-3057-4138-B625-2C9B9F93E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47650"/>
            <a:ext cx="11468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4. 主要结果 (1/2)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9ABF31-6EC8-4495-BFAF-B572D9C55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47700"/>
            <a:ext cx="11468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870700-38A9-48ED-BCC0-B0BE2AB87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11049000" cy="542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结果 1：HFD 精子头可传递代谢异常。  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HFD 精子头产生的雄性 F1 后代在正常饮食下仍出现葡萄糖耐受异常和胰岛素抵抗，说明精子携带了足够信息。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结果 2：精子总 RNA 可诱导葡萄糖耐受异常。  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注入 HFD 精子总 RNA 后，F1 雄性后代体重无明显差异，但 GTT 中血糖和血清胰岛素升高，提示葡萄糖耐受异常。ITT 不完全复制精子头注射结果，说明 RNA 是重要因素但可能不是唯一因素。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结果 3：30-40 nt RNA/tsRNA 是关键亚群。  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HFD 和 ND 精子 small RNA-seq 显示，tsRNA 的差异比例高于 miRNA。注入 30-40 nt RNA 可以复制总 RNA 诱导的代谢表型；&gt;40 nt RNA 无明显作用；高剂量 15-25 nt RNA 导致胚胎致死，稀释后不诱导代谢表型。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结果 4：合成未修饰 tsRNA 不能复制内源 tsRNA 功能。  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作者合成了占精子 tsRNA 约 70% 的高表达 tsRNA 组合，但注入后不能诱导代谢异常。一个解释是未修饰合成 tsRNA 在合子裂解液中稳定性较差，而内源精子 tsRNA 带有修饰，更稳定。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结果 5：HFD 改变 tsRNA 修饰。  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LC-MS/MS 在 30-40 nt sperm RNA 中稳定检测到 10 类 RNA 修饰。HFD 精子的 tsRNA fraction 中 m5C 和 m2G 显著升高，而 15-25 nt miRNA fraction 中没有显著变化。这说明修饰变化是 tsRNA 特异或至少在 tsRNA fraction 中更明显。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3A5833-B78F-4FBD-86D9-BCF0AE441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72250"/>
            <a:ext cx="1123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defRPr>
            </a:pPr>
            <a:r>
              <a:rPr sz="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mim-tRNAseq / Induro-tRNAseq | 41</a:t>
            </a:r>
          </a:p>
        </p:txBody>
      </p:sp>
    </p:spTree>
    <p:extLst>
      <p:ext uri="{BB962C8B-B14F-4D97-AF65-F5344CB8AC3E}">
        <p14:creationId xmlns:p14="http://schemas.microsoft.com/office/powerpoint/2010/main" val="2122400253"/>
      </p:ext>
    </p:extLst>
  </p:cSld>
</p:sld>
</file>

<file path=ppt/slides/slide4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9D7885B-5ED8-4B06-9A82-9655EAF86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789720-88C9-42D3-8410-9F6788190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47650"/>
            <a:ext cx="11468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4. 主要结果 (2/2)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56887A-4419-4805-BCFC-68CF1EDAF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47700"/>
            <a:ext cx="11468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C5FE93-F42C-46CF-8EE0-3B505A3CA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11049000" cy="542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结果 6：HFD tsRNA 改变胚胎和胰岛转录组。  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F1 胰岛 RNA-seq 显示差异基因富集于代谢通路，特别是下调基因。RRBS 发现的 DMR 相关基因与转录变化基因不重叠，提示 DNA 甲基化不是直接解释。8 细胞胚胎和囊胚中，HFD tsRNA 注入导致更多基因下调，并富集于代谢调控、蛋白运输、定位等过程。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结果 7：tsRNA 可能通过启动子匹配影响转录级联。  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差异 tsRNA 更倾向匹配基因启动子区域而非编码区。部分匹配启动子的基因在 8 细胞胚胎中表达，并出现差异表达。作者提出 tsRNA 可能在早期胚胎启动转录级联，最终影响胰岛功能和代谢表型。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8D64F8-70B1-4CF0-B490-DEE725075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72250"/>
            <a:ext cx="1123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defRPr>
            </a:pPr>
            <a:r>
              <a:rPr sz="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mim-tRNAseq / Induro-tRNAseq | 42</a:t>
            </a:r>
          </a:p>
        </p:txBody>
      </p:sp>
    </p:spTree>
    <p:extLst>
      <p:ext uri="{BB962C8B-B14F-4D97-AF65-F5344CB8AC3E}">
        <p14:creationId xmlns:p14="http://schemas.microsoft.com/office/powerpoint/2010/main" val="107792408"/>
      </p:ext>
    </p:extLst>
  </p:cSld>
</p:sld>
</file>

<file path=ppt/slides/slide4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E5DBD2A-3303-4D60-88D1-17FF6AA3E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96EEFA-637C-40EC-9631-C120197C5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47650"/>
            <a:ext cx="11468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5. 讨论发散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7257F9-AC50-4CA7-B7E4-A23626AA3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47700"/>
            <a:ext cx="11468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8C806D-2031-449E-A0A6-4426F36FE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11049000" cy="542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这篇论文的关键发散是把 sperm tsRNA 从“精子中存在的小 RNA”推进到“具有功能因果性的父源表观遗传信息载体”。尤其重要的是：内源 tsRNA 与合成未修饰 tsRNA 的功能差异，把“RNA 修饰”引入了父源遗传的机制讨论。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对 tRNA 修饰研究而言，它提示：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1. tRNA-derived fragments 继承了 tRNA 母体的部分修饰，这些修饰可能决定 tsRNA 稳定性、靶标识别或蛋白结合。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2. LC-MS/MS 能证明修饰总量变化，但不能定位到具体 tsRNA 序列和具体位点。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3. m5C 与 m2G 是生殖/代谢表型中值得重点跟踪的修饰类别，但它们不等同于 mim/Induro 核心 RT-readable 修饰库中的全部重点。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F896F6-5D9B-4C19-A522-8F32EE89D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72250"/>
            <a:ext cx="1123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defRPr>
            </a:pPr>
            <a:r>
              <a:rPr sz="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mim-tRNAseq / Induro-tRNAseq | 43</a:t>
            </a:r>
          </a:p>
        </p:txBody>
      </p:sp>
    </p:spTree>
    <p:extLst>
      <p:ext uri="{BB962C8B-B14F-4D97-AF65-F5344CB8AC3E}">
        <p14:creationId xmlns:p14="http://schemas.microsoft.com/office/powerpoint/2010/main" val="2078401541"/>
      </p:ext>
    </p:extLst>
  </p:cSld>
</p:sld>
</file>

<file path=ppt/slides/slide4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D3EEF94-8DFD-446A-BAE8-F4B1A1759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B264A5-8519-4A96-A573-F60EB54EC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47650"/>
            <a:ext cx="11468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6. 局限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B5F792-7524-4AAB-A3C5-82DD7E5D1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47700"/>
            <a:ext cx="11468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69EEC8-E69C-4CBE-89FA-412C951A4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11049000" cy="542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1. m5C 和 m2G 的位点未定位到具体 tsRNA 序列，因此不能判断是哪条 tsRNA 的哪个碱基最关键。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2. 合成 tsRNA 缺乏修饰，不能区分“序列组合不对”与“缺乏修饰导致功能缺失”。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3. 注入实验虽然有因果性，但注入剂量和时空分布不完全等同自然受精。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4. 胚胎转录组变化与启动子匹配是强提示，但具体结合蛋白、靶标机制和直接分子互作未解析。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5. 总 RNA 与精子头注射表型并不完全一致，说明 DNA甲基化、组蛋白、蛋白或其他 RNA 可能协同参与。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DFD21B-5DCA-4157-A5E1-7B04AB162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72250"/>
            <a:ext cx="1123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defRPr>
            </a:pPr>
            <a:r>
              <a:rPr sz="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mim-tRNAseq / Induro-tRNAseq | 44</a:t>
            </a:r>
          </a:p>
        </p:txBody>
      </p:sp>
    </p:spTree>
    <p:extLst>
      <p:ext uri="{BB962C8B-B14F-4D97-AF65-F5344CB8AC3E}">
        <p14:creationId xmlns:p14="http://schemas.microsoft.com/office/powerpoint/2010/main" val="2111971839"/>
      </p:ext>
    </p:extLst>
  </p:cSld>
</p:sld>
</file>

<file path=ppt/slides/slide4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C99E408-250C-4E8B-BBE5-F9B1F1B46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2C23F9-F3D5-4274-8839-C214151B3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47650"/>
            <a:ext cx="11468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7. 对 tRNA 研究的提示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F8FB42-84CE-471F-AA26-285B2A28F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47700"/>
            <a:ext cx="11468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AADE86-F2A7-4C20-98BD-3AB721F36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11049000" cy="542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如果我们关注 tRNA/tsRNA 与生殖发育：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- 不应只测 tsRNA abundance，还要测修饰。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- m5C/m2G 需要 LC-MS/MS、bisulfite/m5C mapping、AlkB 类处理或其他新技术定位。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- 可以把 Induro/TGIRT 用于 tRNA 母体修饰位点图谱，再结合小 RNA-seq 和质谱推断 tsRNA 继承哪些修饰。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- 功能实验要尽量比较：天然 tsRNA、未修饰合成 tsRNA、带特定位点修饰的合成 tsRNA。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BB9FA5-9B43-43D3-A96B-91CA783ED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72250"/>
            <a:ext cx="1123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defRPr>
            </a:pPr>
            <a:r>
              <a:rPr sz="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mim-tRNAseq / Induro-tRNAseq | 45</a:t>
            </a:r>
          </a:p>
        </p:txBody>
      </p:sp>
    </p:spTree>
    <p:extLst>
      <p:ext uri="{BB962C8B-B14F-4D97-AF65-F5344CB8AC3E}">
        <p14:creationId xmlns:p14="http://schemas.microsoft.com/office/powerpoint/2010/main" val="154273310"/>
      </p:ext>
    </p:extLst>
  </p:cSld>
</p:sld>
</file>

<file path=ppt/slides/slide4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FA8AEC0-9ACE-45B3-BF64-C60023CD0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BA9091-55D8-4922-9533-2212B81B0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47650"/>
            <a:ext cx="11468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八、文献精读 3：Chen, Yan &amp; Duan 2016, Nature Reviews Genetics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966ACB-5E53-4884-B911-E7E69C47C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47700"/>
            <a:ext cx="11468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DC874D-4B90-4D95-9004-F67979A9B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43000"/>
            <a:ext cx="10715625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题目：Epigenetic inheritance of acquired traits through sperm RNAs and sperm RNA modifications  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类型：综述  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主题：总结精子 RNA 与精子 RNA 修饰在获得性性状遗传中的证据、机制假说、技术偏差和未来方向。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B73A6E-0F60-43B5-AA4E-DD7750DEC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72250"/>
            <a:ext cx="1123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defRPr>
            </a:pPr>
            <a:r>
              <a:rPr sz="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mim-tRNAseq / Induro-tRNAseq | 46</a:t>
            </a:r>
          </a:p>
        </p:txBody>
      </p:sp>
    </p:spTree>
    <p:extLst>
      <p:ext uri="{BB962C8B-B14F-4D97-AF65-F5344CB8AC3E}">
        <p14:creationId xmlns:p14="http://schemas.microsoft.com/office/powerpoint/2010/main" val="1356320839"/>
      </p:ext>
    </p:extLst>
  </p:cSld>
</p:sld>
</file>

<file path=ppt/slides/slide4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A15AE93-5041-4F0C-9B1D-CA33B9F71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AC5DDB-CBF0-497D-A2FB-C1C5A21F8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47650"/>
            <a:ext cx="11468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文献精读 3 原文截图：综述首页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2B377C-EF4A-470B-B7E2-82F625786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47700"/>
            <a:ext cx="11468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6e8643225b47d9"/>
          <a:stretch xmlns:a="http://schemas.openxmlformats.org/drawingml/2006/main"/>
        </p:blipFill>
        <p:spPr>
          <a:xfrm xmlns:a="http://schemas.openxmlformats.org/drawingml/2006/main">
            <a:off x="1294578" y="876300"/>
            <a:ext cx="4059293" cy="5334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4B20C0-5392-4764-8C60-9860B0247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29350"/>
            <a:ext cx="581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DDD"/>
          </a:solidFill>
          <a:ln xmlns:a="http://schemas.openxmlformats.org/drawingml/2006/main" w="0">
            <a:solidFill>
              <a:srgbClr val="DDDDD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88A0AD-A668-45E3-8656-FF358B0A2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0"/>
            <a:ext cx="581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675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Chen, Yan &amp; Duan 2016, Nature Reviews Genetics 首页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FF5EBC-0D6C-4D7D-BE0E-0B58EDFA2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895350"/>
            <a:ext cx="5143500" cy="442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这篇综述梳理精子 RNA、精子 RNA 修饰与获得性性状遗传的研究脉络。它适合作为概念框架：把 tRNA 片段、miRNA、piRNA、RNA modifications（RNA 修饰）和早期胚胎调控放在同一张图景中理解。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35B4BC-D006-490E-8AF4-3B8A8E845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476875"/>
            <a:ext cx="5143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综述的价值不在单个实验，而在提出领域逻辑和关键未解问题。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D76C15-DECB-4401-937E-9BA30B624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72250"/>
            <a:ext cx="1123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defRPr>
            </a:pPr>
            <a:r>
              <a:rPr sz="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mim-tRNAseq / Induro-tRNAseq | 47</a:t>
            </a:r>
          </a:p>
        </p:txBody>
      </p:sp>
    </p:spTree>
    <p:extLst>
      <p:ext uri="{BB962C8B-B14F-4D97-AF65-F5344CB8AC3E}">
        <p14:creationId xmlns:p14="http://schemas.microsoft.com/office/powerpoint/2010/main" val="214352298"/>
      </p:ext>
    </p:extLst>
  </p:cSld>
</p:sld>
</file>

<file path=ppt/slides/slide4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610DC98-A905-41C0-B1BD-62C753B88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E2A4FA-D47B-4BE2-A1A6-A49880C1C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47650"/>
            <a:ext cx="11468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文献精读 3 原文图：概念框架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D8BD51-C318-4311-8022-B963DD9B9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47700"/>
            <a:ext cx="11468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c790be76f84820"/>
          <a:stretch xmlns:a="http://schemas.openxmlformats.org/drawingml/2006/main"/>
        </p:blipFill>
        <p:spPr>
          <a:xfrm xmlns:a="http://schemas.openxmlformats.org/drawingml/2006/main">
            <a:off x="1294578" y="876300"/>
            <a:ext cx="4059293" cy="5334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6C82C0-4629-4342-8F7A-A7B636A38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29350"/>
            <a:ext cx="581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DDD"/>
          </a:solidFill>
          <a:ln xmlns:a="http://schemas.openxmlformats.org/drawingml/2006/main" w="0">
            <a:solidFill>
              <a:srgbClr val="DDDDD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F92C3C-5137-4306-B7D9-BC31C7B7A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0"/>
            <a:ext cx="581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675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Figure 1 精子 RNA 介导表观遗传信息的框架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C39434-6143-4FB2-AA4A-D80C82A27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895350"/>
            <a:ext cx="5143500" cy="442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该图说明环境因素可能改变生殖细胞 RNA 组成或修饰状态，这些 RNA 随受精进入卵母细胞并影响早期发育。对 tRNA 研究来说，tRNA fragments（tRNA 片段）和 tRNA modifications（tRNA 修饰）是其中非常值得追踪的一类信息载体。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A348B2-FE0B-4F69-8A98-90770E205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476875"/>
            <a:ext cx="5143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它帮助我们把 tRNA-seq 数据从“修饰检测”上升到“信息传递和功能机制”的问题。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ECFDB0-430F-4687-9F29-4D59DA49E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72250"/>
            <a:ext cx="1123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defRPr>
            </a:pPr>
            <a:r>
              <a:rPr sz="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mim-tRNAseq / Induro-tRNAseq | 48</a:t>
            </a:r>
          </a:p>
        </p:txBody>
      </p:sp>
    </p:spTree>
    <p:extLst>
      <p:ext uri="{BB962C8B-B14F-4D97-AF65-F5344CB8AC3E}">
        <p14:creationId xmlns:p14="http://schemas.microsoft.com/office/powerpoint/2010/main" val="498780291"/>
      </p:ext>
    </p:extLst>
  </p:cSld>
</p:sld>
</file>

<file path=ppt/slides/slide4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1517F04-3FB4-4529-96C5-28C4D0E27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92BA3C-7F53-4759-8B4B-FBC3CC3B2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47650"/>
            <a:ext cx="11468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文献精读 3 原文图：小 RNA 类型与来源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4F323D-4343-47A2-81FD-06948B881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47700"/>
            <a:ext cx="11468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9e394dbca44705"/>
          <a:stretch xmlns:a="http://schemas.openxmlformats.org/drawingml/2006/main"/>
        </p:blipFill>
        <p:spPr>
          <a:xfrm xmlns:a="http://schemas.openxmlformats.org/drawingml/2006/main">
            <a:off x="1294578" y="876300"/>
            <a:ext cx="4059293" cy="5334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8F721B-E0F4-4022-8870-F276D2909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29350"/>
            <a:ext cx="581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DDD"/>
          </a:solidFill>
          <a:ln xmlns:a="http://schemas.openxmlformats.org/drawingml/2006/main" w="0">
            <a:solidFill>
              <a:srgbClr val="DDDDD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D6C5E1-1BF1-441E-9EAB-15BF77FB6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0"/>
            <a:ext cx="581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675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Figure 2 精子 RNA 类型和来源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D32C9A-17CF-4BA5-A9FF-EA6732994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895350"/>
            <a:ext cx="5143500" cy="442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该图梳理不同小 RNA 类型，包括 miRNA、piRNA、tRNA-derived small RNA（tRNA 衍生小 RNA）等。它提示精子中的 tRNA 相关信号可能来自成熟过程、附睾转运、应激暴露或代谢状态变化。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7955A7-71CE-4F5A-84F3-0055F746D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476875"/>
            <a:ext cx="5143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做研究时应区分 full-length tRNA（全长 tRNA）、tRF（tRNA fragment，tRNA 片段）和 tiRNA（stress-induced tRNA fragment，应激诱导 tRNA 片段）。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266E55-F8EE-4097-B71E-D03454382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72250"/>
            <a:ext cx="1123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defRPr>
            </a:pPr>
            <a:r>
              <a:rPr sz="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mim-tRNAseq / Induro-tRNAseq | 49</a:t>
            </a:r>
          </a:p>
        </p:txBody>
      </p:sp>
    </p:spTree>
    <p:extLst>
      <p:ext uri="{BB962C8B-B14F-4D97-AF65-F5344CB8AC3E}">
        <p14:creationId xmlns:p14="http://schemas.microsoft.com/office/powerpoint/2010/main" val="1721995502"/>
      </p:ext>
    </p:extLst>
  </p:cSld>
</p:sld>
</file>

<file path=ppt/slides/slide5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AD30F92-AD31-4D5E-9D89-8E103B75C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D6D583-15EE-4B1F-B742-AD48CFD04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47650"/>
            <a:ext cx="11468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文献精读 3 原文图：可能机制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28D722-01E1-408D-AE89-76E5F61B4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47700"/>
            <a:ext cx="11468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cf9bb2ea4c4a7c"/>
          <a:stretch xmlns:a="http://schemas.openxmlformats.org/drawingml/2006/main"/>
        </p:blipFill>
        <p:spPr>
          <a:xfrm xmlns:a="http://schemas.openxmlformats.org/drawingml/2006/main">
            <a:off x="1294578" y="876300"/>
            <a:ext cx="4059293" cy="5334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22C8B4-B82B-48E1-8795-863530322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29350"/>
            <a:ext cx="581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DDD"/>
          </a:solidFill>
          <a:ln xmlns:a="http://schemas.openxmlformats.org/drawingml/2006/main" w="0">
            <a:solidFill>
              <a:srgbClr val="DDDDD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64034B-666B-4D59-BAA5-C79B698A6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0"/>
            <a:ext cx="581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675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Figure 3 可能的分子机制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D4465A-CD19-47AA-9CDB-18F776065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895350"/>
            <a:ext cx="5143500" cy="442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该图总结精子 RNA 进入胚胎后可能影响转录、翻译、染色质状态或代谢网络。tRNA 修饰可能通过改变 tRNA 稳定性、切割倾向、片段装载和靶标识别来影响这些过程。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67DC3E-E7AE-4B7C-946A-AFE1BDEDC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476875"/>
            <a:ext cx="5143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这为后续实验设计提供方向：从测序发现出发，要继续做功能转移、修饰扰动和靶标验证。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5740B4-AB73-4491-89E8-234B22223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72250"/>
            <a:ext cx="1123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defRPr>
            </a:pPr>
            <a:r>
              <a:rPr sz="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mim-tRNAseq / Induro-tRNAseq | 50</a:t>
            </a:r>
          </a:p>
        </p:txBody>
      </p:sp>
    </p:spTree>
    <p:extLst>
      <p:ext uri="{BB962C8B-B14F-4D97-AF65-F5344CB8AC3E}">
        <p14:creationId xmlns:p14="http://schemas.microsoft.com/office/powerpoint/2010/main" val="1039740813"/>
      </p:ext>
    </p:extLst>
  </p:cSld>
</p:sld>
</file>

<file path=ppt/slides/slide5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4FA98C6-E3AB-4867-B00E-3450B26FF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172D96-6599-4B3D-B709-F79ED9C04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47650"/>
            <a:ext cx="11468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文献精读 3 原文图：技术偏差与缺陷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7FD155-4A64-406F-9383-C129EE045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47700"/>
            <a:ext cx="11468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6e65e234e74cb4"/>
          <a:stretch xmlns:a="http://schemas.openxmlformats.org/drawingml/2006/main"/>
        </p:blipFill>
        <p:spPr>
          <a:xfrm xmlns:a="http://schemas.openxmlformats.org/drawingml/2006/main">
            <a:off x="1294578" y="876300"/>
            <a:ext cx="4059293" cy="5334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6DAA3B-C12C-4979-A223-B450D1D67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29350"/>
            <a:ext cx="581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DDD"/>
          </a:solidFill>
          <a:ln xmlns:a="http://schemas.openxmlformats.org/drawingml/2006/main" w="0">
            <a:solidFill>
              <a:srgbClr val="DDDDD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B9697E-7098-49BB-A747-307E79E44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0"/>
            <a:ext cx="581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675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综述中关于技术偏差、证据缺口或挑战的图表/段落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B951D2-85DD-4F5A-9618-A9C428E90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895350"/>
            <a:ext cx="5143500" cy="442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该截图对应综述强调的局限：精子 RNA 量低、污染控制困难、不同测序方法偏好不同、修饰会影响反转录和定量。对 tRNA-seq 特别重要，因为修饰本身既是生物学信号，也是技术偏差来源。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AE9F40-263E-4BB8-A65C-3A192B52A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476875"/>
            <a:ext cx="5143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这与 mim-tRNAseq/Induro-tRNAseq 的主题直接相连：必须把 RT bias（反转录偏差）作为可解释信号，同时防止把技术偏差误判为生物差异。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5E63DD-CAAE-4BCE-9A7B-6B7FA7223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72250"/>
            <a:ext cx="1123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defRPr>
            </a:pPr>
            <a:r>
              <a:rPr sz="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mim-tRNAseq / Induro-tRNAseq | 51</a:t>
            </a:r>
          </a:p>
        </p:txBody>
      </p:sp>
    </p:spTree>
    <p:extLst>
      <p:ext uri="{BB962C8B-B14F-4D97-AF65-F5344CB8AC3E}">
        <p14:creationId xmlns:p14="http://schemas.microsoft.com/office/powerpoint/2010/main" val="1330134055"/>
      </p:ext>
    </p:extLst>
  </p:cSld>
</p:sld>
</file>

<file path=ppt/slides/slide5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A733726-5E69-476E-8BB8-12D219449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8FB5DF-CC2B-4031-AD59-0E749A218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47650"/>
            <a:ext cx="11468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1. 综述逻辑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B52E07-F344-4336-94DA-561C50112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47700"/>
            <a:ext cx="11468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C3FBB7-F6FF-4058-A699-808D30667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11049000" cy="542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这篇综述按以下逻辑展开：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1. 获得性性状遗传曾被认为有争议，但越来越多动物实验支持父代环境暴露可影响后代。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2. DNA 甲基化作为主要载体的解释不足，因为受精后存在表观遗传重编程，而且多项数据不支持饮食诱导的 sperm methylome 改变可稳定维持。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3. 因此需要寻找其他精子信息载体，尤其是精子 RNA。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4. 精子 RNA 包括 miRNA、piRNA、tsRNA、mitosRNA、lncRNA 等，其中 miRNA 和 tsRNA 已有功能注入证据。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5. 精子 RNA 可通过早期胚胎转录级联、转座元件调控、染色质结构重塑等方式影响后代表型。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6. RNA 修饰为 sperm RNA 功能提供新的调控层，尤其是 tsRNA 中 m5C/m2G 的变化和稳定性作用。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7. RNA 修饰也会导致测序偏差，过去的小 RNA-seq 数据可能漏检高度修饰的 tRNA/tsRNA。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8. 未来需要单细胞多组学、修饰定位、功能性 writer/eraser 操作和严谨动物实验。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A3746A-2006-43B6-A060-E4CE55CE8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72250"/>
            <a:ext cx="1123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defRPr>
            </a:pPr>
            <a:r>
              <a:rPr sz="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mim-tRNAseq / Induro-tRNAseq | 52</a:t>
            </a:r>
          </a:p>
        </p:txBody>
      </p:sp>
    </p:spTree>
    <p:extLst>
      <p:ext uri="{BB962C8B-B14F-4D97-AF65-F5344CB8AC3E}">
        <p14:creationId xmlns:p14="http://schemas.microsoft.com/office/powerpoint/2010/main" val="1562104414"/>
      </p:ext>
    </p:extLst>
  </p:cSld>
</p:sld>
</file>

<file path=ppt/slides/slide5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304C300-17C4-4988-BA2A-BD4F286AF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8CBE20-AFD5-4B30-86DD-82465457E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47650"/>
            <a:ext cx="11468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2. 关键背景与术语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46AA85-C074-444E-B4D2-5A9C2F6C0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47700"/>
            <a:ext cx="11468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FEC4A2-19D0-43B0-B29A-8D0BA36CC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11049000" cy="542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- 获得性性状遗传（inheritance of acquired traits）：个体在环境中获得的表型被后代继承。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- 非孟德尔遗传（non-Mendelian inheritance）：不按 DNA 序列等位基因分离规律解释的遗传现象。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- 表观遗传重编程（epigenetic reprogramming）：受精后和原始生殖细胞中大规模清除/重置表观遗传标记。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- 转座元件（transposable elements, TEs）：可移动遗传元件，常与早期胚胎转录调控相关。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- 胞外囊泡（extracellular vesicles, EVs）：可在附睾等环境中向精子转运 RNA。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- RNA 修饰酶（RNA modification enzymes）：添加、去除或编辑 RNA 修饰的酶，如 DNMT2、APOBEC1 等。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C22A76-16B2-410B-9F90-0232F9166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72250"/>
            <a:ext cx="1123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defRPr>
            </a:pPr>
            <a:r>
              <a:rPr sz="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mim-tRNAseq / Induro-tRNAseq | 53</a:t>
            </a:r>
          </a:p>
        </p:txBody>
      </p:sp>
    </p:spTree>
    <p:extLst>
      <p:ext uri="{BB962C8B-B14F-4D97-AF65-F5344CB8AC3E}">
        <p14:creationId xmlns:p14="http://schemas.microsoft.com/office/powerpoint/2010/main" val="121018666"/>
      </p:ext>
    </p:extLst>
  </p:cSld>
</p:sld>
</file>

<file path=ppt/slides/slide5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1524BB6-1D27-44F6-8D59-DB67AFDBB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338B40-077C-4974-9210-65025DAB6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47650"/>
            <a:ext cx="11468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3. 综述中的核心论点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1E7D7C-1148-4126-A07D-A6578B31C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47700"/>
            <a:ext cx="11468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3BFCBA-A0A4-4E2A-A2CB-D0DE2B8AF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11049000" cy="542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论点 1：DNA 甲基化不是唯一、也未必是初始载体。  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作者指出环境暴露确实可能改变 sperm DNA methylation，但许多变化不能稳定传到后代或与转录变化直接对应。因此 sperm RNA 成为重要候选。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论点 2：精子 RNA 有功能证据。  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早期精神压力、高脂饮食、高脂高糖饮食等模型中，注入精子总 RNA 或特定小 RNA 可部分或完全复制父代表型。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论点 3：tsRNA 是精子小 RNA 的重点。  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成熟精子中 tsRNA 丰富，主要来源于 tRNA 5' 端，长度约 29-34 nt。tsRNA 在高脂饮食、低蛋白饮食、环境暴露和人类肥胖中可变化，提示其是敏感环境响应标记。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论点 4：附睾成熟可能重塑精子 RNA。  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精子在附睾成熟过程中获得大量 tsRNA，可能来自附睾上皮细胞 EVs。这意味着精子 RNA 不是只由睾丸内转录决定，还可能被体细胞环境后天装载。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论点 5：RNA 修饰可能决定 tsRNA 功能。  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精子 tsRNA 含大量修饰。HFD 可使 tsRNA m5C 和 m2G 升高；修饰可能提高 RNA 稳定性、改变二级结构、改变与 DNA/RNA/蛋白的结合特异性。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论点 6：修饰会造成测序偏差。  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tRNA/tsRNA 高度修饰，部分修饰会阻断 RT，导致常规 RNA-seq 文库中漏检。AlkB 去甲基化处理可恢复部分被漏检 tRNA/tsRNA。因此旧数据需要谨慎重解读。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3FC248-75FB-4565-84D8-5A30CD082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72250"/>
            <a:ext cx="1123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defRPr>
            </a:pPr>
            <a:r>
              <a:rPr sz="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mim-tRNAseq / Induro-tRNAseq | 54</a:t>
            </a:r>
          </a:p>
        </p:txBody>
      </p:sp>
    </p:spTree>
    <p:extLst>
      <p:ext uri="{BB962C8B-B14F-4D97-AF65-F5344CB8AC3E}">
        <p14:creationId xmlns:p14="http://schemas.microsoft.com/office/powerpoint/2010/main" val="1287547692"/>
      </p:ext>
    </p:extLst>
  </p:cSld>
</p:sld>
</file>

<file path=ppt/slides/slide5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67B7D37-A706-44F2-9665-66DDC1460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8B8BA6-19B9-45B5-8179-DA8DEC17A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47650"/>
            <a:ext cx="11468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4. 对机制的梳理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22BCF4-7A92-47AE-A8A5-8F8E54B02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47700"/>
            <a:ext cx="11468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C8153F-E7B5-4ED4-BAD3-8F54D7CB5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11049000" cy="542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机制 A：早期胚胎转录级联。  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精子 RNA 进入合子后，即使产生很小的初始表达偏差，也可能在 2-cell、8-cell、囊胚等阶段被放大，影响谱系和代谢程序。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机制 B：miRNA-AGO 靶向 mRNA。  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精子 miRNA 可通过 Argonaute（AGO）调控 mRNA 稳定性或降解，这是相对经典的 post-transcriptional regulation。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机制 C：tsRNA 与启动子/转座元件关联。  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tsRNA 可能匹配基因 promoter，很多 promoter 与 TE 相关。tsRNA 可能通过未知蛋白或 RNA-DNA/RNA-RNA 互作影响早期胚胎转录。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机制 D：lncRNA 调控染色质三维结构。  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精子 lncRNA 可能影响长程染色质互作和 3D genome organization，但证据相对推测性。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机制 E：RNA 修饰稳定和重定向 sperm RNA。  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m5C、m2G 等修饰可能延长 tsRNA 半衰期，改变二级结构，改变与靶 DNA/RNA/蛋白的结合。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E18E80-FE4A-47F2-BE6D-8361AAE80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72250"/>
            <a:ext cx="1123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defRPr>
            </a:pPr>
            <a:r>
              <a:rPr sz="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mim-tRNAseq / Induro-tRNAseq | 55</a:t>
            </a:r>
          </a:p>
        </p:txBody>
      </p:sp>
    </p:spTree>
    <p:extLst>
      <p:ext uri="{BB962C8B-B14F-4D97-AF65-F5344CB8AC3E}">
        <p14:creationId xmlns:p14="http://schemas.microsoft.com/office/powerpoint/2010/main" val="309870003"/>
      </p:ext>
    </p:extLst>
  </p:cSld>
</p:sld>
</file>

<file path=ppt/slides/slide5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1CB5B9F-ED8F-4E94-9F90-0E9B4A5CF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48F8B4-7821-48E3-A6F2-3FB2B216C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47650"/>
            <a:ext cx="11468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5. 综述指出的缺陷与未来方向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799410-59E4-4B3A-AC8D-CB268DA22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47700"/>
            <a:ext cx="11468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D670B3-988B-407F-A7B9-43A7FEABF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11049000" cy="542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1. 具体 RNA 序列与具体表型之间的“编码机制”不清楚。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2. 一个性状究竟由单个 RNA、RNA 组合，还是 RNA 与 DNA/组蛋白协同编码，尚未解决。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3. RNA 修饰位点图谱不完整，尤其是 sperm tsRNA/miRNA 的位点级修饰图谱。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4. LC-MS/MS 有修饰类型定量能力，但缺少位点信息。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5. 常规 RNA-seq 会漏检高度修饰 RNA，需要 AlkB、化学处理和新测序技术。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6. 需要早期胚胎和精子的单细胞多组学：transcriptomics、DNA methylomics、ChIP-seq、Hi-C 等。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059216-6521-458E-9B20-998AF53C5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72250"/>
            <a:ext cx="1123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defRPr>
            </a:pPr>
            <a:r>
              <a:rPr sz="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mim-tRNAseq / Induro-tRNAseq | 56</a:t>
            </a:r>
          </a:p>
        </p:txBody>
      </p:sp>
    </p:spTree>
    <p:extLst>
      <p:ext uri="{BB962C8B-B14F-4D97-AF65-F5344CB8AC3E}">
        <p14:creationId xmlns:p14="http://schemas.microsoft.com/office/powerpoint/2010/main" val="1135224634"/>
      </p:ext>
    </p:extLst>
  </p:cSld>
</p:sld>
</file>

<file path=ppt/slides/slide5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EB5FDC3-8194-436B-8EAD-5B8924F39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7E2491-92FA-45E6-BA62-15C37710F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47650"/>
            <a:ext cx="11468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6. 对 tRNA 研究的提示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467499-6C15-45E8-86B9-9D4B1507A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47700"/>
            <a:ext cx="11468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4C9D5F-F201-4860-8516-83FE42AE0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11049000" cy="542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这篇综述对 tRNA 研究最大的提示是：tRNA 修饰研究不能只停留在成熟 tRNA 全长分子，也要关注 tRNA-derived small RNAs。尤其在生殖和早期胚胎场景中，真正进入合子并发挥调控作用的可能是 tsRNA，而其功能又可能由 tRNA 母体修饰遗传下来。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8B2102-92A2-4F04-AC68-02ADB2992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72250"/>
            <a:ext cx="1123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defRPr>
            </a:pPr>
            <a:r>
              <a:rPr sz="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mim-tRNAseq / Induro-tRNAseq | 57</a:t>
            </a:r>
          </a:p>
        </p:txBody>
      </p:sp>
    </p:spTree>
    <p:extLst>
      <p:ext uri="{BB962C8B-B14F-4D97-AF65-F5344CB8AC3E}">
        <p14:creationId xmlns:p14="http://schemas.microsoft.com/office/powerpoint/2010/main" val="1396424197"/>
      </p:ext>
    </p:extLst>
  </p:cSld>
</p:sld>
</file>

<file path=ppt/slides/slide5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0329124-92E6-4610-9B63-EBC92A543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6F2AE8-1EC1-482A-883C-1762166C0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47650"/>
            <a:ext cx="11468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九、三篇文献之间的关系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6356D3-9E6B-4E1A-B568-FA26B6425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47700"/>
            <a:ext cx="11468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E5954C-16BC-4093-88A0-D47FBFE6D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43000"/>
            <a:ext cx="10715625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| 论文 | 类型 | 核心贡献 | 与 mim/Induro 指纹库的关系 |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|---|---|---|---|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| Nakano et al. 2025 | 方法学/资源型实验论文 | 建立 Induro-tRNAseq，定义 Induro 对多类 tRNA 修饰的 RT signature。 | 直接回答“Induro 反转录酶可读哪些修饰、如何读”。是 Induro 指纹库的主要依据。 |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| Chen et al. 2016 Science | 实验性功能论文 | 证明 HFD 精子 tsRNA 可诱导后代代谢异常，并发现 tsRNA m5C/m2G 升高。 | 提示 tRNA/tsRNA 修饰有生殖功能意义；但 m5C/m2G 不一定能由 mim/Induro 常规 RT 指纹直接定位。 |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| Chen, Yan &amp; Duan 2016 NRG | 综述 | 梳理 sperm RNA/RNA modification 介导获得性遗传的证据与假说。 | 给出研究框架：精子 RNA、RNA 修饰、测序偏差、早期胚胎机制。 |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C8CDEF-0E02-4AA6-B812-7F486AEE9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72250"/>
            <a:ext cx="1123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defRPr>
            </a:pPr>
            <a:r>
              <a:rPr sz="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mim-tRNAseq / Induro-tRNAseq | 58</a:t>
            </a:r>
          </a:p>
        </p:txBody>
      </p:sp>
    </p:spTree>
    <p:extLst>
      <p:ext uri="{BB962C8B-B14F-4D97-AF65-F5344CB8AC3E}">
        <p14:creationId xmlns:p14="http://schemas.microsoft.com/office/powerpoint/2010/main" val="2074545365"/>
      </p:ext>
    </p:extLst>
  </p:cSld>
</p:sld>
</file>

<file path=ppt/slides/slide5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5CBD74B-F4D3-4F9D-943D-2B7C30535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96A3AB-B5C3-41F0-8A0A-B7FD333A3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47650"/>
            <a:ext cx="11468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十、如果我们要做 tRNA 相关研究，可得到的提示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128BF7-AC0E-4F70-BA3C-C50B6D25B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47700"/>
            <a:ext cx="11468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10AB99-9E7F-4BB6-B2AD-E927E3B93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43000"/>
            <a:ext cx="10715625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B16138-DD90-4938-93E3-BCA30FBAF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72250"/>
            <a:ext cx="1123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defRPr>
            </a:pPr>
            <a:r>
              <a:rPr sz="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mim-tRNAseq / Induro-tRNAseq | 59</a:t>
            </a:r>
          </a:p>
        </p:txBody>
      </p:sp>
    </p:spTree>
    <p:extLst>
      <p:ext uri="{BB962C8B-B14F-4D97-AF65-F5344CB8AC3E}">
        <p14:creationId xmlns:p14="http://schemas.microsoft.com/office/powerpoint/2010/main" val="617649688"/>
      </p:ext>
    </p:extLst>
  </p:cSld>
</p:sld>
</file>

<file path=ppt/slides/slide6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F963004-77F5-42C5-B249-7D471AD06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B748AB-E564-4087-B595-670887CC9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47650"/>
            <a:ext cx="11468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1. 技术路线建议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8904A5-D1D2-43FB-8B57-B151AF485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47700"/>
            <a:ext cx="11468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6193C9-927A-4F6B-BE52-93C51F77F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11049000" cy="542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1. 若目标是全长 tRNA 修饰指纹：优先考虑 Induro-tRNAseq + mim/TGIRT 双 RT 互证。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2. 若目标是 m1A、m1G、m2,2G、m3C、I34、m1I、yW、acp3U、ms2i6A/ms2t6A：可用 RT signature 作为初筛。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3. 若目标是 m5C、m2G、Ψ、D、m7G、T 等：不要单靠常规 Induro/mim 指纹，应加入 LC-MS/MS、化学处理测序、AlkB/engineered AlkB 处理或靶向验证。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4. 若研究 sperm tsRNA：全长 tRNA-seq 与 small RNA-seq 要配套，否则难以判断 tsRNA 修饰来自哪条 tRNA 母体。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5. 若研究早期胚胎：需要在合子、2-cell、8-cell、blastocyst 等阶段做时间序列，而不是只看成体组织。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E33FCA-E0D0-4FDB-9096-63B9F9933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72250"/>
            <a:ext cx="1123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defRPr>
            </a:pPr>
            <a:r>
              <a:rPr sz="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mim-tRNAseq / Induro-tRNAseq | 60</a:t>
            </a:r>
          </a:p>
        </p:txBody>
      </p:sp>
    </p:spTree>
    <p:extLst>
      <p:ext uri="{BB962C8B-B14F-4D97-AF65-F5344CB8AC3E}">
        <p14:creationId xmlns:p14="http://schemas.microsoft.com/office/powerpoint/2010/main" val="351663510"/>
      </p:ext>
    </p:extLst>
  </p:cSld>
</p:sld>
</file>

<file path=ppt/slides/slide6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D29500F-B674-4979-996D-2456D1AFE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97CF18-F536-4EF1-B086-AB58E4F6F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47650"/>
            <a:ext cx="11468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2. 优先修饰/位点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2BBC18-80B7-4D05-887A-C2CA199BD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47700"/>
            <a:ext cx="11468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A7B22E-2C8F-492F-9653-A798FBE3B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11049000" cy="542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| 优先级 | 修饰/位点 | 理由 |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|---|---|---|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| 高 | I34 | wobble 解码核心，Induro/mim 均可读；对密码子偏好和早期胚胎翻译调控有强生物学意义。 |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| 高 | m1A58 / m1A9 | tRNA 结构稳定、成熟、ALKBH1/ALKBH3 相关；与生殖/胚胎发育有潜在连接。 |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| 中高 | m1G37 | 反密码子环稳定和移码抑制，Induro 论文指出 Pro(AGG) m1G37 保守存在。 |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| 中高 | ms2i6A37/ms2t6A37 | A37 解码修饰，Induro 中是特殊停顿型信号；可能与高翻译需求状态有关。 |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| 中高 | m5C / m2G in sperm tsRNA | Science/NRG 文献直接关联 HFD 精子 tsRNA；但需要非标准定位方法。 |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| 中 | acp3U20 | Induro 指纹强，组织差异明显；更偏结构调节和神经/组织特异性。 |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| 中 | m3C32 | ASL 稳定修饰，在 Induro 中可读；可作为解码稳定性研究位点。 |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6248AB-00DB-4045-9D37-324238161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72250"/>
            <a:ext cx="1123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defRPr>
            </a:pPr>
            <a:r>
              <a:rPr sz="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mim-tRNAseq / Induro-tRNAseq | 61</a:t>
            </a:r>
          </a:p>
        </p:txBody>
      </p:sp>
    </p:spTree>
    <p:extLst>
      <p:ext uri="{BB962C8B-B14F-4D97-AF65-F5344CB8AC3E}">
        <p14:creationId xmlns:p14="http://schemas.microsoft.com/office/powerpoint/2010/main" val="512815965"/>
      </p:ext>
    </p:extLst>
  </p:cSld>
</p:sld>
</file>

<file path=ppt/slides/slide6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A187F72-C79C-4018-93B1-E75A3DFE5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DD3B80-49D2-41A5-A119-3C777D920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47650"/>
            <a:ext cx="11468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3. 关键实验组合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281291-5113-4D4D-9506-B9A5233AE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47700"/>
            <a:ext cx="11468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18F70C-A667-438C-845D-9FE7CAE16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11049000" cy="542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推荐组合 A：全长 tRNA 修饰图谱  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Induro-tRNAseq + mim/TGIRT 数据交叉验证 + LC-MS/MS 总量验证。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推荐组合 B：sperm tsRNA 功能研究  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small RNA-seq + LC-MS/MS + 修饰定位方法 + 合成修饰/未修饰 tsRNA 注入或细胞模型比较。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推荐组合 C：writer/eraser 因果验证  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敲低/敲除或过表达 TRMT6/TRMT61A、TRMT10、TRMT1、METTL2/METTL6、ADAT2/3、DNMT2/NSUN2、ALKBH1/ALKBH3 等，再检测 tRNA/tsRNA 修饰和胚胎/翻译表型。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推荐组合 D：早期胚胎机制  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tsRNA 注入 + 2-cell/8-cell/blastocyst RNA-seq + TE/promoter 分析 + DNA methylome/ATAC/Hi-C 或 CUT&amp;Tag，判断 RNA 信号是否转化为染色质或转录级联。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088FE0-1268-4B49-885F-11BFA2320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72250"/>
            <a:ext cx="1123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defRPr>
            </a:pPr>
            <a:r>
              <a:rPr sz="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mim-tRNAseq / Induro-tRNAseq | 62</a:t>
            </a:r>
          </a:p>
        </p:txBody>
      </p:sp>
    </p:spTree>
    <p:extLst>
      <p:ext uri="{BB962C8B-B14F-4D97-AF65-F5344CB8AC3E}">
        <p14:creationId xmlns:p14="http://schemas.microsoft.com/office/powerpoint/2010/main" val="1047063143"/>
      </p:ext>
    </p:extLst>
  </p:cSld>
</p:sld>
</file>

<file path=ppt/slides/slide6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1C85948-EE61-4F27-A4D7-FF70A75FE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236A8C-2C01-410C-A11C-DB16142FE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47650"/>
            <a:ext cx="11468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4. 研究设计中最容易踩的坑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4801D8-D15C-4122-9B92-949AE8595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47700"/>
            <a:ext cx="11468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16E7FC-0B30-4D52-96D9-CBC8D8AE4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11049000" cy="542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1. 把“修饰总量变化”误解为“某个 tRNA 位点变化”。LC-MS/MS 需要位点定位补充。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2. 把 m2G 与 m2,2G 混为一谈。二者化学结构和生物学含义不同。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3. 只看 mismatch，不看 RT stop。acp3U 和 ms2i6A/ms2t6A 这类会被漏判。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4. 用未修饰合成 tsRNA 否定天然 tsRNA 功能。未修饰 RNA 稳定性和互作可能完全不同。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5. 把样本差异当作工具差异。比较 RT 指纹库时应固定“修饰类别/位点/酶行为”，不要把某个样本丰度差异混入。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18E5CC-BCA9-4576-89C7-CEEFD3BA7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72250"/>
            <a:ext cx="1123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defRPr>
            </a:pPr>
            <a:r>
              <a:rPr sz="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mim-tRNAseq / Induro-tRNAseq | 63</a:t>
            </a:r>
          </a:p>
        </p:txBody>
      </p:sp>
    </p:spTree>
    <p:extLst>
      <p:ext uri="{BB962C8B-B14F-4D97-AF65-F5344CB8AC3E}">
        <p14:creationId xmlns:p14="http://schemas.microsoft.com/office/powerpoint/2010/main" val="1373013217"/>
      </p:ext>
    </p:extLst>
  </p:cSld>
</p:sld>
</file>

<file path=ppt/slides/slide6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BFA3FA8-12B0-49FC-B923-0FFCDA959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A27052-F54B-4405-8BEF-22345A186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47650"/>
            <a:ext cx="11468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十一、最终建议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A8F8DA-5153-42BB-ABCA-0B68D50A4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47700"/>
            <a:ext cx="11468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1E4A76-118F-47D9-89AD-0CB9B8057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43000"/>
            <a:ext cx="10715625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如果下一步要围绕 tRNA 修饰与生殖发育做研究，我建议把问题拆成两层：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1. 工具层：用 Induro 与 TGIRT/mim 建立全长 tRNA 修饰位点的可靠指纹，重点锁定 I34、m1A58、m1G37、m3C32、acp3U20、ms2i6A/ms2t6A37。</a:t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2. 生物学层：在精子和早期胚胎中追踪 tsRNA abundance + tsRNA modification，尤其补上 m5C/m2G 的位点级证据和功能因果验证。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这样可以避免只做“相关性列表”，而是形成一条更完整的证据链：tRNA 母体修饰变化 -&gt; tsRNA 修饰继承/稳定性变化 -&gt; 合子/胚胎转录或翻译改变 -&gt; 后代表型。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5A0438-3FF0-455B-9A03-8B821683E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72250"/>
            <a:ext cx="1123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defRPr>
            </a:pPr>
            <a:r>
              <a:rPr sz="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mim-tRNAseq / Induro-tRNAseq | 64</a:t>
            </a:r>
          </a:p>
        </p:txBody>
      </p:sp>
    </p:spTree>
    <p:extLst>
      <p:ext uri="{BB962C8B-B14F-4D97-AF65-F5344CB8AC3E}">
        <p14:creationId xmlns:p14="http://schemas.microsoft.com/office/powerpoint/2010/main" val="9917065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2026-06-02T17:59:58.6470000Z</dcterms:created>
  <dcterms:modified xsi:type="dcterms:W3CDTF">2026-06-02T17:59:58.6470000Z</dcterms:modified>
</coreProperties>
</file>