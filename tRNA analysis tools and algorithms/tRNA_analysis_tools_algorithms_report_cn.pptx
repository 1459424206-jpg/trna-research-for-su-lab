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868680"/>
            <a:ext cx="10698480" cy="960120"/>
          </a:xfrm>
          <a:prstGeom prst="rect">
            <a:avLst/>
          </a:prstGeom>
          <a:noFill/>
        </p:spPr>
        <p:txBody>
          <a:bodyPr wrap="square" anchor="t">
            <a:spAutoFit/>
          </a:bodyPr>
          <a:lstStyle/>
          <a:p>
            <a:pPr>
              <a:defRPr sz="2600" b="1">
                <a:solidFill>
                  <a:srgbClr val="1F262E"/>
                </a:solidFill>
                <a:latin typeface="Microsoft YaHei"/>
              </a:defRPr>
            </a:pPr>
            <a:r>
              <a:t>tRNA 分析工具与算法：</a:t>
            </a:r>
            <a:br/>
            <a:r>
              <a:t>从基因识别到修饰、结构、氨酰化和 tDR 注释</a:t>
            </a:r>
          </a:p>
        </p:txBody>
      </p:sp>
      <p:sp>
        <p:nvSpPr>
          <p:cNvPr id="4" name="TextBox 3"/>
          <p:cNvSpPr txBox="1"/>
          <p:nvPr/>
        </p:nvSpPr>
        <p:spPr>
          <a:xfrm>
            <a:off x="713232" y="2240280"/>
            <a:ext cx="9875520" cy="475488"/>
          </a:xfrm>
          <a:prstGeom prst="rect">
            <a:avLst/>
          </a:prstGeom>
          <a:noFill/>
        </p:spPr>
        <p:txBody>
          <a:bodyPr wrap="square" anchor="t">
            <a:spAutoFit/>
          </a:bodyPr>
          <a:lstStyle/>
          <a:p>
            <a:pPr>
              <a:defRPr sz="1500" b="0">
                <a:solidFill>
                  <a:srgbClr val="2D5D7B"/>
                </a:solidFill>
                <a:latin typeface="Microsoft YaHei"/>
              </a:defRPr>
            </a:pPr>
            <a:r>
              <a:t>正式汇报版 | 文献精读 + 工具架构 + 缺陷与改动方向</a:t>
            </a:r>
          </a:p>
        </p:txBody>
      </p:sp>
      <p:sp>
        <p:nvSpPr>
          <p:cNvPr id="5" name="Rounded Rectangle 4"/>
          <p:cNvSpPr/>
          <p:nvPr/>
        </p:nvSpPr>
        <p:spPr>
          <a:xfrm>
            <a:off x="713232" y="3063240"/>
            <a:ext cx="156972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3172968"/>
            <a:ext cx="1459992" cy="256032"/>
          </a:xfrm>
          <a:prstGeom prst="rect">
            <a:avLst/>
          </a:prstGeom>
          <a:noFill/>
        </p:spPr>
        <p:txBody>
          <a:bodyPr wrap="none">
            <a:spAutoFit/>
          </a:bodyPr>
          <a:lstStyle/>
          <a:p>
            <a:pPr algn="ctr">
              <a:defRPr sz="840" b="1">
                <a:solidFill>
                  <a:srgbClr val="2D5D7B"/>
                </a:solidFill>
                <a:latin typeface="Microsoft YaHei"/>
              </a:defRPr>
            </a:pPr>
            <a:r>
              <a:t>Gene detection</a:t>
            </a:r>
          </a:p>
        </p:txBody>
      </p:sp>
      <p:sp>
        <p:nvSpPr>
          <p:cNvPr id="7" name="TextBox 6"/>
          <p:cNvSpPr txBox="1"/>
          <p:nvPr/>
        </p:nvSpPr>
        <p:spPr>
          <a:xfrm>
            <a:off x="2296668" y="320954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8" name="Rounded Rectangle 7"/>
          <p:cNvSpPr/>
          <p:nvPr/>
        </p:nvSpPr>
        <p:spPr>
          <a:xfrm>
            <a:off x="2392680" y="3063240"/>
            <a:ext cx="156972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47544" y="3172968"/>
            <a:ext cx="1459992" cy="256032"/>
          </a:xfrm>
          <a:prstGeom prst="rect">
            <a:avLst/>
          </a:prstGeom>
          <a:noFill/>
        </p:spPr>
        <p:txBody>
          <a:bodyPr wrap="none">
            <a:spAutoFit/>
          </a:bodyPr>
          <a:lstStyle/>
          <a:p>
            <a:pPr algn="ctr">
              <a:defRPr sz="840" b="1">
                <a:solidFill>
                  <a:srgbClr val="2D5D7B"/>
                </a:solidFill>
                <a:latin typeface="Microsoft YaHei"/>
              </a:defRPr>
            </a:pPr>
            <a:r>
              <a:t>Abundance</a:t>
            </a:r>
          </a:p>
        </p:txBody>
      </p:sp>
      <p:sp>
        <p:nvSpPr>
          <p:cNvPr id="10" name="TextBox 9"/>
          <p:cNvSpPr txBox="1"/>
          <p:nvPr/>
        </p:nvSpPr>
        <p:spPr>
          <a:xfrm>
            <a:off x="3976116" y="320954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4072128" y="3063240"/>
            <a:ext cx="156972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26992" y="3172968"/>
            <a:ext cx="1459992" cy="256032"/>
          </a:xfrm>
          <a:prstGeom prst="rect">
            <a:avLst/>
          </a:prstGeom>
          <a:noFill/>
        </p:spPr>
        <p:txBody>
          <a:bodyPr wrap="none">
            <a:spAutoFit/>
          </a:bodyPr>
          <a:lstStyle/>
          <a:p>
            <a:pPr algn="ctr">
              <a:defRPr sz="840" b="1">
                <a:solidFill>
                  <a:srgbClr val="2D5D7B"/>
                </a:solidFill>
                <a:latin typeface="Microsoft YaHei"/>
              </a:defRPr>
            </a:pPr>
            <a:r>
              <a:t>Modification</a:t>
            </a:r>
          </a:p>
        </p:txBody>
      </p:sp>
      <p:sp>
        <p:nvSpPr>
          <p:cNvPr id="13" name="TextBox 12"/>
          <p:cNvSpPr txBox="1"/>
          <p:nvPr/>
        </p:nvSpPr>
        <p:spPr>
          <a:xfrm>
            <a:off x="5655564" y="320954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5751576" y="3063240"/>
            <a:ext cx="156972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06440" y="3172968"/>
            <a:ext cx="1459992" cy="256032"/>
          </a:xfrm>
          <a:prstGeom prst="rect">
            <a:avLst/>
          </a:prstGeom>
          <a:noFill/>
        </p:spPr>
        <p:txBody>
          <a:bodyPr wrap="none">
            <a:spAutoFit/>
          </a:bodyPr>
          <a:lstStyle/>
          <a:p>
            <a:pPr algn="ctr">
              <a:defRPr sz="840" b="1">
                <a:solidFill>
                  <a:srgbClr val="2D5D7B"/>
                </a:solidFill>
                <a:latin typeface="Microsoft YaHei"/>
              </a:defRPr>
            </a:pPr>
            <a:r>
              <a:t>Structure</a:t>
            </a:r>
          </a:p>
        </p:txBody>
      </p:sp>
      <p:sp>
        <p:nvSpPr>
          <p:cNvPr id="16" name="TextBox 15"/>
          <p:cNvSpPr txBox="1"/>
          <p:nvPr/>
        </p:nvSpPr>
        <p:spPr>
          <a:xfrm>
            <a:off x="7335012" y="320954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7431024" y="3063240"/>
            <a:ext cx="156972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5888" y="3172968"/>
            <a:ext cx="1459992" cy="256032"/>
          </a:xfrm>
          <a:prstGeom prst="rect">
            <a:avLst/>
          </a:prstGeom>
          <a:noFill/>
        </p:spPr>
        <p:txBody>
          <a:bodyPr wrap="none">
            <a:spAutoFit/>
          </a:bodyPr>
          <a:lstStyle/>
          <a:p>
            <a:pPr algn="ctr">
              <a:defRPr sz="840" b="1">
                <a:solidFill>
                  <a:srgbClr val="2D5D7B"/>
                </a:solidFill>
                <a:latin typeface="Microsoft YaHei"/>
              </a:defRPr>
            </a:pPr>
            <a:r>
              <a:t>Charging</a:t>
            </a:r>
          </a:p>
        </p:txBody>
      </p:sp>
      <p:sp>
        <p:nvSpPr>
          <p:cNvPr id="19" name="TextBox 18"/>
          <p:cNvSpPr txBox="1"/>
          <p:nvPr/>
        </p:nvSpPr>
        <p:spPr>
          <a:xfrm>
            <a:off x="9014460" y="320954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0" name="Rounded Rectangle 19"/>
          <p:cNvSpPr/>
          <p:nvPr/>
        </p:nvSpPr>
        <p:spPr>
          <a:xfrm>
            <a:off x="9110472" y="3063240"/>
            <a:ext cx="156972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65336" y="3172968"/>
            <a:ext cx="1459992" cy="256032"/>
          </a:xfrm>
          <a:prstGeom prst="rect">
            <a:avLst/>
          </a:prstGeom>
          <a:noFill/>
        </p:spPr>
        <p:txBody>
          <a:bodyPr wrap="none">
            <a:spAutoFit/>
          </a:bodyPr>
          <a:lstStyle/>
          <a:p>
            <a:pPr algn="ctr">
              <a:defRPr sz="840" b="1">
                <a:solidFill>
                  <a:srgbClr val="2D5D7B"/>
                </a:solidFill>
                <a:latin typeface="Microsoft YaHei"/>
              </a:defRPr>
            </a:pPr>
            <a:r>
              <a:t>tDR annotation</a:t>
            </a:r>
          </a:p>
        </p:txBody>
      </p:sp>
      <p:sp>
        <p:nvSpPr>
          <p:cNvPr id="22" name="TextBox 21"/>
          <p:cNvSpPr txBox="1"/>
          <p:nvPr/>
        </p:nvSpPr>
        <p:spPr>
          <a:xfrm>
            <a:off x="713232" y="4069080"/>
            <a:ext cx="10515600" cy="640080"/>
          </a:xfrm>
          <a:prstGeom prst="rect">
            <a:avLst/>
          </a:prstGeom>
          <a:noFill/>
        </p:spPr>
        <p:txBody>
          <a:bodyPr wrap="square" anchor="t">
            <a:spAutoFit/>
          </a:bodyPr>
          <a:lstStyle/>
          <a:p>
            <a:pPr>
              <a:defRPr sz="1600" b="1">
                <a:solidFill>
                  <a:srgbClr val="1F262E"/>
                </a:solidFill>
                <a:latin typeface="Microsoft YaHei"/>
              </a:defRPr>
            </a:pPr>
            <a:r>
              <a:t>核心问题：tRNA 的短长度、高相似性、强二级结构和密集修饰，使常规 RNA-seq/小 RNA-seq/纳米孔流程都必须重新设计。</a:t>
            </a:r>
          </a:p>
        </p:txBody>
      </p:sp>
      <p:sp>
        <p:nvSpPr>
          <p:cNvPr id="23" name="TextBox 22"/>
          <p:cNvSpPr txBox="1"/>
          <p:nvPr/>
        </p:nvSpPr>
        <p:spPr>
          <a:xfrm>
            <a:off x="713232" y="6144768"/>
            <a:ext cx="10515600" cy="256032"/>
          </a:xfrm>
          <a:prstGeom prst="rect">
            <a:avLst/>
          </a:prstGeom>
          <a:noFill/>
        </p:spPr>
        <p:txBody>
          <a:bodyPr wrap="square" anchor="t">
            <a:spAutoFit/>
          </a:bodyPr>
          <a:lstStyle/>
          <a:p>
            <a:pPr>
              <a:defRPr sz="840" b="0">
                <a:solidFill>
                  <a:srgbClr val="5C6670"/>
                </a:solidFill>
                <a:latin typeface="Microsoft YaHei"/>
              </a:defRPr>
            </a:pPr>
            <a:r>
              <a:t>来源：本地文献包 + 新增 tRNAscan-SE 2.0、tDRnamer/tRAX 方法源；每页底部标注 PMID 与标题。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文献重新筛选：把“tRNA 相关”收束为“tRNA 分析工具”</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325880"/>
            <a:ext cx="1280160" cy="713232"/>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376172"/>
            <a:ext cx="1207007" cy="640080"/>
          </a:xfrm>
          <a:prstGeom prst="rect">
            <a:avLst/>
          </a:prstGeom>
          <a:noFill/>
        </p:spPr>
        <p:txBody>
          <a:bodyPr wrap="none">
            <a:spAutoFit/>
          </a:bodyPr>
          <a:lstStyle/>
          <a:p>
            <a:pPr>
              <a:defRPr sz="839" b="1">
                <a:solidFill>
                  <a:srgbClr val="1F262E"/>
                </a:solidFill>
                <a:latin typeface="Microsoft YaHei"/>
              </a:defRPr>
            </a:pPr>
            <a:r>
              <a:t>分类</a:t>
            </a:r>
          </a:p>
        </p:txBody>
      </p:sp>
      <p:sp>
        <p:nvSpPr>
          <p:cNvPr id="7" name="Rectangle 6"/>
          <p:cNvSpPr/>
          <p:nvPr/>
        </p:nvSpPr>
        <p:spPr>
          <a:xfrm>
            <a:off x="1874519" y="1325880"/>
            <a:ext cx="6400800" cy="713232"/>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11095" y="1376172"/>
            <a:ext cx="6327648" cy="640080"/>
          </a:xfrm>
          <a:prstGeom prst="rect">
            <a:avLst/>
          </a:prstGeom>
          <a:noFill/>
        </p:spPr>
        <p:txBody>
          <a:bodyPr wrap="none">
            <a:spAutoFit/>
          </a:bodyPr>
          <a:lstStyle/>
          <a:p>
            <a:pPr>
              <a:defRPr sz="839" b="1">
                <a:solidFill>
                  <a:srgbClr val="1F262E"/>
                </a:solidFill>
                <a:latin typeface="Microsoft YaHei"/>
              </a:defRPr>
            </a:pPr>
            <a:r>
              <a:t>纳入主线</a:t>
            </a:r>
          </a:p>
        </p:txBody>
      </p:sp>
      <p:sp>
        <p:nvSpPr>
          <p:cNvPr id="9" name="Rectangle 8"/>
          <p:cNvSpPr/>
          <p:nvPr/>
        </p:nvSpPr>
        <p:spPr>
          <a:xfrm>
            <a:off x="8275320" y="1325880"/>
            <a:ext cx="3063240" cy="713232"/>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11896" y="1376172"/>
            <a:ext cx="2990088" cy="640080"/>
          </a:xfrm>
          <a:prstGeom prst="rect">
            <a:avLst/>
          </a:prstGeom>
          <a:noFill/>
        </p:spPr>
        <p:txBody>
          <a:bodyPr wrap="none">
            <a:spAutoFit/>
          </a:bodyPr>
          <a:lstStyle/>
          <a:p>
            <a:pPr>
              <a:defRPr sz="839" b="1">
                <a:solidFill>
                  <a:srgbClr val="1F262E"/>
                </a:solidFill>
                <a:latin typeface="Microsoft YaHei"/>
              </a:defRPr>
            </a:pPr>
            <a:r>
              <a:t>作用</a:t>
            </a:r>
          </a:p>
        </p:txBody>
      </p:sp>
      <p:sp>
        <p:nvSpPr>
          <p:cNvPr id="11" name="Rectangle 10"/>
          <p:cNvSpPr/>
          <p:nvPr/>
        </p:nvSpPr>
        <p:spPr>
          <a:xfrm>
            <a:off x="594360" y="2039112"/>
            <a:ext cx="1280160" cy="71323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089404"/>
            <a:ext cx="1207007" cy="640080"/>
          </a:xfrm>
          <a:prstGeom prst="rect">
            <a:avLst/>
          </a:prstGeom>
          <a:noFill/>
        </p:spPr>
        <p:txBody>
          <a:bodyPr wrap="none">
            <a:spAutoFit/>
          </a:bodyPr>
          <a:lstStyle/>
          <a:p>
            <a:pPr>
              <a:defRPr sz="819" b="0">
                <a:solidFill>
                  <a:srgbClr val="1F262E"/>
                </a:solidFill>
                <a:latin typeface="Microsoft YaHei"/>
              </a:defRPr>
            </a:pPr>
            <a:r>
              <a:t>核心方法/算法</a:t>
            </a:r>
          </a:p>
        </p:txBody>
      </p:sp>
      <p:sp>
        <p:nvSpPr>
          <p:cNvPr id="13" name="Rectangle 12"/>
          <p:cNvSpPr/>
          <p:nvPr/>
        </p:nvSpPr>
        <p:spPr>
          <a:xfrm>
            <a:off x="1874519" y="2039112"/>
            <a:ext cx="6400800" cy="71323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11095" y="2089404"/>
            <a:ext cx="6327648" cy="640080"/>
          </a:xfrm>
          <a:prstGeom prst="rect">
            <a:avLst/>
          </a:prstGeom>
          <a:noFill/>
        </p:spPr>
        <p:txBody>
          <a:bodyPr wrap="none">
            <a:spAutoFit/>
          </a:bodyPr>
          <a:lstStyle/>
          <a:p>
            <a:pPr>
              <a:defRPr sz="819" b="0">
                <a:solidFill>
                  <a:srgbClr val="1F262E"/>
                </a:solidFill>
                <a:latin typeface="Microsoft YaHei"/>
              </a:defRPr>
            </a:pPr>
            <a:r>
              <a:t>tRNAscan-SE 2.0, QuantM, mim, Nano, Induro, aa-tRNA-seq, DM-DMS-MaPseq, ORACLE, LIDAR, tDRnamer/tRAX</a:t>
            </a:r>
          </a:p>
        </p:txBody>
      </p:sp>
      <p:sp>
        <p:nvSpPr>
          <p:cNvPr id="15" name="Rectangle 14"/>
          <p:cNvSpPr/>
          <p:nvPr/>
        </p:nvSpPr>
        <p:spPr>
          <a:xfrm>
            <a:off x="8275320" y="2039112"/>
            <a:ext cx="3063240" cy="71323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1896" y="2089404"/>
            <a:ext cx="2990088" cy="640080"/>
          </a:xfrm>
          <a:prstGeom prst="rect">
            <a:avLst/>
          </a:prstGeom>
          <a:noFill/>
        </p:spPr>
        <p:txBody>
          <a:bodyPr wrap="none">
            <a:spAutoFit/>
          </a:bodyPr>
          <a:lstStyle/>
          <a:p>
            <a:pPr>
              <a:defRPr sz="819" b="0">
                <a:solidFill>
                  <a:srgbClr val="1F262E"/>
                </a:solidFill>
                <a:latin typeface="Microsoft YaHei"/>
              </a:defRPr>
            </a:pPr>
            <a:r>
              <a:t>用于底层架构、识别逻辑、差异分析和改动方向</a:t>
            </a:r>
          </a:p>
        </p:txBody>
      </p:sp>
      <p:sp>
        <p:nvSpPr>
          <p:cNvPr id="17" name="Rectangle 16"/>
          <p:cNvSpPr/>
          <p:nvPr/>
        </p:nvSpPr>
        <p:spPr>
          <a:xfrm>
            <a:off x="594360" y="2752344"/>
            <a:ext cx="1280160" cy="71323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2802636"/>
            <a:ext cx="1207007" cy="640080"/>
          </a:xfrm>
          <a:prstGeom prst="rect">
            <a:avLst/>
          </a:prstGeom>
          <a:noFill/>
        </p:spPr>
        <p:txBody>
          <a:bodyPr wrap="none">
            <a:spAutoFit/>
          </a:bodyPr>
          <a:lstStyle/>
          <a:p>
            <a:pPr>
              <a:defRPr sz="819" b="0">
                <a:solidFill>
                  <a:srgbClr val="1F262E"/>
                </a:solidFill>
                <a:latin typeface="Microsoft YaHei"/>
              </a:defRPr>
            </a:pPr>
            <a:r>
              <a:t>背景/综述</a:t>
            </a:r>
          </a:p>
        </p:txBody>
      </p:sp>
      <p:sp>
        <p:nvSpPr>
          <p:cNvPr id="19" name="Rectangle 18"/>
          <p:cNvSpPr/>
          <p:nvPr/>
        </p:nvSpPr>
        <p:spPr>
          <a:xfrm>
            <a:off x="1874519" y="2752344"/>
            <a:ext cx="6400800" cy="71323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11095" y="2802636"/>
            <a:ext cx="6327648" cy="640080"/>
          </a:xfrm>
          <a:prstGeom prst="rect">
            <a:avLst/>
          </a:prstGeom>
          <a:noFill/>
        </p:spPr>
        <p:txBody>
          <a:bodyPr wrap="none">
            <a:spAutoFit/>
          </a:bodyPr>
          <a:lstStyle/>
          <a:p>
            <a:pPr>
              <a:defRPr sz="819" b="0">
                <a:solidFill>
                  <a:srgbClr val="1F262E"/>
                </a:solidFill>
                <a:latin typeface="Microsoft YaHei"/>
              </a:defRPr>
            </a:pPr>
            <a:r>
              <a:t>tRNA modification dynamics; tRNA renovatio; Quantifying tRNA abundance by sequencing</a:t>
            </a:r>
          </a:p>
        </p:txBody>
      </p:sp>
      <p:sp>
        <p:nvSpPr>
          <p:cNvPr id="21" name="Rectangle 20"/>
          <p:cNvSpPr/>
          <p:nvPr/>
        </p:nvSpPr>
        <p:spPr>
          <a:xfrm>
            <a:off x="8275320" y="2752344"/>
            <a:ext cx="3063240" cy="71323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1896" y="2802636"/>
            <a:ext cx="2990088" cy="640080"/>
          </a:xfrm>
          <a:prstGeom prst="rect">
            <a:avLst/>
          </a:prstGeom>
          <a:noFill/>
        </p:spPr>
        <p:txBody>
          <a:bodyPr wrap="none">
            <a:spAutoFit/>
          </a:bodyPr>
          <a:lstStyle/>
          <a:p>
            <a:pPr>
              <a:defRPr sz="819" b="0">
                <a:solidFill>
                  <a:srgbClr val="1F262E"/>
                </a:solidFill>
                <a:latin typeface="Microsoft YaHei"/>
              </a:defRPr>
            </a:pPr>
            <a:r>
              <a:t>定义技术瓶颈和未来 benchmark 需求</a:t>
            </a:r>
          </a:p>
        </p:txBody>
      </p:sp>
      <p:sp>
        <p:nvSpPr>
          <p:cNvPr id="23" name="Rectangle 22"/>
          <p:cNvSpPr/>
          <p:nvPr/>
        </p:nvSpPr>
        <p:spPr>
          <a:xfrm>
            <a:off x="594360" y="3465576"/>
            <a:ext cx="1280160" cy="71323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3515868"/>
            <a:ext cx="1207007" cy="640080"/>
          </a:xfrm>
          <a:prstGeom prst="rect">
            <a:avLst/>
          </a:prstGeom>
          <a:noFill/>
        </p:spPr>
        <p:txBody>
          <a:bodyPr wrap="none">
            <a:spAutoFit/>
          </a:bodyPr>
          <a:lstStyle/>
          <a:p>
            <a:pPr>
              <a:defRPr sz="819" b="0">
                <a:solidFill>
                  <a:srgbClr val="1F262E"/>
                </a:solidFill>
                <a:latin typeface="Microsoft YaHei"/>
              </a:defRPr>
            </a:pPr>
            <a:r>
              <a:t>删出主线</a:t>
            </a:r>
          </a:p>
        </p:txBody>
      </p:sp>
      <p:sp>
        <p:nvSpPr>
          <p:cNvPr id="25" name="Rectangle 24"/>
          <p:cNvSpPr/>
          <p:nvPr/>
        </p:nvSpPr>
        <p:spPr>
          <a:xfrm>
            <a:off x="1874519" y="3465576"/>
            <a:ext cx="6400800" cy="71323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11095" y="3515868"/>
            <a:ext cx="6327648" cy="640080"/>
          </a:xfrm>
          <a:prstGeom prst="rect">
            <a:avLst/>
          </a:prstGeom>
          <a:noFill/>
        </p:spPr>
        <p:txBody>
          <a:bodyPr wrap="none">
            <a:spAutoFit/>
          </a:bodyPr>
          <a:lstStyle/>
          <a:p>
            <a:pPr>
              <a:defRPr sz="819" b="0">
                <a:solidFill>
                  <a:srgbClr val="1F262E"/>
                </a:solidFill>
                <a:latin typeface="Microsoft YaHei"/>
              </a:defRPr>
            </a:pPr>
            <a:r>
              <a:t>AAV suppressor tRNA; tRNA neochromosome; 5'-tRFCys metastasis; Cas12a3 tRNA-tail cleavage</a:t>
            </a:r>
          </a:p>
        </p:txBody>
      </p:sp>
      <p:sp>
        <p:nvSpPr>
          <p:cNvPr id="27" name="Rectangle 26"/>
          <p:cNvSpPr/>
          <p:nvPr/>
        </p:nvSpPr>
        <p:spPr>
          <a:xfrm>
            <a:off x="8275320" y="3465576"/>
            <a:ext cx="3063240" cy="71323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11896" y="3515868"/>
            <a:ext cx="2990088" cy="640080"/>
          </a:xfrm>
          <a:prstGeom prst="rect">
            <a:avLst/>
          </a:prstGeom>
          <a:noFill/>
        </p:spPr>
        <p:txBody>
          <a:bodyPr wrap="none">
            <a:spAutoFit/>
          </a:bodyPr>
          <a:lstStyle/>
          <a:p>
            <a:pPr>
              <a:defRPr sz="819" b="0">
                <a:solidFill>
                  <a:srgbClr val="1F262E"/>
                </a:solidFill>
                <a:latin typeface="Microsoft YaHei"/>
              </a:defRPr>
            </a:pPr>
            <a:r>
              <a:t>偏治疗、合成生物学或机制；保留精读卡片和方法启发</a:t>
            </a:r>
          </a:p>
        </p:txBody>
      </p:sp>
      <p:sp>
        <p:nvSpPr>
          <p:cNvPr id="29" name="Rounded Rectangle 28"/>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最终主线以“识别对象 -&gt; 建库/读出 -&gt; 比对/分类 -&gt; 差异分析 -&gt; 可改动方向”为骨架。</a:t>
            </a:r>
          </a:p>
        </p:txBody>
      </p:sp>
      <p:sp>
        <p:nvSpPr>
          <p:cNvPr id="31" name="TextBox 30"/>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34417604: tRNAscan-SE 2.0: improved detection and functional classification of transfer RNA genes | PMID 32796835: Quantitative tRNA-sequencing uncovers metazoan tissue-specific tRNA regulation. | PMID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tRNA 分析不是一个任务，而是一组互相耦合的推断问题</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234440"/>
            <a:ext cx="1965960" cy="4069080"/>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362456"/>
            <a:ext cx="1636776" cy="237744"/>
          </a:xfrm>
          <a:prstGeom prst="rect">
            <a:avLst/>
          </a:prstGeom>
          <a:noFill/>
        </p:spPr>
        <p:txBody>
          <a:bodyPr wrap="square" anchor="t">
            <a:spAutoFit/>
          </a:bodyPr>
          <a:lstStyle/>
          <a:p>
            <a:pPr>
              <a:defRPr sz="1050" b="1">
                <a:solidFill>
                  <a:srgbClr val="2D5D7B"/>
                </a:solidFill>
                <a:latin typeface="Microsoft YaHei"/>
              </a:defRPr>
            </a:pPr>
            <a:r>
              <a:t>对象层</a:t>
            </a:r>
          </a:p>
        </p:txBody>
      </p:sp>
      <p:sp>
        <p:nvSpPr>
          <p:cNvPr id="7" name="TextBox 6"/>
          <p:cNvSpPr txBox="1"/>
          <p:nvPr/>
        </p:nvSpPr>
        <p:spPr>
          <a:xfrm>
            <a:off x="758952" y="1673352"/>
            <a:ext cx="1636776" cy="3566160"/>
          </a:xfrm>
          <a:prstGeom prst="rect">
            <a:avLst/>
          </a:prstGeom>
          <a:noFill/>
        </p:spPr>
        <p:txBody>
          <a:bodyPr wrap="square">
            <a:spAutoFit/>
          </a:bodyPr>
          <a:lstStyle/>
          <a:p>
            <a:pPr>
              <a:spcAft>
                <a:spcPts val="400"/>
              </a:spcAft>
              <a:defRPr sz="919">
                <a:solidFill>
                  <a:srgbClr val="1F262E"/>
                </a:solidFill>
                <a:latin typeface="Microsoft YaHei"/>
              </a:defRPr>
            </a:pPr>
            <a:r>
              <a:t>tRNA gene / pseudogene</a:t>
            </a:r>
          </a:p>
          <a:p>
            <a:pPr>
              <a:spcAft>
                <a:spcPts val="400"/>
              </a:spcAft>
              <a:defRPr sz="919">
                <a:solidFill>
                  <a:srgbClr val="1F262E"/>
                </a:solidFill>
                <a:latin typeface="Microsoft YaHei"/>
              </a:defRPr>
            </a:pPr>
            <a:r>
              <a:t>mature tRNA / isodecoder</a:t>
            </a:r>
          </a:p>
          <a:p>
            <a:pPr>
              <a:spcAft>
                <a:spcPts val="400"/>
              </a:spcAft>
              <a:defRPr sz="919">
                <a:solidFill>
                  <a:srgbClr val="1F262E"/>
                </a:solidFill>
                <a:latin typeface="Microsoft YaHei"/>
              </a:defRPr>
            </a:pPr>
            <a:r>
              <a:t>modification site</a:t>
            </a:r>
          </a:p>
          <a:p>
            <a:pPr>
              <a:spcAft>
                <a:spcPts val="400"/>
              </a:spcAft>
              <a:defRPr sz="919">
                <a:solidFill>
                  <a:srgbClr val="1F262E"/>
                </a:solidFill>
                <a:latin typeface="Microsoft YaHei"/>
              </a:defRPr>
            </a:pPr>
            <a:r>
              <a:t>structure/interactome</a:t>
            </a:r>
          </a:p>
          <a:p>
            <a:pPr>
              <a:spcAft>
                <a:spcPts val="400"/>
              </a:spcAft>
              <a:defRPr sz="919">
                <a:solidFill>
                  <a:srgbClr val="1F262E"/>
                </a:solidFill>
                <a:latin typeface="Microsoft YaHei"/>
              </a:defRPr>
            </a:pPr>
            <a:r>
              <a:t>aminoacylation</a:t>
            </a:r>
          </a:p>
          <a:p>
            <a:pPr>
              <a:spcAft>
                <a:spcPts val="400"/>
              </a:spcAft>
              <a:defRPr sz="919">
                <a:solidFill>
                  <a:srgbClr val="1F262E"/>
                </a:solidFill>
                <a:latin typeface="Microsoft YaHei"/>
              </a:defRPr>
            </a:pPr>
            <a:r>
              <a:t>tDR/tsRNA</a:t>
            </a:r>
          </a:p>
        </p:txBody>
      </p:sp>
      <p:sp>
        <p:nvSpPr>
          <p:cNvPr id="8" name="Rounded Rectangle 7"/>
          <p:cNvSpPr/>
          <p:nvPr/>
        </p:nvSpPr>
        <p:spPr>
          <a:xfrm>
            <a:off x="2788920" y="1234440"/>
            <a:ext cx="1965960" cy="4069080"/>
          </a:xfrm>
          <a:prstGeom prst="roundRect">
            <a:avLst/>
          </a:prstGeom>
          <a:solidFill>
            <a:srgbClr val="E8F1EA"/>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53512" y="1362456"/>
            <a:ext cx="1636776" cy="237744"/>
          </a:xfrm>
          <a:prstGeom prst="rect">
            <a:avLst/>
          </a:prstGeom>
          <a:noFill/>
        </p:spPr>
        <p:txBody>
          <a:bodyPr wrap="square" anchor="t">
            <a:spAutoFit/>
          </a:bodyPr>
          <a:lstStyle/>
          <a:p>
            <a:pPr>
              <a:defRPr sz="1050" b="1">
                <a:solidFill>
                  <a:srgbClr val="587C5D"/>
                </a:solidFill>
                <a:latin typeface="Microsoft YaHei"/>
              </a:defRPr>
            </a:pPr>
            <a:r>
              <a:t>读出层</a:t>
            </a:r>
          </a:p>
        </p:txBody>
      </p:sp>
      <p:sp>
        <p:nvSpPr>
          <p:cNvPr id="10" name="TextBox 9"/>
          <p:cNvSpPr txBox="1"/>
          <p:nvPr/>
        </p:nvSpPr>
        <p:spPr>
          <a:xfrm>
            <a:off x="2953512" y="1673352"/>
            <a:ext cx="1636776" cy="3566160"/>
          </a:xfrm>
          <a:prstGeom prst="rect">
            <a:avLst/>
          </a:prstGeom>
          <a:noFill/>
        </p:spPr>
        <p:txBody>
          <a:bodyPr wrap="square">
            <a:spAutoFit/>
          </a:bodyPr>
          <a:lstStyle/>
          <a:p>
            <a:pPr>
              <a:spcAft>
                <a:spcPts val="400"/>
              </a:spcAft>
              <a:defRPr sz="919">
                <a:solidFill>
                  <a:srgbClr val="1F262E"/>
                </a:solidFill>
                <a:latin typeface="Microsoft YaHei"/>
              </a:defRPr>
            </a:pPr>
            <a:r>
              <a:t>genome sequence</a:t>
            </a:r>
          </a:p>
          <a:p>
            <a:pPr>
              <a:spcAft>
                <a:spcPts val="400"/>
              </a:spcAft>
              <a:defRPr sz="919">
                <a:solidFill>
                  <a:srgbClr val="1F262E"/>
                </a:solidFill>
                <a:latin typeface="Microsoft YaHei"/>
              </a:defRPr>
            </a:pPr>
            <a:r>
              <a:t>short-read tRNA-seq</a:t>
            </a:r>
          </a:p>
          <a:p>
            <a:pPr>
              <a:spcAft>
                <a:spcPts val="400"/>
              </a:spcAft>
              <a:defRPr sz="919">
                <a:solidFill>
                  <a:srgbClr val="1F262E"/>
                </a:solidFill>
                <a:latin typeface="Microsoft YaHei"/>
              </a:defRPr>
            </a:pPr>
            <a:r>
              <a:t>RT mismatch/stop</a:t>
            </a:r>
          </a:p>
          <a:p>
            <a:pPr>
              <a:spcAft>
                <a:spcPts val="400"/>
              </a:spcAft>
              <a:defRPr sz="919">
                <a:solidFill>
                  <a:srgbClr val="1F262E"/>
                </a:solidFill>
                <a:latin typeface="Microsoft YaHei"/>
              </a:defRPr>
            </a:pPr>
            <a:r>
              <a:t>nanopore signal</a:t>
            </a:r>
          </a:p>
          <a:p>
            <a:pPr>
              <a:spcAft>
                <a:spcPts val="400"/>
              </a:spcAft>
              <a:defRPr sz="919">
                <a:solidFill>
                  <a:srgbClr val="1F262E"/>
                </a:solidFill>
                <a:latin typeface="Microsoft YaHei"/>
              </a:defRPr>
            </a:pPr>
            <a:r>
              <a:t>chemical probing</a:t>
            </a:r>
          </a:p>
          <a:p>
            <a:pPr>
              <a:spcAft>
                <a:spcPts val="400"/>
              </a:spcAft>
              <a:defRPr sz="919">
                <a:solidFill>
                  <a:srgbClr val="1F262E"/>
                </a:solidFill>
                <a:latin typeface="Microsoft YaHei"/>
              </a:defRPr>
            </a:pPr>
            <a:r>
              <a:t>small RNA-seq</a:t>
            </a:r>
          </a:p>
        </p:txBody>
      </p:sp>
      <p:sp>
        <p:nvSpPr>
          <p:cNvPr id="11" name="Rounded Rectangle 10"/>
          <p:cNvSpPr/>
          <p:nvPr/>
        </p:nvSpPr>
        <p:spPr>
          <a:xfrm>
            <a:off x="4983480" y="1234440"/>
            <a:ext cx="1965960" cy="4069080"/>
          </a:xfrm>
          <a:prstGeom prst="roundRect">
            <a:avLst/>
          </a:prstGeom>
          <a:solidFill>
            <a:srgbClr val="F6F0E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8072" y="1362456"/>
            <a:ext cx="1636776" cy="237744"/>
          </a:xfrm>
          <a:prstGeom prst="rect">
            <a:avLst/>
          </a:prstGeom>
          <a:noFill/>
        </p:spPr>
        <p:txBody>
          <a:bodyPr wrap="square" anchor="t">
            <a:spAutoFit/>
          </a:bodyPr>
          <a:lstStyle/>
          <a:p>
            <a:pPr>
              <a:defRPr sz="1050" b="1">
                <a:solidFill>
                  <a:srgbClr val="AB813F"/>
                </a:solidFill>
                <a:latin typeface="Microsoft YaHei"/>
              </a:defRPr>
            </a:pPr>
            <a:r>
              <a:t>算法层</a:t>
            </a:r>
          </a:p>
        </p:txBody>
      </p:sp>
      <p:sp>
        <p:nvSpPr>
          <p:cNvPr id="13" name="TextBox 12"/>
          <p:cNvSpPr txBox="1"/>
          <p:nvPr/>
        </p:nvSpPr>
        <p:spPr>
          <a:xfrm>
            <a:off x="5148072" y="1673352"/>
            <a:ext cx="1636776" cy="3566160"/>
          </a:xfrm>
          <a:prstGeom prst="rect">
            <a:avLst/>
          </a:prstGeom>
          <a:noFill/>
        </p:spPr>
        <p:txBody>
          <a:bodyPr wrap="square">
            <a:spAutoFit/>
          </a:bodyPr>
          <a:lstStyle/>
          <a:p>
            <a:pPr>
              <a:spcAft>
                <a:spcPts val="400"/>
              </a:spcAft>
              <a:defRPr sz="919">
                <a:solidFill>
                  <a:srgbClr val="1F262E"/>
                </a:solidFill>
                <a:latin typeface="Microsoft YaHei"/>
              </a:defRPr>
            </a:pPr>
            <a:r>
              <a:t>covariance model</a:t>
            </a:r>
          </a:p>
          <a:p>
            <a:pPr>
              <a:spcAft>
                <a:spcPts val="400"/>
              </a:spcAft>
              <a:defRPr sz="919">
                <a:solidFill>
                  <a:srgbClr val="1F262E"/>
                </a:solidFill>
                <a:latin typeface="Microsoft YaHei"/>
              </a:defRPr>
            </a:pPr>
            <a:r>
              <a:t>multi-mapping</a:t>
            </a:r>
          </a:p>
          <a:p>
            <a:pPr>
              <a:spcAft>
                <a:spcPts val="400"/>
              </a:spcAft>
              <a:defRPr sz="919">
                <a:solidFill>
                  <a:srgbClr val="1F262E"/>
                </a:solidFill>
                <a:latin typeface="Microsoft YaHei"/>
              </a:defRPr>
            </a:pPr>
            <a:r>
              <a:t>error/signature matrix</a:t>
            </a:r>
          </a:p>
          <a:p>
            <a:pPr>
              <a:spcAft>
                <a:spcPts val="400"/>
              </a:spcAft>
              <a:defRPr sz="919">
                <a:solidFill>
                  <a:srgbClr val="1F262E"/>
                </a:solidFill>
                <a:latin typeface="Microsoft YaHei"/>
              </a:defRPr>
            </a:pPr>
            <a:r>
              <a:t>ML signal classifier</a:t>
            </a:r>
          </a:p>
          <a:p>
            <a:pPr>
              <a:spcAft>
                <a:spcPts val="400"/>
              </a:spcAft>
              <a:defRPr sz="919">
                <a:solidFill>
                  <a:srgbClr val="1F262E"/>
                </a:solidFill>
                <a:latin typeface="Microsoft YaHei"/>
              </a:defRPr>
            </a:pPr>
            <a:r>
              <a:t>differential model</a:t>
            </a:r>
          </a:p>
          <a:p>
            <a:pPr>
              <a:spcAft>
                <a:spcPts val="400"/>
              </a:spcAft>
              <a:defRPr sz="919">
                <a:solidFill>
                  <a:srgbClr val="1F262E"/>
                </a:solidFill>
                <a:latin typeface="Microsoft YaHei"/>
              </a:defRPr>
            </a:pPr>
            <a:r>
              <a:t>ontology naming</a:t>
            </a:r>
          </a:p>
        </p:txBody>
      </p:sp>
      <p:sp>
        <p:nvSpPr>
          <p:cNvPr id="14" name="Rounded Rectangle 13"/>
          <p:cNvSpPr/>
          <p:nvPr/>
        </p:nvSpPr>
        <p:spPr>
          <a:xfrm>
            <a:off x="7178040" y="1234440"/>
            <a:ext cx="1965960" cy="406908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42631" y="1362456"/>
            <a:ext cx="1636776" cy="237744"/>
          </a:xfrm>
          <a:prstGeom prst="rect">
            <a:avLst/>
          </a:prstGeom>
          <a:noFill/>
        </p:spPr>
        <p:txBody>
          <a:bodyPr wrap="square" anchor="t">
            <a:spAutoFit/>
          </a:bodyPr>
          <a:lstStyle/>
          <a:p>
            <a:pPr>
              <a:defRPr sz="1050" b="1">
                <a:solidFill>
                  <a:srgbClr val="2D5D7B"/>
                </a:solidFill>
                <a:latin typeface="Microsoft YaHei"/>
              </a:defRPr>
            </a:pPr>
            <a:r>
              <a:t>统计层</a:t>
            </a:r>
          </a:p>
        </p:txBody>
      </p:sp>
      <p:sp>
        <p:nvSpPr>
          <p:cNvPr id="16" name="TextBox 15"/>
          <p:cNvSpPr txBox="1"/>
          <p:nvPr/>
        </p:nvSpPr>
        <p:spPr>
          <a:xfrm>
            <a:off x="7342631" y="1673352"/>
            <a:ext cx="1636776" cy="3566160"/>
          </a:xfrm>
          <a:prstGeom prst="rect">
            <a:avLst/>
          </a:prstGeom>
          <a:noFill/>
        </p:spPr>
        <p:txBody>
          <a:bodyPr wrap="square">
            <a:spAutoFit/>
          </a:bodyPr>
          <a:lstStyle/>
          <a:p>
            <a:pPr>
              <a:spcAft>
                <a:spcPts val="400"/>
              </a:spcAft>
              <a:defRPr sz="919">
                <a:solidFill>
                  <a:srgbClr val="1F262E"/>
                </a:solidFill>
                <a:latin typeface="Microsoft YaHei"/>
              </a:defRPr>
            </a:pPr>
            <a:r>
              <a:t>spike-in/UMI</a:t>
            </a:r>
          </a:p>
          <a:p>
            <a:pPr>
              <a:spcAft>
                <a:spcPts val="400"/>
              </a:spcAft>
              <a:defRPr sz="919">
                <a:solidFill>
                  <a:srgbClr val="1F262E"/>
                </a:solidFill>
                <a:latin typeface="Microsoft YaHei"/>
              </a:defRPr>
            </a:pPr>
            <a:r>
              <a:t>negative binomial</a:t>
            </a:r>
          </a:p>
          <a:p>
            <a:pPr>
              <a:spcAft>
                <a:spcPts val="400"/>
              </a:spcAft>
              <a:defRPr sz="919">
                <a:solidFill>
                  <a:srgbClr val="1F262E"/>
                </a:solidFill>
                <a:latin typeface="Microsoft YaHei"/>
              </a:defRPr>
            </a:pPr>
            <a:r>
              <a:t>beta-binomial</a:t>
            </a:r>
          </a:p>
          <a:p>
            <a:pPr>
              <a:spcAft>
                <a:spcPts val="400"/>
              </a:spcAft>
              <a:defRPr sz="919">
                <a:solidFill>
                  <a:srgbClr val="1F262E"/>
                </a:solidFill>
                <a:latin typeface="Microsoft YaHei"/>
              </a:defRPr>
            </a:pPr>
            <a:r>
              <a:t>mixed model</a:t>
            </a:r>
          </a:p>
          <a:p>
            <a:pPr>
              <a:spcAft>
                <a:spcPts val="400"/>
              </a:spcAft>
              <a:defRPr sz="919">
                <a:solidFill>
                  <a:srgbClr val="1F262E"/>
                </a:solidFill>
                <a:latin typeface="Microsoft YaHei"/>
              </a:defRPr>
            </a:pPr>
            <a:r>
              <a:t>batch correction</a:t>
            </a:r>
          </a:p>
          <a:p>
            <a:pPr>
              <a:spcAft>
                <a:spcPts val="400"/>
              </a:spcAft>
              <a:defRPr sz="919">
                <a:solidFill>
                  <a:srgbClr val="1F262E"/>
                </a:solidFill>
                <a:latin typeface="Microsoft YaHei"/>
              </a:defRPr>
            </a:pPr>
            <a:r>
              <a:t>uncertainty propagation</a:t>
            </a:r>
          </a:p>
        </p:txBody>
      </p:sp>
      <p:sp>
        <p:nvSpPr>
          <p:cNvPr id="17" name="Rounded Rectangle 16"/>
          <p:cNvSpPr/>
          <p:nvPr/>
        </p:nvSpPr>
        <p:spPr>
          <a:xfrm>
            <a:off x="9372600" y="1234440"/>
            <a:ext cx="1965960" cy="4069080"/>
          </a:xfrm>
          <a:prstGeom prst="roundRect">
            <a:avLst/>
          </a:prstGeom>
          <a:solidFill>
            <a:srgbClr val="F6E9E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37192" y="1362456"/>
            <a:ext cx="1636776" cy="237744"/>
          </a:xfrm>
          <a:prstGeom prst="rect">
            <a:avLst/>
          </a:prstGeom>
          <a:noFill/>
        </p:spPr>
        <p:txBody>
          <a:bodyPr wrap="square" anchor="t">
            <a:spAutoFit/>
          </a:bodyPr>
          <a:lstStyle/>
          <a:p>
            <a:pPr>
              <a:defRPr sz="1050" b="1">
                <a:solidFill>
                  <a:srgbClr val="994943"/>
                </a:solidFill>
                <a:latin typeface="Microsoft YaHei"/>
              </a:defRPr>
            </a:pPr>
            <a:r>
              <a:t>解释层</a:t>
            </a:r>
          </a:p>
        </p:txBody>
      </p:sp>
      <p:sp>
        <p:nvSpPr>
          <p:cNvPr id="19" name="TextBox 18"/>
          <p:cNvSpPr txBox="1"/>
          <p:nvPr/>
        </p:nvSpPr>
        <p:spPr>
          <a:xfrm>
            <a:off x="9537192" y="1673352"/>
            <a:ext cx="1636776" cy="3566160"/>
          </a:xfrm>
          <a:prstGeom prst="rect">
            <a:avLst/>
          </a:prstGeom>
          <a:noFill/>
        </p:spPr>
        <p:txBody>
          <a:bodyPr wrap="square">
            <a:spAutoFit/>
          </a:bodyPr>
          <a:lstStyle/>
          <a:p>
            <a:pPr>
              <a:spcAft>
                <a:spcPts val="400"/>
              </a:spcAft>
              <a:defRPr sz="919">
                <a:solidFill>
                  <a:srgbClr val="1F262E"/>
                </a:solidFill>
                <a:latin typeface="Microsoft YaHei"/>
              </a:defRPr>
            </a:pPr>
            <a:r>
              <a:t>codon demand</a:t>
            </a:r>
          </a:p>
          <a:p>
            <a:pPr>
              <a:spcAft>
                <a:spcPts val="400"/>
              </a:spcAft>
              <a:defRPr sz="919">
                <a:solidFill>
                  <a:srgbClr val="1F262E"/>
                </a:solidFill>
                <a:latin typeface="Microsoft YaHei"/>
              </a:defRPr>
            </a:pPr>
            <a:r>
              <a:t>stress response</a:t>
            </a:r>
          </a:p>
          <a:p>
            <a:pPr>
              <a:spcAft>
                <a:spcPts val="400"/>
              </a:spcAft>
              <a:defRPr sz="919">
                <a:solidFill>
                  <a:srgbClr val="1F262E"/>
                </a:solidFill>
                <a:latin typeface="Microsoft YaHei"/>
              </a:defRPr>
            </a:pPr>
            <a:r>
              <a:t>modification crosstalk</a:t>
            </a:r>
          </a:p>
          <a:p>
            <a:pPr>
              <a:spcAft>
                <a:spcPts val="400"/>
              </a:spcAft>
              <a:defRPr sz="919">
                <a:solidFill>
                  <a:srgbClr val="1F262E"/>
                </a:solidFill>
                <a:latin typeface="Microsoft YaHei"/>
              </a:defRPr>
            </a:pPr>
            <a:r>
              <a:t>translation efficiency</a:t>
            </a:r>
          </a:p>
          <a:p>
            <a:pPr>
              <a:spcAft>
                <a:spcPts val="400"/>
              </a:spcAft>
              <a:defRPr sz="919">
                <a:solidFill>
                  <a:srgbClr val="1F262E"/>
                </a:solidFill>
                <a:latin typeface="Microsoft YaHei"/>
              </a:defRPr>
            </a:pPr>
            <a:r>
              <a:t>tDR function</a:t>
            </a:r>
          </a:p>
          <a:p>
            <a:pPr>
              <a:spcAft>
                <a:spcPts val="400"/>
              </a:spcAft>
              <a:defRPr sz="919">
                <a:solidFill>
                  <a:srgbClr val="1F262E"/>
                </a:solidFill>
                <a:latin typeface="Microsoft YaHei"/>
              </a:defRPr>
            </a:pPr>
            <a:r>
              <a:t>clinical/engineering use</a:t>
            </a:r>
          </a:p>
        </p:txBody>
      </p:sp>
      <p:sp>
        <p:nvSpPr>
          <p:cNvPr id="20" name="Rounded Rectangle 19"/>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工具缺陷通常不是单点问题，而是从建库偏差一路传递到统计和生物解释。</a:t>
            </a:r>
          </a:p>
        </p:txBody>
      </p:sp>
      <p:sp>
        <p:nvSpPr>
          <p:cNvPr id="22" name="TextBox 21"/>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34417604: tRNAscan-SE 2.0: improved detection and functional classification of transfer RNA genes | PMID 32796835: Quantitative tRNA-sequencing uncovers metazoan tissue-specific tRNA regulation. | PMID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tRNA 工具的共同底层难点</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188720"/>
            <a:ext cx="3429000" cy="1234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1316736"/>
            <a:ext cx="3099816" cy="237744"/>
          </a:xfrm>
          <a:prstGeom prst="rect">
            <a:avLst/>
          </a:prstGeom>
          <a:noFill/>
        </p:spPr>
        <p:txBody>
          <a:bodyPr wrap="square" anchor="t">
            <a:spAutoFit/>
          </a:bodyPr>
          <a:lstStyle/>
          <a:p>
            <a:pPr>
              <a:defRPr sz="1050" b="1">
                <a:solidFill>
                  <a:srgbClr val="2D5D7B"/>
                </a:solidFill>
                <a:latin typeface="Microsoft YaHei"/>
              </a:defRPr>
            </a:pPr>
            <a:r>
              <a:t>短且高度相似</a:t>
            </a:r>
          </a:p>
        </p:txBody>
      </p:sp>
      <p:sp>
        <p:nvSpPr>
          <p:cNvPr id="7" name="TextBox 6"/>
          <p:cNvSpPr txBox="1"/>
          <p:nvPr/>
        </p:nvSpPr>
        <p:spPr>
          <a:xfrm>
            <a:off x="850392" y="1627632"/>
            <a:ext cx="3099816" cy="731520"/>
          </a:xfrm>
          <a:prstGeom prst="rect">
            <a:avLst/>
          </a:prstGeom>
          <a:noFill/>
        </p:spPr>
        <p:txBody>
          <a:bodyPr wrap="square" anchor="t">
            <a:spAutoFit/>
          </a:bodyPr>
          <a:lstStyle/>
          <a:p>
            <a:pPr>
              <a:defRPr sz="940" b="0">
                <a:solidFill>
                  <a:srgbClr val="1F262E"/>
                </a:solidFill>
                <a:latin typeface="Microsoft YaHei"/>
              </a:defRPr>
            </a:pPr>
            <a:r>
              <a:t>isodecoder/isotype 之间差异小，多重比对导致 gene-level abundance 不稳定。</a:t>
            </a:r>
          </a:p>
        </p:txBody>
      </p:sp>
      <p:sp>
        <p:nvSpPr>
          <p:cNvPr id="8" name="Rounded Rectangle 7"/>
          <p:cNvSpPr/>
          <p:nvPr/>
        </p:nvSpPr>
        <p:spPr>
          <a:xfrm>
            <a:off x="4389120" y="1188720"/>
            <a:ext cx="3429000" cy="1234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316736"/>
            <a:ext cx="3099816" cy="237744"/>
          </a:xfrm>
          <a:prstGeom prst="rect">
            <a:avLst/>
          </a:prstGeom>
          <a:noFill/>
        </p:spPr>
        <p:txBody>
          <a:bodyPr wrap="square" anchor="t">
            <a:spAutoFit/>
          </a:bodyPr>
          <a:lstStyle/>
          <a:p>
            <a:pPr>
              <a:defRPr sz="1050" b="1">
                <a:solidFill>
                  <a:srgbClr val="2D5D7B"/>
                </a:solidFill>
                <a:latin typeface="Microsoft YaHei"/>
              </a:defRPr>
            </a:pPr>
            <a:r>
              <a:t>修饰密集</a:t>
            </a:r>
          </a:p>
        </p:txBody>
      </p:sp>
      <p:sp>
        <p:nvSpPr>
          <p:cNvPr id="10" name="TextBox 9"/>
          <p:cNvSpPr txBox="1"/>
          <p:nvPr/>
        </p:nvSpPr>
        <p:spPr>
          <a:xfrm>
            <a:off x="4553712" y="1627632"/>
            <a:ext cx="3099816" cy="731520"/>
          </a:xfrm>
          <a:prstGeom prst="rect">
            <a:avLst/>
          </a:prstGeom>
          <a:noFill/>
        </p:spPr>
        <p:txBody>
          <a:bodyPr wrap="square" anchor="t">
            <a:spAutoFit/>
          </a:bodyPr>
          <a:lstStyle/>
          <a:p>
            <a:pPr>
              <a:defRPr sz="940" b="0">
                <a:solidFill>
                  <a:srgbClr val="1F262E"/>
                </a:solidFill>
                <a:latin typeface="Microsoft YaHei"/>
              </a:defRPr>
            </a:pPr>
            <a:r>
              <a:t>RT stop、misincorporation 和 nanopore signal shift 既是偏差，也是可利用的信号。</a:t>
            </a:r>
          </a:p>
        </p:txBody>
      </p:sp>
      <p:sp>
        <p:nvSpPr>
          <p:cNvPr id="11" name="Rounded Rectangle 10"/>
          <p:cNvSpPr/>
          <p:nvPr/>
        </p:nvSpPr>
        <p:spPr>
          <a:xfrm>
            <a:off x="8092440" y="1188720"/>
            <a:ext cx="3429000" cy="1234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1316736"/>
            <a:ext cx="3099816" cy="237744"/>
          </a:xfrm>
          <a:prstGeom prst="rect">
            <a:avLst/>
          </a:prstGeom>
          <a:noFill/>
        </p:spPr>
        <p:txBody>
          <a:bodyPr wrap="square" anchor="t">
            <a:spAutoFit/>
          </a:bodyPr>
          <a:lstStyle/>
          <a:p>
            <a:pPr>
              <a:defRPr sz="1050" b="1">
                <a:solidFill>
                  <a:srgbClr val="2D5D7B"/>
                </a:solidFill>
                <a:latin typeface="Microsoft YaHei"/>
              </a:defRPr>
            </a:pPr>
            <a:r>
              <a:t>结构强</a:t>
            </a:r>
          </a:p>
        </p:txBody>
      </p:sp>
      <p:sp>
        <p:nvSpPr>
          <p:cNvPr id="13" name="TextBox 12"/>
          <p:cNvSpPr txBox="1"/>
          <p:nvPr/>
        </p:nvSpPr>
        <p:spPr>
          <a:xfrm>
            <a:off x="8257031" y="1627632"/>
            <a:ext cx="3099816" cy="731520"/>
          </a:xfrm>
          <a:prstGeom prst="rect">
            <a:avLst/>
          </a:prstGeom>
          <a:noFill/>
        </p:spPr>
        <p:txBody>
          <a:bodyPr wrap="square" anchor="t">
            <a:spAutoFit/>
          </a:bodyPr>
          <a:lstStyle/>
          <a:p>
            <a:pPr>
              <a:defRPr sz="940" b="0">
                <a:solidFill>
                  <a:srgbClr val="1F262E"/>
                </a:solidFill>
                <a:latin typeface="Microsoft YaHei"/>
              </a:defRPr>
            </a:pPr>
            <a:r>
              <a:t>二级结构影响接头连接、RT 穿越、化学探针可及性和读段完整性。</a:t>
            </a:r>
          </a:p>
        </p:txBody>
      </p:sp>
      <p:sp>
        <p:nvSpPr>
          <p:cNvPr id="14" name="Rounded Rectangle 13"/>
          <p:cNvSpPr/>
          <p:nvPr/>
        </p:nvSpPr>
        <p:spPr>
          <a:xfrm>
            <a:off x="685800" y="2834640"/>
            <a:ext cx="3429000" cy="1234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962656"/>
            <a:ext cx="3099816" cy="237744"/>
          </a:xfrm>
          <a:prstGeom prst="rect">
            <a:avLst/>
          </a:prstGeom>
          <a:noFill/>
        </p:spPr>
        <p:txBody>
          <a:bodyPr wrap="square" anchor="t">
            <a:spAutoFit/>
          </a:bodyPr>
          <a:lstStyle/>
          <a:p>
            <a:pPr>
              <a:defRPr sz="1050" b="1">
                <a:solidFill>
                  <a:srgbClr val="2D5D7B"/>
                </a:solidFill>
                <a:latin typeface="Microsoft YaHei"/>
              </a:defRPr>
            </a:pPr>
            <a:r>
              <a:t>末端状态复杂</a:t>
            </a:r>
          </a:p>
        </p:txBody>
      </p:sp>
      <p:sp>
        <p:nvSpPr>
          <p:cNvPr id="16" name="TextBox 15"/>
          <p:cNvSpPr txBox="1"/>
          <p:nvPr/>
        </p:nvSpPr>
        <p:spPr>
          <a:xfrm>
            <a:off x="850392" y="3273552"/>
            <a:ext cx="3099816" cy="731520"/>
          </a:xfrm>
          <a:prstGeom prst="rect">
            <a:avLst/>
          </a:prstGeom>
          <a:noFill/>
        </p:spPr>
        <p:txBody>
          <a:bodyPr wrap="square" anchor="t">
            <a:spAutoFit/>
          </a:bodyPr>
          <a:lstStyle/>
          <a:p>
            <a:pPr>
              <a:defRPr sz="940" b="0">
                <a:solidFill>
                  <a:srgbClr val="1F262E"/>
                </a:solidFill>
                <a:latin typeface="Microsoft YaHei"/>
              </a:defRPr>
            </a:pPr>
            <a:r>
              <a:t>CCA、氨酰化、blocked 3' termini 和 tDR 切割位点改变建库可见性。</a:t>
            </a:r>
          </a:p>
        </p:txBody>
      </p:sp>
      <p:sp>
        <p:nvSpPr>
          <p:cNvPr id="17" name="Rounded Rectangle 16"/>
          <p:cNvSpPr/>
          <p:nvPr/>
        </p:nvSpPr>
        <p:spPr>
          <a:xfrm>
            <a:off x="4389120" y="2834640"/>
            <a:ext cx="3429000" cy="1234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3712" y="2962656"/>
            <a:ext cx="3099816" cy="237744"/>
          </a:xfrm>
          <a:prstGeom prst="rect">
            <a:avLst/>
          </a:prstGeom>
          <a:noFill/>
        </p:spPr>
        <p:txBody>
          <a:bodyPr wrap="square" anchor="t">
            <a:spAutoFit/>
          </a:bodyPr>
          <a:lstStyle/>
          <a:p>
            <a:pPr>
              <a:defRPr sz="1050" b="1">
                <a:solidFill>
                  <a:srgbClr val="2D5D7B"/>
                </a:solidFill>
                <a:latin typeface="Microsoft YaHei"/>
              </a:defRPr>
            </a:pPr>
            <a:r>
              <a:t>参考体系不唯一</a:t>
            </a:r>
          </a:p>
        </p:txBody>
      </p:sp>
      <p:sp>
        <p:nvSpPr>
          <p:cNvPr id="19" name="TextBox 18"/>
          <p:cNvSpPr txBox="1"/>
          <p:nvPr/>
        </p:nvSpPr>
        <p:spPr>
          <a:xfrm>
            <a:off x="4553712" y="3273552"/>
            <a:ext cx="3099816" cy="731520"/>
          </a:xfrm>
          <a:prstGeom prst="rect">
            <a:avLst/>
          </a:prstGeom>
          <a:noFill/>
        </p:spPr>
        <p:txBody>
          <a:bodyPr wrap="square" anchor="t">
            <a:spAutoFit/>
          </a:bodyPr>
          <a:lstStyle/>
          <a:p>
            <a:pPr>
              <a:defRPr sz="940" b="0">
                <a:solidFill>
                  <a:srgbClr val="1F262E"/>
                </a:solidFill>
                <a:latin typeface="Microsoft YaHei"/>
              </a:defRPr>
            </a:pPr>
            <a:r>
              <a:t>基因组 tRNA、成熟 tRNA、线粒体 tRNA、pseudogene 和 tDR ontology 需要统一坐标。</a:t>
            </a:r>
          </a:p>
        </p:txBody>
      </p:sp>
      <p:sp>
        <p:nvSpPr>
          <p:cNvPr id="20" name="Rounded Rectangle 19"/>
          <p:cNvSpPr/>
          <p:nvPr/>
        </p:nvSpPr>
        <p:spPr>
          <a:xfrm>
            <a:off x="8092440" y="2834640"/>
            <a:ext cx="3429000" cy="1234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7031" y="2962656"/>
            <a:ext cx="3099816" cy="237744"/>
          </a:xfrm>
          <a:prstGeom prst="rect">
            <a:avLst/>
          </a:prstGeom>
          <a:noFill/>
        </p:spPr>
        <p:txBody>
          <a:bodyPr wrap="square" anchor="t">
            <a:spAutoFit/>
          </a:bodyPr>
          <a:lstStyle/>
          <a:p>
            <a:pPr>
              <a:defRPr sz="1050" b="1">
                <a:solidFill>
                  <a:srgbClr val="2D5D7B"/>
                </a:solidFill>
                <a:latin typeface="Microsoft YaHei"/>
              </a:defRPr>
            </a:pPr>
            <a:r>
              <a:t>差异分析层级多</a:t>
            </a:r>
          </a:p>
        </p:txBody>
      </p:sp>
      <p:sp>
        <p:nvSpPr>
          <p:cNvPr id="22" name="TextBox 21"/>
          <p:cNvSpPr txBox="1"/>
          <p:nvPr/>
        </p:nvSpPr>
        <p:spPr>
          <a:xfrm>
            <a:off x="8257031" y="3273552"/>
            <a:ext cx="3099816" cy="731520"/>
          </a:xfrm>
          <a:prstGeom prst="rect">
            <a:avLst/>
          </a:prstGeom>
          <a:noFill/>
        </p:spPr>
        <p:txBody>
          <a:bodyPr wrap="square" anchor="t">
            <a:spAutoFit/>
          </a:bodyPr>
          <a:lstStyle/>
          <a:p>
            <a:pPr>
              <a:defRPr sz="940" b="0">
                <a:solidFill>
                  <a:srgbClr val="1F262E"/>
                </a:solidFill>
                <a:latin typeface="Microsoft YaHei"/>
              </a:defRPr>
            </a:pPr>
            <a:r>
              <a:t>abundance、modification fraction、structure reactivity、charging ratio 与 fragment class 不是同一种统计量。</a:t>
            </a:r>
          </a:p>
        </p:txBody>
      </p:sp>
      <p:sp>
        <p:nvSpPr>
          <p:cNvPr id="23" name="Rounded Rectangle 22"/>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一个稳健 pipeline 必须把“无法唯一判断”的不确定性保留下来，而不是过早硬分配。</a:t>
            </a:r>
          </a:p>
        </p:txBody>
      </p:sp>
      <p:sp>
        <p:nvSpPr>
          <p:cNvPr id="25" name="TextBox 24"/>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32796835: Quantitative tRNA-sequencing uncovers metazoan tissue-specific tRNA regulation. | PMID 33581077: High-resolution quantitative profiling of tRNA abundance and modification status in eukaryotes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主线新增 | Nucleic Acids Research 2021 | PMID 34417604</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01｜基因识别：tRNAscan-SE 2.0: improved detection and functional classificat</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主线新增</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候选区域扫描</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Infernal/协方差模型评分</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isotype 与 anticodon 分类</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伪基因和线粒体 tRNA 过滤</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先用高速候选扫描缩小搜索空间，再用协方差模型和特征分类确认 tRNA 基因、伪基因与功能类别。</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tRNA 的保守二级结构和身份元件足以支持跨基因组、高灵敏度的自动识别与分类。</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候选区域扫描</a:t>
            </a:r>
          </a:p>
          <a:p>
            <a:pPr>
              <a:spcAft>
                <a:spcPts val="400"/>
              </a:spcAft>
              <a:defRPr sz="919">
                <a:solidFill>
                  <a:srgbClr val="1F262E"/>
                </a:solidFill>
                <a:latin typeface="Microsoft YaHei"/>
              </a:defRPr>
            </a:pPr>
            <a:r>
              <a:t>Infernal/协方差模型评分</a:t>
            </a:r>
          </a:p>
          <a:p>
            <a:pPr>
              <a:spcAft>
                <a:spcPts val="400"/>
              </a:spcAft>
              <a:defRPr sz="919">
                <a:solidFill>
                  <a:srgbClr val="1F262E"/>
                </a:solidFill>
                <a:latin typeface="Microsoft YaHei"/>
              </a:defRPr>
            </a:pPr>
            <a:r>
              <a:t>isotype 与 anticodon 分类</a:t>
            </a:r>
          </a:p>
          <a:p>
            <a:pPr>
              <a:spcAft>
                <a:spcPts val="400"/>
              </a:spcAft>
              <a:defRPr sz="919">
                <a:solidFill>
                  <a:srgbClr val="1F262E"/>
                </a:solidFill>
                <a:latin typeface="Microsoft YaHei"/>
              </a:defRPr>
            </a:pPr>
            <a:r>
              <a:t>伪基因和线粒体 tRNA 过滤</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提升复杂基因组中 tRNA 与 tRNA-like 元件的识别能力，是后续 tRNA-seq 注释与参考库构建的上游基础。</a:t>
            </a:r>
          </a:p>
          <a:p>
            <a:pPr>
              <a:spcAft>
                <a:spcPts val="400"/>
              </a:spcAft>
              <a:defRPr sz="919">
                <a:solidFill>
                  <a:srgbClr val="1F262E"/>
                </a:solidFill>
                <a:latin typeface="Microsoft YaHei"/>
              </a:defRPr>
            </a:pPr>
            <a:r>
              <a:t>局限在于表达状态、修饰和样本特异性无法由基因组序列直接推断；后续应与测序证据和 pangenome/reference graph 结合。</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汇报定位：基因识别</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识别逻辑：先用高速候选扫描缩小搜索空间，再用协方差模型和特征分类确认 tRNA 基因、伪基因与功能类别。</a:t>
            </a:r>
          </a:p>
          <a:p>
            <a:pPr>
              <a:spcAft>
                <a:spcPts val="400"/>
              </a:spcAft>
              <a:defRPr sz="940">
                <a:solidFill>
                  <a:srgbClr val="1F262E"/>
                </a:solidFill>
                <a:latin typeface="Microsoft YaHei"/>
              </a:defRPr>
            </a:pPr>
            <a:r>
              <a:t>可改动方向：局限在于表达状态、修饰和样本特异性无法由基因组序列直接推断；后续应与测序证据和 pangenome/reference graph 结合。</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基因识别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34417604: tRNAscan-SE 2.0: improved detection and functional classification of transfer RNA genes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主线保留 | Nature communications 2020 | PMID 32796835</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02｜丰度定量：Quantitative tRNA-sequencing uncovers metazoan tissue-specific</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主线保留</a:t>
            </a:r>
          </a:p>
        </p:txBody>
      </p:sp>
      <p:pic>
        <p:nvPicPr>
          <p:cNvPr id="8" name="Picture 7" descr="PMC7428014_41467_2020_17879_Fig1_HTML.jpg"/>
          <p:cNvPicPr>
            <a:picLocks noChangeAspect="1"/>
          </p:cNvPicPr>
          <p:nvPr/>
        </p:nvPicPr>
        <p:blipFill>
          <a:blip r:embed="rId2"/>
          <a:stretch>
            <a:fillRect/>
          </a:stretch>
        </p:blipFill>
        <p:spPr>
          <a:xfrm>
            <a:off x="621792" y="1444752"/>
            <a:ext cx="4709160" cy="2788920"/>
          </a:xfrm>
          <a:prstGeom prst="rect">
            <a:avLst/>
          </a:prstGeom>
        </p:spPr>
      </p:pic>
      <p:sp>
        <p:nvSpPr>
          <p:cNvPr id="9" name="Rounded Rectangle 8"/>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11" name="TextBox 10"/>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QuantM-tRNA-seq 通过成熟 tRNA 建库、环化/接头策略与全长读段来量化组织间 tRNA 表达差异。</a:t>
            </a:r>
          </a:p>
        </p:txBody>
      </p:sp>
      <p:sp>
        <p:nvSpPr>
          <p:cNvPr id="12" name="Rounded Rectangle 11"/>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14" name="TextBox 13"/>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成熟 tRNA 的丰度与修饰差异可通过专门建库和比对策略从常规测序偏差中恢复。</a:t>
            </a:r>
          </a:p>
        </p:txBody>
      </p:sp>
      <p:sp>
        <p:nvSpPr>
          <p:cNvPr id="15" name="Rounded Rectangle 14"/>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17" name="TextBox 16"/>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tRNA 末端处理与接头连接</a:t>
            </a:r>
          </a:p>
          <a:p>
            <a:pPr>
              <a:spcAft>
                <a:spcPts val="400"/>
              </a:spcAft>
              <a:defRPr sz="919">
                <a:solidFill>
                  <a:srgbClr val="1F262E"/>
                </a:solidFill>
                <a:latin typeface="Microsoft YaHei"/>
              </a:defRPr>
            </a:pPr>
            <a:r>
              <a:t>RT 与 PCR 建库</a:t>
            </a:r>
          </a:p>
          <a:p>
            <a:pPr>
              <a:spcAft>
                <a:spcPts val="400"/>
              </a:spcAft>
              <a:defRPr sz="919">
                <a:solidFill>
                  <a:srgbClr val="1F262E"/>
                </a:solidFill>
                <a:latin typeface="Microsoft YaHei"/>
              </a:defRPr>
            </a:pPr>
            <a:r>
              <a:t>tRNA 专用参考比对</a:t>
            </a:r>
          </a:p>
          <a:p>
            <a:pPr>
              <a:spcAft>
                <a:spcPts val="400"/>
              </a:spcAft>
              <a:defRPr sz="919">
                <a:solidFill>
                  <a:srgbClr val="1F262E"/>
                </a:solidFill>
                <a:latin typeface="Microsoft YaHei"/>
              </a:defRPr>
            </a:pPr>
            <a:r>
              <a:t>组织/等解码 tRNA 差异比较</a:t>
            </a:r>
          </a:p>
        </p:txBody>
      </p:sp>
      <p:sp>
        <p:nvSpPr>
          <p:cNvPr id="18" name="Rounded Rectangle 17"/>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20" name="TextBox 19"/>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小鼠组织间 isodecoder 表达和修饰痕迹差异显著，但 anticodon pool 受到缓冲。</a:t>
            </a:r>
          </a:p>
          <a:p>
            <a:pPr>
              <a:spcAft>
                <a:spcPts val="400"/>
              </a:spcAft>
              <a:defRPr sz="919">
                <a:solidFill>
                  <a:srgbClr val="1F262E"/>
                </a:solidFill>
                <a:latin typeface="Microsoft YaHei"/>
              </a:defRPr>
            </a:pPr>
            <a:r>
              <a:t>短读长仍受多重比对、RT stop 与高相似序列限制；需要 spike-in、UMI 与概率分配模型提升绝对定量。</a:t>
            </a:r>
          </a:p>
        </p:txBody>
      </p:sp>
      <p:sp>
        <p:nvSpPr>
          <p:cNvPr id="21" name="TextBox 20"/>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汇报定位：丰度定量</a:t>
            </a:r>
          </a:p>
        </p:txBody>
      </p:sp>
      <p:sp>
        <p:nvSpPr>
          <p:cNvPr id="22" name="TextBox 21"/>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识别逻辑：QuantM-tRNA-seq 通过成熟 tRNA 建库、环化/接头策略与全长读段来量化组织间 tRNA 表达差异。</a:t>
            </a:r>
          </a:p>
          <a:p>
            <a:pPr>
              <a:spcAft>
                <a:spcPts val="400"/>
              </a:spcAft>
              <a:defRPr sz="940">
                <a:solidFill>
                  <a:srgbClr val="1F262E"/>
                </a:solidFill>
                <a:latin typeface="Microsoft YaHei"/>
              </a:defRPr>
            </a:pPr>
            <a:r>
              <a:t>可改动方向：短读长仍受多重比对、RT stop 与高相似序列限制；需要 spike-in、UMI 与概率分配模型提升绝对定量。</a:t>
            </a:r>
          </a:p>
        </p:txBody>
      </p:sp>
      <p:sp>
        <p:nvSpPr>
          <p:cNvPr id="23" name="Rounded Rectangle 22"/>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丰度定量 的关键不是单一软件命令，而是把生物化学偏差转化为可统计建模的信号。</a:t>
            </a:r>
          </a:p>
        </p:txBody>
      </p:sp>
      <p:sp>
        <p:nvSpPr>
          <p:cNvPr id="25" name="TextBox 24"/>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32796835: Quantitative tRNA-sequencing uncovers metazoan tissue-specific tRNA regulation.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主线保留 | Molecular cell 2021 | PMID 33581077</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03｜修饰诱导错配：High-resolution quantitative profiling of tRNA abundance and m</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主线保留</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全长 cDNA 建库</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错配/RT-stop 统计</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isodecoder 层级归并</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跨物种可迁移分析工具包</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mim-tRNAseq 将修饰导致的 misincorporation 从噪声转化为定量特征，同时估计丰度和修饰状态。</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不同修饰在逆转录时形成可重复的错配/停顿指纹，能用于高分辨率地追踪 tRNA 修饰状态。</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全长 cDNA 建库</a:t>
            </a:r>
          </a:p>
          <a:p>
            <a:pPr>
              <a:spcAft>
                <a:spcPts val="400"/>
              </a:spcAft>
              <a:defRPr sz="919">
                <a:solidFill>
                  <a:srgbClr val="1F262E"/>
                </a:solidFill>
                <a:latin typeface="Microsoft YaHei"/>
              </a:defRPr>
            </a:pPr>
            <a:r>
              <a:t>错配/RT-stop 统计</a:t>
            </a:r>
          </a:p>
          <a:p>
            <a:pPr>
              <a:spcAft>
                <a:spcPts val="400"/>
              </a:spcAft>
              <a:defRPr sz="919">
                <a:solidFill>
                  <a:srgbClr val="1F262E"/>
                </a:solidFill>
                <a:latin typeface="Microsoft YaHei"/>
              </a:defRPr>
            </a:pPr>
            <a:r>
              <a:t>isodecoder 层级归并</a:t>
            </a:r>
          </a:p>
          <a:p>
            <a:pPr>
              <a:spcAft>
                <a:spcPts val="400"/>
              </a:spcAft>
              <a:defRPr sz="919">
                <a:solidFill>
                  <a:srgbClr val="1F262E"/>
                </a:solidFill>
                <a:latin typeface="Microsoft YaHei"/>
              </a:defRPr>
            </a:pPr>
            <a:r>
              <a:t>跨物种可迁移分析工具包</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在酵母、果蝇和人细胞中量化 tRNA abundance 与 modification status，发现细胞系特异 isodecoder pool 和位点间修饰联动。</a:t>
            </a:r>
          </a:p>
          <a:p>
            <a:pPr>
              <a:spcAft>
                <a:spcPts val="400"/>
              </a:spcAft>
              <a:defRPr sz="919">
                <a:solidFill>
                  <a:srgbClr val="1F262E"/>
                </a:solidFill>
                <a:latin typeface="Microsoft YaHei"/>
              </a:defRPr>
            </a:pPr>
            <a:r>
              <a:t>优点是短读长平台可用；缺陷是对 RT 酶、参考注释和修饰指纹库依赖强，未知修饰难以唯一归因。</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汇报定位：修饰诱导错配</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识别逻辑：mim-tRNAseq 将修饰导致的 misincorporation 从噪声转化为定量特征，同时估计丰度和修饰状态。</a:t>
            </a:r>
          </a:p>
          <a:p>
            <a:pPr>
              <a:spcAft>
                <a:spcPts val="400"/>
              </a:spcAft>
              <a:defRPr sz="940">
                <a:solidFill>
                  <a:srgbClr val="1F262E"/>
                </a:solidFill>
                <a:latin typeface="Microsoft YaHei"/>
              </a:defRPr>
            </a:pPr>
            <a:r>
              <a:t>可改动方向：优点是短读长平台可用；缺陷是对 RT 酶、参考注释和修饰指纹库依赖强，未知修饰难以唯一归因。</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修饰诱导错配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33581077: High-resolution quantitative profiling of tRNA abundance and modification status in eukaryotes by mim-tRNAseq.</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主线保留 | Nature biotechnology 2024 | PMID 37024678</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04｜纳米孔全长读段：Quantitative analysis of tRNA abundance and modifications by n</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主线保留</a:t>
            </a:r>
          </a:p>
        </p:txBody>
      </p:sp>
      <p:pic>
        <p:nvPicPr>
          <p:cNvPr id="8" name="Picture 7" descr="PMC10791586_41587_2023_1743_Fig1_HTML.jpg"/>
          <p:cNvPicPr>
            <a:picLocks noChangeAspect="1"/>
          </p:cNvPicPr>
          <p:nvPr/>
        </p:nvPicPr>
        <p:blipFill>
          <a:blip r:embed="rId2"/>
          <a:stretch>
            <a:fillRect/>
          </a:stretch>
        </p:blipFill>
        <p:spPr>
          <a:xfrm>
            <a:off x="621792" y="1444752"/>
            <a:ext cx="4709160" cy="2788920"/>
          </a:xfrm>
          <a:prstGeom prst="rect">
            <a:avLst/>
          </a:prstGeom>
        </p:spPr>
      </p:pic>
      <p:sp>
        <p:nvSpPr>
          <p:cNvPr id="9" name="Rounded Rectangle 8"/>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11" name="TextBox 10"/>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Nano-tRNAseq 直接读取 native tRNA，并通过 raw signal 重处理恢复被默认流程丢弃的短 tRNA 读段。</a:t>
            </a:r>
          </a:p>
        </p:txBody>
      </p:sp>
      <p:sp>
        <p:nvSpPr>
          <p:cNvPr id="12" name="Rounded Rectangle 11"/>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14" name="TextBox 13"/>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原始电流信号中保留了 tRNA 丰度和修饰状态；定制处理能减少长度和修饰造成的系统偏差。</a:t>
            </a:r>
          </a:p>
        </p:txBody>
      </p:sp>
      <p:sp>
        <p:nvSpPr>
          <p:cNvPr id="15" name="Rounded Rectangle 14"/>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17" name="TextBox 16"/>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native tRNA 纳米孔测序</a:t>
            </a:r>
          </a:p>
          <a:p>
            <a:pPr>
              <a:spcAft>
                <a:spcPts val="400"/>
              </a:spcAft>
              <a:defRPr sz="919">
                <a:solidFill>
                  <a:srgbClr val="1F262E"/>
                </a:solidFill>
                <a:latin typeface="Microsoft YaHei"/>
              </a:defRPr>
            </a:pPr>
            <a:r>
              <a:t>raw signal reprocessing</a:t>
            </a:r>
          </a:p>
          <a:p>
            <a:pPr>
              <a:spcAft>
                <a:spcPts val="400"/>
              </a:spcAft>
              <a:defRPr sz="919">
                <a:solidFill>
                  <a:srgbClr val="1F262E"/>
                </a:solidFill>
                <a:latin typeface="Microsoft YaHei"/>
              </a:defRPr>
            </a:pPr>
            <a:r>
              <a:t>tRNA mapping</a:t>
            </a:r>
          </a:p>
          <a:p>
            <a:pPr>
              <a:spcAft>
                <a:spcPts val="400"/>
              </a:spcAft>
              <a:defRPr sz="919">
                <a:solidFill>
                  <a:srgbClr val="1F262E"/>
                </a:solidFill>
                <a:latin typeface="Microsoft YaHei"/>
              </a:defRPr>
            </a:pPr>
            <a:r>
              <a:t>错配/信号异常推断修饰</a:t>
            </a:r>
          </a:p>
        </p:txBody>
      </p:sp>
      <p:sp>
        <p:nvSpPr>
          <p:cNvPr id="18" name="Rounded Rectangle 17"/>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20" name="TextBox 19"/>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重处理使可用 tRNA reads 增加约 12 倍，并捕获氧化应激下 tRNA 丰度与修饰联动。</a:t>
            </a:r>
          </a:p>
          <a:p>
            <a:pPr>
              <a:spcAft>
                <a:spcPts val="400"/>
              </a:spcAft>
              <a:defRPr sz="919">
                <a:solidFill>
                  <a:srgbClr val="1F262E"/>
                </a:solidFill>
                <a:latin typeface="Microsoft YaHei"/>
              </a:defRPr>
            </a:pPr>
            <a:r>
              <a:t>纳米孔优势是长读段和单分子层级；短 tRNA、接头效率、basecaller 偏差和修饰训练集仍是主要瓶颈。</a:t>
            </a:r>
          </a:p>
        </p:txBody>
      </p:sp>
      <p:sp>
        <p:nvSpPr>
          <p:cNvPr id="21" name="TextBox 20"/>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汇报定位：纳米孔全长读段</a:t>
            </a:r>
          </a:p>
        </p:txBody>
      </p:sp>
      <p:sp>
        <p:nvSpPr>
          <p:cNvPr id="22" name="TextBox 21"/>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识别逻辑：Nano-tRNAseq 直接读取 native tRNA，并通过 raw signal 重处理恢复被默认流程丢弃的短 tRNA 读段。</a:t>
            </a:r>
          </a:p>
          <a:p>
            <a:pPr>
              <a:spcAft>
                <a:spcPts val="400"/>
              </a:spcAft>
              <a:defRPr sz="940">
                <a:solidFill>
                  <a:srgbClr val="1F262E"/>
                </a:solidFill>
                <a:latin typeface="Microsoft YaHei"/>
              </a:defRPr>
            </a:pPr>
            <a:r>
              <a:t>可改动方向：纳米孔优势是长读段和单分子层级；短 tRNA、接头效率、basecaller 偏差和修饰训练集仍是主要瓶颈。</a:t>
            </a:r>
          </a:p>
        </p:txBody>
      </p:sp>
      <p:sp>
        <p:nvSpPr>
          <p:cNvPr id="23" name="Rounded Rectangle 22"/>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纳米孔全长读段 的关键不是单一软件命令，而是把生物化学偏差转化为可统计建模的信号。</a:t>
            </a:r>
          </a:p>
        </p:txBody>
      </p:sp>
      <p:sp>
        <p:nvSpPr>
          <p:cNvPr id="25" name="TextBox 24"/>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37024678: Quantitative analysis of tRNA abundance and modifications by nanopore RNA sequencing.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主线保留 | Nature communications 2025 | PMID 39865096</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05｜RT readthrough 修饰图谱：Genome-wide profiling of tRNA modifications by Induro-tRNAseq </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主线保留</a:t>
            </a:r>
          </a:p>
        </p:txBody>
      </p:sp>
      <p:pic>
        <p:nvPicPr>
          <p:cNvPr id="8" name="Picture 7" descr="PMC11770116_41467_2025_56348_Fig1_HTML.jpg"/>
          <p:cNvPicPr>
            <a:picLocks noChangeAspect="1"/>
          </p:cNvPicPr>
          <p:nvPr/>
        </p:nvPicPr>
        <p:blipFill>
          <a:blip r:embed="rId2"/>
          <a:stretch>
            <a:fillRect/>
          </a:stretch>
        </p:blipFill>
        <p:spPr>
          <a:xfrm>
            <a:off x="621792" y="1444752"/>
            <a:ext cx="4709160" cy="2788920"/>
          </a:xfrm>
          <a:prstGeom prst="rect">
            <a:avLst/>
          </a:prstGeom>
        </p:spPr>
      </p:pic>
      <p:sp>
        <p:nvSpPr>
          <p:cNvPr id="9" name="Rounded Rectangle 8"/>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11" name="TextBox 10"/>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Induro-tRNAseq 选择更强 readthrough 的 group-II intron RT，将 RT stop 降低但保留 misincorporation 信号。</a:t>
            </a:r>
          </a:p>
        </p:txBody>
      </p:sp>
      <p:sp>
        <p:nvSpPr>
          <p:cNvPr id="12" name="Rounded Rectangle 11"/>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14" name="TextBox 13"/>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改变 RT 酶的停顿行为可以把“读不穿”的修饰位点转化为可比较的错配信号。</a:t>
            </a:r>
          </a:p>
        </p:txBody>
      </p:sp>
      <p:sp>
        <p:nvSpPr>
          <p:cNvPr id="15" name="Rounded Rectangle 14"/>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17" name="TextBox 16"/>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Induro RT 时间梯度</a:t>
            </a:r>
          </a:p>
          <a:p>
            <a:pPr>
              <a:spcAft>
                <a:spcPts val="400"/>
              </a:spcAft>
              <a:defRPr sz="919">
                <a:solidFill>
                  <a:srgbClr val="1F262E"/>
                </a:solidFill>
                <a:latin typeface="Microsoft YaHei"/>
              </a:defRPr>
            </a:pPr>
            <a:r>
              <a:t>Induro 与对照 RT 平行比较</a:t>
            </a:r>
          </a:p>
          <a:p>
            <a:pPr>
              <a:spcAft>
                <a:spcPts val="400"/>
              </a:spcAft>
              <a:defRPr sz="919">
                <a:solidFill>
                  <a:srgbClr val="1F262E"/>
                </a:solidFill>
                <a:latin typeface="Microsoft YaHei"/>
              </a:defRPr>
            </a:pPr>
            <a:r>
              <a:t>错配频率矩阵</a:t>
            </a:r>
          </a:p>
          <a:p>
            <a:pPr>
              <a:spcAft>
                <a:spcPts val="400"/>
              </a:spcAft>
              <a:defRPr sz="919">
                <a:solidFill>
                  <a:srgbClr val="1F262E"/>
                </a:solidFill>
                <a:latin typeface="Microsoft YaHei"/>
              </a:defRPr>
            </a:pPr>
            <a:r>
              <a:t>组织/细胞间修饰差异分析</a:t>
            </a:r>
          </a:p>
        </p:txBody>
      </p:sp>
      <p:sp>
        <p:nvSpPr>
          <p:cNvPr id="18" name="Rounded Rectangle 17"/>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20" name="TextBox 19"/>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在多个人细胞系和小鼠组织中绘制 tRNA 修饰，显示遗传密码读取相关修饰更稳定，其他位点更动态。</a:t>
            </a:r>
          </a:p>
          <a:p>
            <a:pPr>
              <a:spcAft>
                <a:spcPts val="400"/>
              </a:spcAft>
              <a:defRPr sz="919">
                <a:solidFill>
                  <a:srgbClr val="1F262E"/>
                </a:solidFill>
                <a:latin typeface="Microsoft YaHei"/>
              </a:defRPr>
            </a:pPr>
            <a:r>
              <a:t>强项是全基因组修饰 profiling；短板是修饰类别归因仍需标准品/酶缺失验证，适合发展联合修饰 caller。</a:t>
            </a:r>
          </a:p>
        </p:txBody>
      </p:sp>
      <p:sp>
        <p:nvSpPr>
          <p:cNvPr id="21" name="TextBox 20"/>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汇报定位：RT readthrough 修饰图谱</a:t>
            </a:r>
          </a:p>
        </p:txBody>
      </p:sp>
      <p:sp>
        <p:nvSpPr>
          <p:cNvPr id="22" name="TextBox 21"/>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识别逻辑：Induro-tRNAseq 选择更强 readthrough 的 group-II intron RT，将 RT stop 降低但保留 misincorporation 信号。</a:t>
            </a:r>
          </a:p>
          <a:p>
            <a:pPr>
              <a:spcAft>
                <a:spcPts val="400"/>
              </a:spcAft>
              <a:defRPr sz="940">
                <a:solidFill>
                  <a:srgbClr val="1F262E"/>
                </a:solidFill>
                <a:latin typeface="Microsoft YaHei"/>
              </a:defRPr>
            </a:pPr>
            <a:r>
              <a:t>可改动方向：强项是全基因组修饰 profiling；短板是修饰类别归因仍需标准品/酶缺失验证，适合发展联合修饰 caller。</a:t>
            </a:r>
          </a:p>
        </p:txBody>
      </p:sp>
      <p:sp>
        <p:nvSpPr>
          <p:cNvPr id="23" name="Rounded Rectangle 22"/>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RT readthrough 修饰图谱 的关键不是单一软件命令，而是把生物化学偏差转化为可统计建模的信号。</a:t>
            </a:r>
          </a:p>
        </p:txBody>
      </p:sp>
      <p:sp>
        <p:nvSpPr>
          <p:cNvPr id="25" name="TextBox 24"/>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39865096: Genome-wide profiling of tRNA modifications by Induro-tRNAseq reveals coordinated changes.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主线保留 | Nature communications 2025 | PMID 40835813</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06｜氨酰化状态：Nanopore sequencing of intact aminoacylated tRNAs.</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主线保留</a:t>
            </a:r>
          </a:p>
        </p:txBody>
      </p:sp>
      <p:pic>
        <p:nvPicPr>
          <p:cNvPr id="8" name="Picture 7" descr="PMC12368100_41467_2025_62545_Fig1_HTML.jpg"/>
          <p:cNvPicPr>
            <a:picLocks noChangeAspect="1"/>
          </p:cNvPicPr>
          <p:nvPr/>
        </p:nvPicPr>
        <p:blipFill>
          <a:blip r:embed="rId2"/>
          <a:stretch>
            <a:fillRect/>
          </a:stretch>
        </p:blipFill>
        <p:spPr>
          <a:xfrm>
            <a:off x="621792" y="1444752"/>
            <a:ext cx="4709160" cy="2788920"/>
          </a:xfrm>
          <a:prstGeom prst="rect">
            <a:avLst/>
          </a:prstGeom>
        </p:spPr>
      </p:pic>
      <p:sp>
        <p:nvSpPr>
          <p:cNvPr id="9" name="Rounded Rectangle 8"/>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11" name="TextBox 10"/>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aa-tRNA-seq 用化学连接保留 aminoacylated tRNA，再用纳米孔信号和机器学习识别单分子氨基酸身份。</a:t>
            </a:r>
          </a:p>
        </p:txBody>
      </p:sp>
      <p:sp>
        <p:nvSpPr>
          <p:cNvPr id="12" name="Rounded Rectangle 11"/>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14" name="TextBox 13"/>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氨基酸夹在 tRNA 与接头之间会产生可学习的电流扰动，可在单分子层面解析 charging fidelity。</a:t>
            </a:r>
          </a:p>
        </p:txBody>
      </p:sp>
      <p:sp>
        <p:nvSpPr>
          <p:cNvPr id="15" name="Rounded Rectangle 14"/>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17" name="TextBox 16"/>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aminoacyl-tRNA 化学保护/连接</a:t>
            </a:r>
          </a:p>
          <a:p>
            <a:pPr>
              <a:spcAft>
                <a:spcPts val="400"/>
              </a:spcAft>
              <a:defRPr sz="919">
                <a:solidFill>
                  <a:srgbClr val="1F262E"/>
                </a:solidFill>
                <a:latin typeface="Microsoft YaHei"/>
              </a:defRPr>
            </a:pPr>
            <a:r>
              <a:t>nanopore sequencing</a:t>
            </a:r>
          </a:p>
          <a:p>
            <a:pPr>
              <a:spcAft>
                <a:spcPts val="400"/>
              </a:spcAft>
              <a:defRPr sz="919">
                <a:solidFill>
                  <a:srgbClr val="1F262E"/>
                </a:solidFill>
                <a:latin typeface="Microsoft YaHei"/>
              </a:defRPr>
            </a:pPr>
            <a:r>
              <a:t>特征提取</a:t>
            </a:r>
          </a:p>
          <a:p>
            <a:pPr>
              <a:spcAft>
                <a:spcPts val="400"/>
              </a:spcAft>
              <a:defRPr sz="919">
                <a:solidFill>
                  <a:srgbClr val="1F262E"/>
                </a:solidFill>
                <a:latin typeface="Microsoft YaHei"/>
              </a:defRPr>
            </a:pPr>
            <a:r>
              <a:t>机器学习 amino acid classifier</a:t>
            </a:r>
          </a:p>
        </p:txBody>
      </p:sp>
      <p:sp>
        <p:nvSpPr>
          <p:cNvPr id="18" name="Rounded Rectangle 17"/>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20" name="TextBox 19"/>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能识别 tRNA 所携带氨基酸，并用于分析修饰酶缺失导致的 hypomodification 和 tRNA 稳定性变化。</a:t>
            </a:r>
          </a:p>
          <a:p>
            <a:pPr>
              <a:spcAft>
                <a:spcPts val="400"/>
              </a:spcAft>
              <a:defRPr sz="919">
                <a:solidFill>
                  <a:srgbClr val="1F262E"/>
                </a:solidFill>
                <a:latin typeface="Microsoft YaHei"/>
              </a:defRPr>
            </a:pPr>
            <a:r>
              <a:t>方法打开 charging 分析入口；局限是模型训练、氨基酸类别泛化、化学处理效率和复杂样本校准。</a:t>
            </a:r>
          </a:p>
        </p:txBody>
      </p:sp>
      <p:sp>
        <p:nvSpPr>
          <p:cNvPr id="21" name="TextBox 20"/>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汇报定位：氨酰化状态</a:t>
            </a:r>
          </a:p>
        </p:txBody>
      </p:sp>
      <p:sp>
        <p:nvSpPr>
          <p:cNvPr id="22" name="TextBox 21"/>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识别逻辑：aa-tRNA-seq 用化学连接保留 aminoacylated tRNA，再用纳米孔信号和机器学习识别单分子氨基酸身份。</a:t>
            </a:r>
          </a:p>
          <a:p>
            <a:pPr>
              <a:spcAft>
                <a:spcPts val="400"/>
              </a:spcAft>
              <a:defRPr sz="940">
                <a:solidFill>
                  <a:srgbClr val="1F262E"/>
                </a:solidFill>
                <a:latin typeface="Microsoft YaHei"/>
              </a:defRPr>
            </a:pPr>
            <a:r>
              <a:t>可改动方向：方法打开 charging 分析入口；局限是模型训练、氨基酸类别泛化、化学处理效率和复杂样本校准。</a:t>
            </a:r>
          </a:p>
        </p:txBody>
      </p:sp>
      <p:sp>
        <p:nvSpPr>
          <p:cNvPr id="23" name="Rounded Rectangle 22"/>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氨酰化状态 的关键不是单一软件命令，而是把生物化学偏差转化为可统计建模的信号。</a:t>
            </a:r>
          </a:p>
        </p:txBody>
      </p:sp>
      <p:sp>
        <p:nvSpPr>
          <p:cNvPr id="25" name="TextBox 24"/>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40835813: Nanopore sequencing of intact aminoacylated tRNAs.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主线保留 | Nature communications 2025 | PMID 40447571</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07｜结构与互作：In vivo structure profiling reveals human cytosolic and mitoch</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主线保留</a:t>
            </a:r>
          </a:p>
        </p:txBody>
      </p:sp>
      <p:pic>
        <p:nvPicPr>
          <p:cNvPr id="8" name="Picture 7" descr="PMC12125218_41467_2025_59435_Fig1_HTML.jpg"/>
          <p:cNvPicPr>
            <a:picLocks noChangeAspect="1"/>
          </p:cNvPicPr>
          <p:nvPr/>
        </p:nvPicPr>
        <p:blipFill>
          <a:blip r:embed="rId2"/>
          <a:stretch>
            <a:fillRect/>
          </a:stretch>
        </p:blipFill>
        <p:spPr>
          <a:xfrm>
            <a:off x="621792" y="1444752"/>
            <a:ext cx="4709160" cy="2788920"/>
          </a:xfrm>
          <a:prstGeom prst="rect">
            <a:avLst/>
          </a:prstGeom>
        </p:spPr>
      </p:pic>
      <p:sp>
        <p:nvSpPr>
          <p:cNvPr id="9" name="Rounded Rectangle 8"/>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11" name="TextBox 10"/>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DM-DMS-MaPseq 将体内 DMS 化学探针、demethylase 处理和 mutational profiling 结合，解析 tRNA structurome/interactome。</a:t>
            </a:r>
          </a:p>
        </p:txBody>
      </p:sp>
      <p:sp>
        <p:nvSpPr>
          <p:cNvPr id="12" name="Rounded Rectangle 11"/>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14" name="TextBox 13"/>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体内 DMS 反应性不仅反映结构可及性，也反映蛋白/核糖体互作遮蔽，可用于追踪应激调控。</a:t>
            </a:r>
          </a:p>
        </p:txBody>
      </p:sp>
      <p:sp>
        <p:nvSpPr>
          <p:cNvPr id="15" name="Rounded Rectangle 14"/>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17" name="TextBox 16"/>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in vivo DMS probing</a:t>
            </a:r>
          </a:p>
          <a:p>
            <a:pPr>
              <a:spcAft>
                <a:spcPts val="400"/>
              </a:spcAft>
              <a:defRPr sz="919">
                <a:solidFill>
                  <a:srgbClr val="1F262E"/>
                </a:solidFill>
                <a:latin typeface="Microsoft YaHei"/>
              </a:defRPr>
            </a:pPr>
            <a:r>
              <a:t>DM 去甲基化处理</a:t>
            </a:r>
          </a:p>
          <a:p>
            <a:pPr>
              <a:spcAft>
                <a:spcPts val="400"/>
              </a:spcAft>
              <a:defRPr sz="919">
                <a:solidFill>
                  <a:srgbClr val="1F262E"/>
                </a:solidFill>
                <a:latin typeface="Microsoft YaHei"/>
              </a:defRPr>
            </a:pPr>
            <a:r>
              <a:t>MaP-seq 突变读出</a:t>
            </a:r>
          </a:p>
          <a:p>
            <a:pPr>
              <a:spcAft>
                <a:spcPts val="400"/>
              </a:spcAft>
              <a:defRPr sz="919">
                <a:solidFill>
                  <a:srgbClr val="1F262E"/>
                </a:solidFill>
                <a:latin typeface="Microsoft YaHei"/>
              </a:defRPr>
            </a:pPr>
            <a:r>
              <a:t>胞质/线粒体 tRNA 结构比较</a:t>
            </a:r>
          </a:p>
        </p:txBody>
      </p:sp>
      <p:sp>
        <p:nvSpPr>
          <p:cNvPr id="18" name="Rounded Rectangle 17"/>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20" name="TextBox 19"/>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体内 tRNA 结构总体稳定，但与体外谱差异显著；砷酸盐应激改变胞质和线粒体 tRNA 互作。</a:t>
            </a:r>
          </a:p>
          <a:p>
            <a:pPr>
              <a:spcAft>
                <a:spcPts val="400"/>
              </a:spcAft>
              <a:defRPr sz="919">
                <a:solidFill>
                  <a:srgbClr val="1F262E"/>
                </a:solidFill>
                <a:latin typeface="Microsoft YaHei"/>
              </a:defRPr>
            </a:pPr>
            <a:r>
              <a:t>结构读出与互作读出耦合是优势也是混杂来源；未来需联合 Ribo-seq/IP 或扰动实验解卷积。</a:t>
            </a:r>
          </a:p>
        </p:txBody>
      </p:sp>
      <p:sp>
        <p:nvSpPr>
          <p:cNvPr id="21" name="TextBox 20"/>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汇报定位：结构与互作</a:t>
            </a:r>
          </a:p>
        </p:txBody>
      </p:sp>
      <p:sp>
        <p:nvSpPr>
          <p:cNvPr id="22" name="TextBox 21"/>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识别逻辑：DM-DMS-MaPseq 将体内 DMS 化学探针、demethylase 处理和 mutational profiling 结合，解析 tRNA structurome/interactome。</a:t>
            </a:r>
          </a:p>
          <a:p>
            <a:pPr>
              <a:spcAft>
                <a:spcPts val="400"/>
              </a:spcAft>
              <a:defRPr sz="940">
                <a:solidFill>
                  <a:srgbClr val="1F262E"/>
                </a:solidFill>
                <a:latin typeface="Microsoft YaHei"/>
              </a:defRPr>
            </a:pPr>
            <a:r>
              <a:t>可改动方向：结构读出与互作读出耦合是优势也是混杂来源；未来需联合 Ribo-seq/IP 或扰动实验解卷积。</a:t>
            </a:r>
          </a:p>
        </p:txBody>
      </p:sp>
      <p:sp>
        <p:nvSpPr>
          <p:cNvPr id="23" name="Rounded Rectangle 22"/>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结构与互作 的关键不是单一软件命令，而是把生物化学偏差转化为可统计建模的信号。</a:t>
            </a:r>
          </a:p>
        </p:txBody>
      </p:sp>
      <p:sp>
        <p:nvSpPr>
          <p:cNvPr id="25" name="TextBox 24"/>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40447571: In vivo structure profiling reveals human cytosolic and mitochondrial tRNA structurome and interactome in response to stress.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主线保留 | Nature communications 2026 | PMID 42062277</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08｜低输入 tRNA-seq：Deciphering tRNA repertoires and translation coordination duri</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主线保留</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低输入建库</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tRNA repertoire 定量</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pseudogene activation 分析</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Ribo-seq/组蛋白修饰整合</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ORACLE-tRNAseq 面向极少量卵母细胞/早期胚胎，优化低输入捕获并与多组学和 Ribo-seq 联合分析。</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早期胚胎 tRNA pool 的动态变化可与 ZGA、染色质重塑和翻译效率相互协调。</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低输入建库</a:t>
            </a:r>
          </a:p>
          <a:p>
            <a:pPr>
              <a:spcAft>
                <a:spcPts val="400"/>
              </a:spcAft>
              <a:defRPr sz="919">
                <a:solidFill>
                  <a:srgbClr val="1F262E"/>
                </a:solidFill>
                <a:latin typeface="Microsoft YaHei"/>
              </a:defRPr>
            </a:pPr>
            <a:r>
              <a:t>tRNA repertoire 定量</a:t>
            </a:r>
          </a:p>
          <a:p>
            <a:pPr>
              <a:spcAft>
                <a:spcPts val="400"/>
              </a:spcAft>
              <a:defRPr sz="919">
                <a:solidFill>
                  <a:srgbClr val="1F262E"/>
                </a:solidFill>
                <a:latin typeface="Microsoft YaHei"/>
              </a:defRPr>
            </a:pPr>
            <a:r>
              <a:t>pseudogene activation 分析</a:t>
            </a:r>
          </a:p>
          <a:p>
            <a:pPr>
              <a:spcAft>
                <a:spcPts val="400"/>
              </a:spcAft>
              <a:defRPr sz="919">
                <a:solidFill>
                  <a:srgbClr val="1F262E"/>
                </a:solidFill>
                <a:latin typeface="Microsoft YaHei"/>
              </a:defRPr>
            </a:pPr>
            <a:r>
              <a:t>Ribo-seq/组蛋白修饰整合</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从 oocyte 到 blastocyst 绘制 tRNA landscape，发现 4-cell 阶段 tRNA pseudogene 上调和 translation machinery 建立。</a:t>
            </a:r>
          </a:p>
          <a:p>
            <a:pPr>
              <a:spcAft>
                <a:spcPts val="400"/>
              </a:spcAft>
              <a:defRPr sz="919">
                <a:solidFill>
                  <a:srgbClr val="1F262E"/>
                </a:solidFill>
                <a:latin typeface="Microsoft YaHei"/>
              </a:defRPr>
            </a:pPr>
            <a:r>
              <a:t>低输入是突出贡献；算法挑战在于 dropout、批次效应和跨组学时间点对齐。</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汇报定位：低输入 tRNA-seq</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识别逻辑：ORACLE-tRNAseq 面向极少量卵母细胞/早期胚胎，优化低输入捕获并与多组学和 Ribo-seq 联合分析。</a:t>
            </a:r>
          </a:p>
          <a:p>
            <a:pPr>
              <a:spcAft>
                <a:spcPts val="400"/>
              </a:spcAft>
              <a:defRPr sz="940">
                <a:solidFill>
                  <a:srgbClr val="1F262E"/>
                </a:solidFill>
                <a:latin typeface="Microsoft YaHei"/>
              </a:defRPr>
            </a:pPr>
            <a:r>
              <a:t>可改动方向：低输入是突出贡献；算法挑战在于 dropout、批次效应和跨组学时间点对齐。</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低输入 tRNA-seq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42062277: Deciphering tRNA repertoires and translation coordination during mouse early embryogenesis by ORACLE-tRNAseq.</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主线保留 | Molecular cell 2024 | PMID 39096899</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09｜tDR 捕获：A ligation-independent sequencing method reveals tRNA-derived </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主线保留</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ligation-independent 建库</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quasi-random RT primer</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template switching</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tDR 与 miRNA/read coverage 对比</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LIDAR 通过 quasi-random priming 与 template switching 绕开 3' 端连接依赖，捕获有 blocked 3' termini 的 tDR。</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传统 ligation-based small RNA-seq 系统性漏检末端被修饰或封闭的 RNA，小 RNA 组成被低估。</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ligation-independent 建库</a:t>
            </a:r>
          </a:p>
          <a:p>
            <a:pPr>
              <a:spcAft>
                <a:spcPts val="400"/>
              </a:spcAft>
              <a:defRPr sz="919">
                <a:solidFill>
                  <a:srgbClr val="1F262E"/>
                </a:solidFill>
                <a:latin typeface="Microsoft YaHei"/>
              </a:defRPr>
            </a:pPr>
            <a:r>
              <a:t>quasi-random RT primer</a:t>
            </a:r>
          </a:p>
          <a:p>
            <a:pPr>
              <a:spcAft>
                <a:spcPts val="400"/>
              </a:spcAft>
              <a:defRPr sz="919">
                <a:solidFill>
                  <a:srgbClr val="1F262E"/>
                </a:solidFill>
                <a:latin typeface="Microsoft YaHei"/>
              </a:defRPr>
            </a:pPr>
            <a:r>
              <a:t>template switching</a:t>
            </a:r>
          </a:p>
          <a:p>
            <a:pPr>
              <a:spcAft>
                <a:spcPts val="400"/>
              </a:spcAft>
              <a:defRPr sz="919">
                <a:solidFill>
                  <a:srgbClr val="1F262E"/>
                </a:solidFill>
                <a:latin typeface="Microsoft YaHei"/>
              </a:defRPr>
            </a:pPr>
            <a:r>
              <a:t>tDR 与 miRNA/read coverage 对比</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LIDAR 检出更多 tRNA-derived RNA，尤其是传统方法难以捕获的 blocked 3' end tDR。</a:t>
            </a:r>
          </a:p>
          <a:p>
            <a:pPr>
              <a:spcAft>
                <a:spcPts val="400"/>
              </a:spcAft>
              <a:defRPr sz="919">
                <a:solidFill>
                  <a:srgbClr val="1F262E"/>
                </a:solidFill>
                <a:latin typeface="Microsoft YaHei"/>
              </a:defRPr>
            </a:pPr>
            <a:r>
              <a:t>适合发现层面；但 tDR 起源解析仍需要 tDRnamer/tRAX、tRNA reference 和多重比对模型支持。</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汇报定位：tDR 捕获</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识别逻辑：LIDAR 通过 quasi-random priming 与 template switching 绕开 3' 端连接依赖，捕获有 blocked 3' termini 的 tDR。</a:t>
            </a:r>
          </a:p>
          <a:p>
            <a:pPr>
              <a:spcAft>
                <a:spcPts val="400"/>
              </a:spcAft>
              <a:defRPr sz="940">
                <a:solidFill>
                  <a:srgbClr val="1F262E"/>
                </a:solidFill>
                <a:latin typeface="Microsoft YaHei"/>
              </a:defRPr>
            </a:pPr>
            <a:r>
              <a:t>可改动方向：适合发现层面；但 tDR 起源解析仍需要 tDRnamer/tRAX、tRNA reference 和多重比对模型支持。</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tDR 捕获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39096899: A ligation-independent sequencing method reveals tRNA-derived RNAs with blocked 3' termini.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主线新增 | Nature Methods 2023 | PMID 36869120</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10｜tDR 命名与注释：A standardized ontology for naming tRNA-derived RNAs based on </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主线新增</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tRNA 来源层级定义</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片段坐标规则</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多等位/多位点歧义处理</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标准化名称输出</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tDRnamer 把 tRNA-derived RNA 的命名锚定到分子来源、起止位置和 tRNA 层级，减少跨研究不可比。</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统一 ontology 是 tDR 定量、差异分析和数据库整合的前提，而不是报告阶段的格式问题。</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tRNA 来源层级定义</a:t>
            </a:r>
          </a:p>
          <a:p>
            <a:pPr>
              <a:spcAft>
                <a:spcPts val="400"/>
              </a:spcAft>
              <a:defRPr sz="919">
                <a:solidFill>
                  <a:srgbClr val="1F262E"/>
                </a:solidFill>
                <a:latin typeface="Microsoft YaHei"/>
              </a:defRPr>
            </a:pPr>
            <a:r>
              <a:t>片段坐标规则</a:t>
            </a:r>
          </a:p>
          <a:p>
            <a:pPr>
              <a:spcAft>
                <a:spcPts val="400"/>
              </a:spcAft>
              <a:defRPr sz="919">
                <a:solidFill>
                  <a:srgbClr val="1F262E"/>
                </a:solidFill>
                <a:latin typeface="Microsoft YaHei"/>
              </a:defRPr>
            </a:pPr>
            <a:r>
              <a:t>多等位/多位点歧义处理</a:t>
            </a:r>
          </a:p>
          <a:p>
            <a:pPr>
              <a:spcAft>
                <a:spcPts val="400"/>
              </a:spcAft>
              <a:defRPr sz="919">
                <a:solidFill>
                  <a:srgbClr val="1F262E"/>
                </a:solidFill>
                <a:latin typeface="Microsoft YaHei"/>
              </a:defRPr>
            </a:pPr>
            <a:r>
              <a:t>标准化名称输出</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为 tDR/tRF 结果提供机器可读、可比较的命名体系，能作为 LIDAR、small RNA-seq 和 tRAX 的下游桥梁。</a:t>
            </a:r>
          </a:p>
          <a:p>
            <a:pPr>
              <a:spcAft>
                <a:spcPts val="400"/>
              </a:spcAft>
              <a:defRPr sz="919">
                <a:solidFill>
                  <a:srgbClr val="1F262E"/>
                </a:solidFill>
                <a:latin typeface="Microsoft YaHei"/>
              </a:defRPr>
            </a:pPr>
            <a:r>
              <a:t>命名不能替代准确 mapping；未来应把命名不确定性传递到差异分析和功能富集。</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汇报定位：tDR 命名与注释</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识别逻辑：tDRnamer 把 tRNA-derived RNA 的命名锚定到分子来源、起止位置和 tRNA 层级，减少跨研究不可比。</a:t>
            </a:r>
          </a:p>
          <a:p>
            <a:pPr>
              <a:spcAft>
                <a:spcPts val="400"/>
              </a:spcAft>
              <a:defRPr sz="940">
                <a:solidFill>
                  <a:srgbClr val="1F262E"/>
                </a:solidFill>
                <a:latin typeface="Microsoft YaHei"/>
              </a:defRPr>
            </a:pPr>
            <a:r>
              <a:t>可改动方向：命名不能替代准确 mapping；未来应把命名不确定性传递到差异分析和功能富集。</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tDR 命名与注释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36869120: A standardized ontology for naming tRNA-derived RNAs based on molecular origin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主线新增 | Current Protocols 2025 | PMID 39952700</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11｜tRAX/tDR 分析协议：Analyzing, visualizing, and annotating tRNA-derived RNAs using</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主线新增</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small RNA QC/trimming</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多级参考比对</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tRNA/tDR 分类</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coverage、长度、片段类别可视化</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tRAX/tDRnamer 将 small RNA reads 的 tRNA 来源识别、注释、可视化和命名整合为可复现流程。</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tDR 分析需要同时解决 read trimming、非 tRNA 污染、tRNA 参考归属和标准命名。</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small RNA QC/trimming</a:t>
            </a:r>
          </a:p>
          <a:p>
            <a:pPr>
              <a:spcAft>
                <a:spcPts val="400"/>
              </a:spcAft>
              <a:defRPr sz="919">
                <a:solidFill>
                  <a:srgbClr val="1F262E"/>
                </a:solidFill>
                <a:latin typeface="Microsoft YaHei"/>
              </a:defRPr>
            </a:pPr>
            <a:r>
              <a:t>多级参考比对</a:t>
            </a:r>
          </a:p>
          <a:p>
            <a:pPr>
              <a:spcAft>
                <a:spcPts val="400"/>
              </a:spcAft>
              <a:defRPr sz="919">
                <a:solidFill>
                  <a:srgbClr val="1F262E"/>
                </a:solidFill>
                <a:latin typeface="Microsoft YaHei"/>
              </a:defRPr>
            </a:pPr>
            <a:r>
              <a:t>tRNA/tDR 分类</a:t>
            </a:r>
          </a:p>
          <a:p>
            <a:pPr>
              <a:spcAft>
                <a:spcPts val="400"/>
              </a:spcAft>
              <a:defRPr sz="919">
                <a:solidFill>
                  <a:srgbClr val="1F262E"/>
                </a:solidFill>
                <a:latin typeface="Microsoft YaHei"/>
              </a:defRPr>
            </a:pPr>
            <a:r>
              <a:t>coverage、长度、片段类别可视化</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使 tDR 数据从单纯 counts 表转为可解释的来源、位置、类型和样本间变化。</a:t>
            </a:r>
          </a:p>
          <a:p>
            <a:pPr>
              <a:spcAft>
                <a:spcPts val="400"/>
              </a:spcAft>
              <a:defRPr sz="919">
                <a:solidFill>
                  <a:srgbClr val="1F262E"/>
                </a:solidFill>
                <a:latin typeface="Microsoft YaHei"/>
              </a:defRPr>
            </a:pPr>
            <a:r>
              <a:t>短读长与重复 tRNA 家族仍限制唯一定位；应引入概率归属、UMI 与 full-length evidence 校正。</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汇报定位：tRAX/tDR 分析协议</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识别逻辑：tRAX/tDRnamer 将 small RNA reads 的 tRNA 来源识别、注释、可视化和命名整合为可复现流程。</a:t>
            </a:r>
          </a:p>
          <a:p>
            <a:pPr>
              <a:spcAft>
                <a:spcPts val="400"/>
              </a:spcAft>
              <a:defRPr sz="940">
                <a:solidFill>
                  <a:srgbClr val="1F262E"/>
                </a:solidFill>
                <a:latin typeface="Microsoft YaHei"/>
              </a:defRPr>
            </a:pPr>
            <a:r>
              <a:t>可改动方向：短读长与重复 tRNA 家族仍限制唯一定位；应引入概率归属、UMI 与 full-length evidence 校正。</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tRAX/tDR 分析协议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39952700: Analyzing, visualizing, and annotating tRNA-derived RNAs using tRAX and tDRnamer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背景保留 | Molecular cell 2022 | PMID 35032425</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12｜修饰动态综述：tRNA modification dynamics from individual organisms to metaep</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F6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994943"/>
                </a:solidFill>
                <a:latin typeface="Microsoft YaHei"/>
              </a:defRPr>
            </a:pPr>
            <a:r>
              <a:t>背景保留</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汇总测序方法</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动态修饰功能框架</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microbiome/metaepitranscriptomics 概念</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方法学瓶颈归纳</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综述 tRNA modification dynamics 从单生物体扩展到微生物群落 metaepitranscriptomics。</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tRNA 修饰不是静态装饰，而是环境响应、翻译调控和 tRF 生成的动态调节层。</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汇总测序方法</a:t>
            </a:r>
          </a:p>
          <a:p>
            <a:pPr>
              <a:spcAft>
                <a:spcPts val="400"/>
              </a:spcAft>
              <a:defRPr sz="919">
                <a:solidFill>
                  <a:srgbClr val="1F262E"/>
                </a:solidFill>
                <a:latin typeface="Microsoft YaHei"/>
              </a:defRPr>
            </a:pPr>
            <a:r>
              <a:t>动态修饰功能框架</a:t>
            </a:r>
          </a:p>
          <a:p>
            <a:pPr>
              <a:spcAft>
                <a:spcPts val="400"/>
              </a:spcAft>
              <a:defRPr sz="919">
                <a:solidFill>
                  <a:srgbClr val="1F262E"/>
                </a:solidFill>
                <a:latin typeface="Microsoft YaHei"/>
              </a:defRPr>
            </a:pPr>
            <a:r>
              <a:t>microbiome/metaepitranscriptomics 概念</a:t>
            </a:r>
          </a:p>
          <a:p>
            <a:pPr>
              <a:spcAft>
                <a:spcPts val="400"/>
              </a:spcAft>
              <a:defRPr sz="919">
                <a:solidFill>
                  <a:srgbClr val="1F262E"/>
                </a:solidFill>
                <a:latin typeface="Microsoft YaHei"/>
              </a:defRPr>
            </a:pPr>
            <a:r>
              <a:t>方法学瓶颈归纳</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强调修饰测序需要同时处理物种组成、tRNA 同源性、修饰读出和群落差异。</a:t>
            </a:r>
          </a:p>
          <a:p>
            <a:pPr>
              <a:spcAft>
                <a:spcPts val="400"/>
              </a:spcAft>
              <a:defRPr sz="919">
                <a:solidFill>
                  <a:srgbClr val="1F262E"/>
                </a:solidFill>
                <a:latin typeface="Microsoft YaHei"/>
              </a:defRPr>
            </a:pPr>
            <a:r>
              <a:t>作为工具路线图很有价值；但不提供新算法，需要转化为 benchmark 和标准化 workflow。</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汇报定位：修饰动态综述</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识别逻辑：综述 tRNA modification dynamics 从单生物体扩展到微生物群落 metaepitranscriptomics。</a:t>
            </a:r>
          </a:p>
          <a:p>
            <a:pPr>
              <a:spcAft>
                <a:spcPts val="400"/>
              </a:spcAft>
              <a:defRPr sz="940">
                <a:solidFill>
                  <a:srgbClr val="1F262E"/>
                </a:solidFill>
                <a:latin typeface="Microsoft YaHei"/>
              </a:defRPr>
            </a:pPr>
            <a:r>
              <a:t>可改动方向：作为工具路线图很有价值；但不提供新算法，需要转化为 benchmark 和标准化 workflow。</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修饰动态综述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35032425: tRNA modification dynamics from individual organisms to metaepitranscriptomics of microbiomes.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背景保留 | Molecular cell 2023 | PMID 37802077</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13｜tDR 生物学综述：tRNA renovatio: Rebirth through fragmentation.</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F6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994943"/>
                </a:solidFill>
                <a:latin typeface="Microsoft YaHei"/>
              </a:defRPr>
            </a:pPr>
            <a:r>
              <a:t>背景保留</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整合 biogenesis</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结构与互作机制</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疾病/病毒相关功能</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AI 与结构预测方向</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tRNA fragmentation 被定义为受调控的再利用过程，为 tDR 分析提供生物问题边界。</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tsRNA/tDR 不是随机降解片段，而是具有来源、结构和互作特征的功能分子。</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整合 biogenesis</a:t>
            </a:r>
          </a:p>
          <a:p>
            <a:pPr>
              <a:spcAft>
                <a:spcPts val="400"/>
              </a:spcAft>
              <a:defRPr sz="919">
                <a:solidFill>
                  <a:srgbClr val="1F262E"/>
                </a:solidFill>
                <a:latin typeface="Microsoft YaHei"/>
              </a:defRPr>
            </a:pPr>
            <a:r>
              <a:t>结构与互作机制</a:t>
            </a:r>
          </a:p>
          <a:p>
            <a:pPr>
              <a:spcAft>
                <a:spcPts val="400"/>
              </a:spcAft>
              <a:defRPr sz="919">
                <a:solidFill>
                  <a:srgbClr val="1F262E"/>
                </a:solidFill>
                <a:latin typeface="Microsoft YaHei"/>
              </a:defRPr>
            </a:pPr>
            <a:r>
              <a:t>疾病/病毒相关功能</a:t>
            </a:r>
          </a:p>
          <a:p>
            <a:pPr>
              <a:spcAft>
                <a:spcPts val="400"/>
              </a:spcAft>
              <a:defRPr sz="919">
                <a:solidFill>
                  <a:srgbClr val="1F262E"/>
                </a:solidFill>
                <a:latin typeface="Microsoft YaHei"/>
              </a:defRPr>
            </a:pPr>
            <a:r>
              <a:t>AI 与结构预测方向</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提出未来需要全长序列、修饰、结构和互作的综合方法，支撑 tDR 功能解释。</a:t>
            </a:r>
          </a:p>
          <a:p>
            <a:pPr>
              <a:spcAft>
                <a:spcPts val="400"/>
              </a:spcAft>
              <a:defRPr sz="919">
                <a:solidFill>
                  <a:srgbClr val="1F262E"/>
                </a:solidFill>
                <a:latin typeface="Microsoft YaHei"/>
              </a:defRPr>
            </a:pPr>
            <a:r>
              <a:t>适合作为问题背景；不宜作为工具性能证据，主线中应降权。</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汇报定位：tDR 生物学综述</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识别逻辑：tRNA fragmentation 被定义为受调控的再利用过程，为 tDR 分析提供生物问题边界。</a:t>
            </a:r>
          </a:p>
          <a:p>
            <a:pPr>
              <a:spcAft>
                <a:spcPts val="400"/>
              </a:spcAft>
              <a:defRPr sz="940">
                <a:solidFill>
                  <a:srgbClr val="1F262E"/>
                </a:solidFill>
                <a:latin typeface="Microsoft YaHei"/>
              </a:defRPr>
            </a:pPr>
            <a:r>
              <a:t>可改动方向：适合作为问题背景；不宜作为工具性能证据，主线中应降权。</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tDR 生物学综述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37802077: tRNA renovatio: Rebirth through fragmentation.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背景保留 | Nature genetics 2023 | PMID 37173525</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14｜定量方法评论：Quantifying tRNA abundance by sequencing.</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F6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994943"/>
                </a:solidFill>
                <a:latin typeface="Microsoft YaHei"/>
              </a:defRPr>
            </a:pPr>
            <a:r>
              <a:t>背景保留</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比较建库偏差</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讨论修饰阻断</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解释定量瓶颈</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指出 benchmark 需求</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从方法评论角度强调 tRNA abundance 测序的主要技术壁垒和新方法价值。</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tRNA 结构、修饰和序列相似性使常规 RNA-seq 不能直接替代 tRNA-seq。</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比较建库偏差</a:t>
            </a:r>
          </a:p>
          <a:p>
            <a:pPr>
              <a:spcAft>
                <a:spcPts val="400"/>
              </a:spcAft>
              <a:defRPr sz="919">
                <a:solidFill>
                  <a:srgbClr val="1F262E"/>
                </a:solidFill>
                <a:latin typeface="Microsoft YaHei"/>
              </a:defRPr>
            </a:pPr>
            <a:r>
              <a:t>讨论修饰阻断</a:t>
            </a:r>
          </a:p>
          <a:p>
            <a:pPr>
              <a:spcAft>
                <a:spcPts val="400"/>
              </a:spcAft>
              <a:defRPr sz="919">
                <a:solidFill>
                  <a:srgbClr val="1F262E"/>
                </a:solidFill>
                <a:latin typeface="Microsoft YaHei"/>
              </a:defRPr>
            </a:pPr>
            <a:r>
              <a:t>解释定量瓶颈</a:t>
            </a:r>
          </a:p>
          <a:p>
            <a:pPr>
              <a:spcAft>
                <a:spcPts val="400"/>
              </a:spcAft>
              <a:defRPr sz="919">
                <a:solidFill>
                  <a:srgbClr val="1F262E"/>
                </a:solidFill>
                <a:latin typeface="Microsoft YaHei"/>
              </a:defRPr>
            </a:pPr>
            <a:r>
              <a:t>指出 benchmark 需求</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为 QuantM/mim 等方法提供背景定位，说明为什么定量 tRNA 需要专门工具。</a:t>
            </a:r>
          </a:p>
          <a:p>
            <a:pPr>
              <a:spcAft>
                <a:spcPts val="400"/>
              </a:spcAft>
              <a:defRPr sz="919">
                <a:solidFill>
                  <a:srgbClr val="1F262E"/>
                </a:solidFill>
                <a:latin typeface="Microsoft YaHei"/>
              </a:defRPr>
            </a:pPr>
            <a:r>
              <a:t>没有新数据或算法，因此作为导读/过渡文献，不占主线证据页。</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汇报定位：定量方法评论</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识别逻辑：从方法评论角度强调 tRNA abundance 测序的主要技术壁垒和新方法价值。</a:t>
            </a:r>
          </a:p>
          <a:p>
            <a:pPr>
              <a:spcAft>
                <a:spcPts val="400"/>
              </a:spcAft>
              <a:defRPr sz="940">
                <a:solidFill>
                  <a:srgbClr val="1F262E"/>
                </a:solidFill>
                <a:latin typeface="Microsoft YaHei"/>
              </a:defRPr>
            </a:pPr>
            <a:r>
              <a:t>可改动方向：没有新数据或算法，因此作为导读/过渡文献，不占主线证据页。</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定量方法评论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37173525: Quantifying tRNA abundance by sequencing.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删出主线，保留附录 | Nature 2022 | PMID 35322228</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15｜治疗应用：AAV-delivered suppressor tRNA overcomes a nonsense mutation in</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删出主线，保留附录</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sup-tRNA 设计</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AAV 递送</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ribosome profiling</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tRNA-seq 检查内源稳态</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AAV-delivered suppressor tRNA 主要回答基因治疗可行性，而不是分析工具本身。</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工程化 sup-tRNA 可在 premature stop codon 处恢复蛋白表达，同时不过度扰动全局终止密码子读穿。</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sup-tRNA 设计</a:t>
            </a:r>
          </a:p>
          <a:p>
            <a:pPr>
              <a:spcAft>
                <a:spcPts val="400"/>
              </a:spcAft>
              <a:defRPr sz="919">
                <a:solidFill>
                  <a:srgbClr val="1F262E"/>
                </a:solidFill>
                <a:latin typeface="Microsoft YaHei"/>
              </a:defRPr>
            </a:pPr>
            <a:r>
              <a:t>AAV 递送</a:t>
            </a:r>
          </a:p>
          <a:p>
            <a:pPr>
              <a:spcAft>
                <a:spcPts val="400"/>
              </a:spcAft>
              <a:defRPr sz="919">
                <a:solidFill>
                  <a:srgbClr val="1F262E"/>
                </a:solidFill>
                <a:latin typeface="Microsoft YaHei"/>
              </a:defRPr>
            </a:pPr>
            <a:r>
              <a:t>ribosome profiling</a:t>
            </a:r>
          </a:p>
          <a:p>
            <a:pPr>
              <a:spcAft>
                <a:spcPts val="400"/>
              </a:spcAft>
              <a:defRPr sz="919">
                <a:solidFill>
                  <a:srgbClr val="1F262E"/>
                </a:solidFill>
                <a:latin typeface="Microsoft YaHei"/>
              </a:defRPr>
            </a:pPr>
            <a:r>
              <a:t>tRNA-seq 检查内源稳态</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小鼠模型中长期恢复功能，全球正常 stop codon readthrough 有限。</a:t>
            </a:r>
          </a:p>
          <a:p>
            <a:pPr>
              <a:spcAft>
                <a:spcPts val="400"/>
              </a:spcAft>
              <a:defRPr sz="919">
                <a:solidFill>
                  <a:srgbClr val="1F262E"/>
                </a:solidFill>
                <a:latin typeface="Microsoft YaHei"/>
              </a:defRPr>
            </a:pPr>
            <a:r>
              <a:t>分析启发在于 tRNA-seq/ribo-seq 可作为安全性 readout；但不应作为工具算法主线。</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汇报定位：治疗应用</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识别逻辑：AAV-delivered suppressor tRNA 主要回答基因治疗可行性，而不是分析工具本身。</a:t>
            </a:r>
          </a:p>
          <a:p>
            <a:pPr>
              <a:spcAft>
                <a:spcPts val="400"/>
              </a:spcAft>
              <a:defRPr sz="940">
                <a:solidFill>
                  <a:srgbClr val="1F262E"/>
                </a:solidFill>
                <a:latin typeface="Microsoft YaHei"/>
              </a:defRPr>
            </a:pPr>
            <a:r>
              <a:t>可改动方向：分析启发在于 tRNA-seq/ribo-seq 可作为安全性 readout；但不应作为工具算法主线。</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治疗应用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35322228: AAV-delivered suppressor tRNA overcomes a nonsense mutation in mice.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删出主线，保留附录 | Cell 2023 | PMID 37944512</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16｜合成基因组：Design, construction, and functional characterization of a tRN</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删出主线，保留附录</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neochromosome 设计</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SCRaMbLE</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tRNA-seq/transcriptomics/proteomics</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FISH/Hi-C/replication profiling</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tRNA neochromosome 是合成生物学工程，使用 tRNA-seq、多组学和 Hi-C 评估构建体功能。</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将全部核编码 tRNA 转移到设计染色体上仍可维持酵母生长并用于扰动 tRNA gene organization。</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neochromosome 设计</a:t>
            </a:r>
          </a:p>
          <a:p>
            <a:pPr>
              <a:spcAft>
                <a:spcPts val="400"/>
              </a:spcAft>
              <a:defRPr sz="919">
                <a:solidFill>
                  <a:srgbClr val="1F262E"/>
                </a:solidFill>
                <a:latin typeface="Microsoft YaHei"/>
              </a:defRPr>
            </a:pPr>
            <a:r>
              <a:t>SCRaMbLE</a:t>
            </a:r>
          </a:p>
          <a:p>
            <a:pPr>
              <a:spcAft>
                <a:spcPts val="400"/>
              </a:spcAft>
              <a:defRPr sz="919">
                <a:solidFill>
                  <a:srgbClr val="1F262E"/>
                </a:solidFill>
                <a:latin typeface="Microsoft YaHei"/>
              </a:defRPr>
            </a:pPr>
            <a:r>
              <a:t>tRNA-seq/transcriptomics/proteomics</a:t>
            </a:r>
          </a:p>
          <a:p>
            <a:pPr>
              <a:spcAft>
                <a:spcPts val="400"/>
              </a:spcAft>
              <a:defRPr sz="919">
                <a:solidFill>
                  <a:srgbClr val="1F262E"/>
                </a:solidFill>
                <a:latin typeface="Microsoft YaHei"/>
              </a:defRPr>
            </a:pPr>
            <a:r>
              <a:t>FISH/Hi-C/replication profiling</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构建体可存活但出现倍性变化等适应性压力，提示 tRNA 基因组织具有系统效应。</a:t>
            </a:r>
          </a:p>
          <a:p>
            <a:pPr>
              <a:spcAft>
                <a:spcPts val="400"/>
              </a:spcAft>
              <a:defRPr sz="919">
                <a:solidFill>
                  <a:srgbClr val="1F262E"/>
                </a:solidFill>
                <a:latin typeface="Microsoft YaHei"/>
              </a:defRPr>
            </a:pPr>
            <a:r>
              <a:t>可作为 tRNA reference 和功能验证案例；但不是通用分析工具论文。</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汇报定位：合成基因组</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识别逻辑：tRNA neochromosome 是合成生物学工程，使用 tRNA-seq、多组学和 Hi-C 评估构建体功能。</a:t>
            </a:r>
          </a:p>
          <a:p>
            <a:pPr>
              <a:spcAft>
                <a:spcPts val="400"/>
              </a:spcAft>
              <a:defRPr sz="940">
                <a:solidFill>
                  <a:srgbClr val="1F262E"/>
                </a:solidFill>
                <a:latin typeface="Microsoft YaHei"/>
              </a:defRPr>
            </a:pPr>
            <a:r>
              <a:t>可改动方向：可作为 tRNA reference 和功能验证案例；但不是通用分析工具论文。</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合成基因组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37944512: Design, construction, and functional characterization of a tRNA neochromosome in yeast.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删出主线，保留附录 | Molecular cell 2022 | PMID 35654044</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17｜tRF 功能机制：A pro-metastatic tRNA fragment drives Nucleolin oligomerizatio</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删出主线，保留附录</a:t>
            </a:r>
          </a:p>
        </p:txBody>
      </p:sp>
      <p:sp>
        <p:nvSpPr>
          <p:cNvPr id="8" name="Rounded Rectangle 7"/>
          <p:cNvSpPr/>
          <p:nvPr/>
        </p:nvSpPr>
        <p:spPr>
          <a:xfrm>
            <a:off x="749808"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12848"/>
            <a:ext cx="870966" cy="256032"/>
          </a:xfrm>
          <a:prstGeom prst="rect">
            <a:avLst/>
          </a:prstGeom>
          <a:noFill/>
        </p:spPr>
        <p:txBody>
          <a:bodyPr wrap="none">
            <a:spAutoFit/>
          </a:bodyPr>
          <a:lstStyle/>
          <a:p>
            <a:pPr algn="ctr">
              <a:defRPr sz="840" b="1">
                <a:solidFill>
                  <a:srgbClr val="2D5D7B"/>
                </a:solidFill>
                <a:latin typeface="Microsoft YaHei"/>
              </a:defRPr>
            </a:pPr>
            <a:r>
              <a:t>small RNA profiling</a:t>
            </a:r>
          </a:p>
        </p:txBody>
      </p:sp>
      <p:sp>
        <p:nvSpPr>
          <p:cNvPr id="10" name="TextBox 9"/>
          <p:cNvSpPr txBox="1"/>
          <p:nvPr/>
        </p:nvSpPr>
        <p:spPr>
          <a:xfrm>
            <a:off x="1744218"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1840229"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95093" y="2212848"/>
            <a:ext cx="870966" cy="256032"/>
          </a:xfrm>
          <a:prstGeom prst="rect">
            <a:avLst/>
          </a:prstGeom>
          <a:noFill/>
        </p:spPr>
        <p:txBody>
          <a:bodyPr wrap="none">
            <a:spAutoFit/>
          </a:bodyPr>
          <a:lstStyle/>
          <a:p>
            <a:pPr algn="ctr">
              <a:defRPr sz="840" b="1">
                <a:solidFill>
                  <a:srgbClr val="2D5D7B"/>
                </a:solidFill>
                <a:latin typeface="Microsoft YaHei"/>
              </a:defRPr>
            </a:pPr>
            <a:r>
              <a:t>差异 tRF 筛选</a:t>
            </a:r>
          </a:p>
        </p:txBody>
      </p:sp>
      <p:sp>
        <p:nvSpPr>
          <p:cNvPr id="13" name="TextBox 12"/>
          <p:cNvSpPr txBox="1"/>
          <p:nvPr/>
        </p:nvSpPr>
        <p:spPr>
          <a:xfrm>
            <a:off x="2834640"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930651"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5515" y="2212848"/>
            <a:ext cx="870966" cy="256032"/>
          </a:xfrm>
          <a:prstGeom prst="rect">
            <a:avLst/>
          </a:prstGeom>
          <a:noFill/>
        </p:spPr>
        <p:txBody>
          <a:bodyPr wrap="none">
            <a:spAutoFit/>
          </a:bodyPr>
          <a:lstStyle/>
          <a:p>
            <a:pPr algn="ctr">
              <a:defRPr sz="840" b="1">
                <a:solidFill>
                  <a:srgbClr val="2D5D7B"/>
                </a:solidFill>
                <a:latin typeface="Microsoft YaHei"/>
              </a:defRPr>
            </a:pPr>
            <a:r>
              <a:t>RBP 互作鉴定</a:t>
            </a:r>
          </a:p>
        </p:txBody>
      </p:sp>
      <p:sp>
        <p:nvSpPr>
          <p:cNvPr id="16" name="TextBox 15"/>
          <p:cNvSpPr txBox="1"/>
          <p:nvPr/>
        </p:nvSpPr>
        <p:spPr>
          <a:xfrm>
            <a:off x="3925061" y="22494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021074" y="2103120"/>
            <a:ext cx="980694"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5937" y="2212848"/>
            <a:ext cx="870966" cy="256032"/>
          </a:xfrm>
          <a:prstGeom prst="rect">
            <a:avLst/>
          </a:prstGeom>
          <a:noFill/>
        </p:spPr>
        <p:txBody>
          <a:bodyPr wrap="none">
            <a:spAutoFit/>
          </a:bodyPr>
          <a:lstStyle/>
          <a:p>
            <a:pPr algn="ctr">
              <a:defRPr sz="840" b="1">
                <a:solidFill>
                  <a:srgbClr val="2D5D7B"/>
                </a:solidFill>
                <a:latin typeface="Microsoft YaHei"/>
              </a:defRPr>
            </a:pPr>
            <a:r>
              <a:t>动物/细胞功能验证</a:t>
            </a:r>
          </a:p>
        </p:txBody>
      </p:sp>
      <p:sp>
        <p:nvSpPr>
          <p:cNvPr id="19" name="TextBox 18"/>
          <p:cNvSpPr txBox="1"/>
          <p:nvPr/>
        </p:nvSpPr>
        <p:spPr>
          <a:xfrm>
            <a:off x="960120" y="2834640"/>
            <a:ext cx="3886200" cy="822960"/>
          </a:xfrm>
          <a:prstGeom prst="rect">
            <a:avLst/>
          </a:prstGeom>
          <a:noFill/>
        </p:spPr>
        <p:txBody>
          <a:bodyPr wrap="square" anchor="t">
            <a:spAutoFit/>
          </a:bodyPr>
          <a:lstStyle/>
          <a:p>
            <a:pPr algn="ctr">
              <a:defRPr sz="1500" b="1">
                <a:solidFill>
                  <a:srgbClr val="5C6670"/>
                </a:solidFill>
                <a:latin typeface="Microsoft YaHei"/>
              </a:defRPr>
            </a:pPr>
            <a:r>
              <a:t>方法示意图（根据文献流程整理）</a:t>
            </a:r>
          </a:p>
        </p:txBody>
      </p:sp>
      <p:sp>
        <p:nvSpPr>
          <p:cNvPr id="20" name="Rounded Rectangle 19"/>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22" name="TextBox 21"/>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研究 5'-tRFCys 促进转移的机制，数据分析侧重 tRF 差异表达和靶蛋白/代谢通路验证。</a:t>
            </a:r>
          </a:p>
        </p:txBody>
      </p:sp>
      <p:sp>
        <p:nvSpPr>
          <p:cNvPr id="23" name="Rounded Rectangle 22"/>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25" name="TextBox 24"/>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特定 tRF 可通过促进 Nucleolin oligomerization 稳定代谢 mRNA，从而增强癌细胞转移。</a:t>
            </a:r>
          </a:p>
        </p:txBody>
      </p:sp>
      <p:sp>
        <p:nvSpPr>
          <p:cNvPr id="26" name="Rounded Rectangle 25"/>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28" name="TextBox 27"/>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small RNA profiling</a:t>
            </a:r>
          </a:p>
          <a:p>
            <a:pPr>
              <a:spcAft>
                <a:spcPts val="400"/>
              </a:spcAft>
              <a:defRPr sz="919">
                <a:solidFill>
                  <a:srgbClr val="1F262E"/>
                </a:solidFill>
                <a:latin typeface="Microsoft YaHei"/>
              </a:defRPr>
            </a:pPr>
            <a:r>
              <a:t>差异 tRF 筛选</a:t>
            </a:r>
          </a:p>
          <a:p>
            <a:pPr>
              <a:spcAft>
                <a:spcPts val="400"/>
              </a:spcAft>
              <a:defRPr sz="919">
                <a:solidFill>
                  <a:srgbClr val="1F262E"/>
                </a:solidFill>
                <a:latin typeface="Microsoft YaHei"/>
              </a:defRPr>
            </a:pPr>
            <a:r>
              <a:t>RBP 互作鉴定</a:t>
            </a:r>
          </a:p>
          <a:p>
            <a:pPr>
              <a:spcAft>
                <a:spcPts val="400"/>
              </a:spcAft>
              <a:defRPr sz="919">
                <a:solidFill>
                  <a:srgbClr val="1F262E"/>
                </a:solidFill>
                <a:latin typeface="Microsoft YaHei"/>
              </a:defRPr>
            </a:pPr>
            <a:r>
              <a:t>动物/细胞功能验证</a:t>
            </a:r>
          </a:p>
        </p:txBody>
      </p:sp>
      <p:sp>
        <p:nvSpPr>
          <p:cNvPr id="29" name="Rounded Rectangle 28"/>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31" name="TextBox 30"/>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5'-tRFCys 上调并驱动促转移代谢网络。</a:t>
            </a:r>
          </a:p>
          <a:p>
            <a:pPr>
              <a:spcAft>
                <a:spcPts val="400"/>
              </a:spcAft>
              <a:defRPr sz="919">
                <a:solidFill>
                  <a:srgbClr val="1F262E"/>
                </a:solidFill>
                <a:latin typeface="Microsoft YaHei"/>
              </a:defRPr>
            </a:pPr>
            <a:r>
              <a:t>说明 tDR 差异分析需要可靠命名和来源解析；但本文贡献是生物机制而非工具。</a:t>
            </a:r>
          </a:p>
        </p:txBody>
      </p:sp>
      <p:sp>
        <p:nvSpPr>
          <p:cNvPr id="32" name="TextBox 31"/>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汇报定位：tRF 功能机制</a:t>
            </a:r>
          </a:p>
        </p:txBody>
      </p:sp>
      <p:sp>
        <p:nvSpPr>
          <p:cNvPr id="33" name="TextBox 32"/>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识别逻辑：研究 5'-tRFCys 促进转移的机制，数据分析侧重 tRF 差异表达和靶蛋白/代谢通路验证。</a:t>
            </a:r>
          </a:p>
          <a:p>
            <a:pPr>
              <a:spcAft>
                <a:spcPts val="400"/>
              </a:spcAft>
              <a:defRPr sz="940">
                <a:solidFill>
                  <a:srgbClr val="1F262E"/>
                </a:solidFill>
                <a:latin typeface="Microsoft YaHei"/>
              </a:defRPr>
            </a:pPr>
            <a:r>
              <a:t>可改动方向：说明 tDR 差异分析需要可靠命名和来源解析；但本文贡献是生物机制而非工具。</a:t>
            </a:r>
          </a:p>
        </p:txBody>
      </p:sp>
      <p:sp>
        <p:nvSpPr>
          <p:cNvPr id="34" name="Rounded Rectangle 3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tRF 功能机制 的关键不是单一软件命令，而是把生物化学偏差转化为可统计建模的信号。</a:t>
            </a:r>
          </a:p>
        </p:txBody>
      </p:sp>
      <p:sp>
        <p:nvSpPr>
          <p:cNvPr id="36" name="TextBox 3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35654044: A pro-metastatic tRNA fragment drives Nucleolin oligomerization and stabilization of its bound metabolic mRNAs.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772400" cy="228600"/>
          </a:xfrm>
          <a:prstGeom prst="rect">
            <a:avLst/>
          </a:prstGeom>
          <a:noFill/>
        </p:spPr>
        <p:txBody>
          <a:bodyPr wrap="square" anchor="t">
            <a:spAutoFit/>
          </a:bodyPr>
          <a:lstStyle/>
          <a:p>
            <a:pPr>
              <a:defRPr sz="850" b="0">
                <a:solidFill>
                  <a:srgbClr val="5C6670"/>
                </a:solidFill>
                <a:latin typeface="Microsoft YaHei"/>
              </a:defRPr>
            </a:pPr>
            <a:r>
              <a:t>删出主线，保留启发 | Nature 2026 | PMID 41501459</a:t>
            </a:r>
          </a:p>
        </p:txBody>
      </p:sp>
      <p:sp>
        <p:nvSpPr>
          <p:cNvPr id="4" name="TextBox 3"/>
          <p:cNvSpPr txBox="1"/>
          <p:nvPr/>
        </p:nvSpPr>
        <p:spPr>
          <a:xfrm>
            <a:off x="502920" y="393192"/>
            <a:ext cx="10332720" cy="502920"/>
          </a:xfrm>
          <a:prstGeom prst="rect">
            <a:avLst/>
          </a:prstGeom>
          <a:noFill/>
        </p:spPr>
        <p:txBody>
          <a:bodyPr wrap="square" anchor="t">
            <a:spAutoFit/>
          </a:bodyPr>
          <a:lstStyle/>
          <a:p>
            <a:pPr>
              <a:defRPr sz="2300" b="1">
                <a:solidFill>
                  <a:srgbClr val="1F262E"/>
                </a:solidFill>
                <a:latin typeface="Microsoft YaHei"/>
              </a:defRPr>
            </a:pPr>
            <a:r>
              <a:t>精读 18｜CRISPR-tRNA 识别机制：RNA-triggered Cas12a3 cleaves tRNA tails to execute bacterial </a:t>
            </a:r>
          </a:p>
        </p:txBody>
      </p:sp>
      <p:sp>
        <p:nvSpPr>
          <p:cNvPr id="5" name="Rectangle 4"/>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115568"/>
            <a:ext cx="1051560" cy="228600"/>
          </a:xfrm>
          <a:prstGeom prst="roundRect">
            <a:avLst/>
          </a:prstGeom>
          <a:solidFill>
            <a:srgbClr val="E7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156716"/>
            <a:ext cx="941832" cy="128016"/>
          </a:xfrm>
          <a:prstGeom prst="rect">
            <a:avLst/>
          </a:prstGeom>
          <a:noFill/>
        </p:spPr>
        <p:txBody>
          <a:bodyPr wrap="none">
            <a:spAutoFit/>
          </a:bodyPr>
          <a:lstStyle/>
          <a:p>
            <a:pPr algn="ctr">
              <a:defRPr sz="720" b="1">
                <a:solidFill>
                  <a:srgbClr val="2D5D7B"/>
                </a:solidFill>
                <a:latin typeface="Microsoft YaHei"/>
              </a:defRPr>
            </a:pPr>
            <a:r>
              <a:t>删出主线，保留启发</a:t>
            </a:r>
          </a:p>
        </p:txBody>
      </p:sp>
      <p:pic>
        <p:nvPicPr>
          <p:cNvPr id="8" name="Picture 7" descr="PMC12851939_41586_2025_9852_Fig1_HTML.jpg"/>
          <p:cNvPicPr>
            <a:picLocks noChangeAspect="1"/>
          </p:cNvPicPr>
          <p:nvPr/>
        </p:nvPicPr>
        <p:blipFill>
          <a:blip r:embed="rId2"/>
          <a:stretch>
            <a:fillRect/>
          </a:stretch>
        </p:blipFill>
        <p:spPr>
          <a:xfrm>
            <a:off x="621792" y="1444752"/>
            <a:ext cx="4709160" cy="2788920"/>
          </a:xfrm>
          <a:prstGeom prst="rect">
            <a:avLst/>
          </a:prstGeom>
        </p:spPr>
      </p:pic>
      <p:sp>
        <p:nvSpPr>
          <p:cNvPr id="9" name="Rounded Rectangle 8"/>
          <p:cNvSpPr/>
          <p:nvPr/>
        </p:nvSpPr>
        <p:spPr>
          <a:xfrm>
            <a:off x="5559552"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24144" y="1271016"/>
            <a:ext cx="2459736" cy="237744"/>
          </a:xfrm>
          <a:prstGeom prst="rect">
            <a:avLst/>
          </a:prstGeom>
          <a:noFill/>
        </p:spPr>
        <p:txBody>
          <a:bodyPr wrap="square" anchor="t">
            <a:spAutoFit/>
          </a:bodyPr>
          <a:lstStyle/>
          <a:p>
            <a:pPr>
              <a:defRPr sz="1050" b="1">
                <a:solidFill>
                  <a:srgbClr val="2D5D7B"/>
                </a:solidFill>
                <a:latin typeface="Microsoft YaHei"/>
              </a:defRPr>
            </a:pPr>
            <a:r>
              <a:t>文章逻辑</a:t>
            </a:r>
          </a:p>
        </p:txBody>
      </p:sp>
      <p:sp>
        <p:nvSpPr>
          <p:cNvPr id="11" name="TextBox 10"/>
          <p:cNvSpPr txBox="1"/>
          <p:nvPr/>
        </p:nvSpPr>
        <p:spPr>
          <a:xfrm>
            <a:off x="5724144" y="1581912"/>
            <a:ext cx="2459736" cy="685800"/>
          </a:xfrm>
          <a:prstGeom prst="rect">
            <a:avLst/>
          </a:prstGeom>
          <a:noFill/>
        </p:spPr>
        <p:txBody>
          <a:bodyPr wrap="square" anchor="t">
            <a:spAutoFit/>
          </a:bodyPr>
          <a:lstStyle/>
          <a:p>
            <a:pPr>
              <a:defRPr sz="940" b="0">
                <a:solidFill>
                  <a:srgbClr val="1F262E"/>
                </a:solidFill>
                <a:latin typeface="Microsoft YaHei"/>
              </a:defRPr>
            </a:pPr>
            <a:r>
              <a:t>Cas12a3 被靶 RNA 激活后切割 tRNA 3' CCA tail，证明 tRNA tail 可以成为可编程识别/报告位点。</a:t>
            </a:r>
          </a:p>
        </p:txBody>
      </p:sp>
      <p:sp>
        <p:nvSpPr>
          <p:cNvPr id="12" name="Rounded Rectangle 11"/>
          <p:cNvSpPr/>
          <p:nvPr/>
        </p:nvSpPr>
        <p:spPr>
          <a:xfrm>
            <a:off x="8549640" y="1143000"/>
            <a:ext cx="2788920" cy="11887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14232" y="1271016"/>
            <a:ext cx="2459736" cy="237744"/>
          </a:xfrm>
          <a:prstGeom prst="rect">
            <a:avLst/>
          </a:prstGeom>
          <a:noFill/>
        </p:spPr>
        <p:txBody>
          <a:bodyPr wrap="square" anchor="t">
            <a:spAutoFit/>
          </a:bodyPr>
          <a:lstStyle/>
          <a:p>
            <a:pPr>
              <a:defRPr sz="1050" b="1">
                <a:solidFill>
                  <a:srgbClr val="2D5D7B"/>
                </a:solidFill>
                <a:latin typeface="Microsoft YaHei"/>
              </a:defRPr>
            </a:pPr>
            <a:r>
              <a:t>核心假说</a:t>
            </a:r>
          </a:p>
        </p:txBody>
      </p:sp>
      <p:sp>
        <p:nvSpPr>
          <p:cNvPr id="14" name="TextBox 13"/>
          <p:cNvSpPr txBox="1"/>
          <p:nvPr/>
        </p:nvSpPr>
        <p:spPr>
          <a:xfrm>
            <a:off x="8714232" y="1581912"/>
            <a:ext cx="2459736" cy="685800"/>
          </a:xfrm>
          <a:prstGeom prst="rect">
            <a:avLst/>
          </a:prstGeom>
          <a:noFill/>
        </p:spPr>
        <p:txBody>
          <a:bodyPr wrap="square" anchor="t">
            <a:spAutoFit/>
          </a:bodyPr>
          <a:lstStyle/>
          <a:p>
            <a:pPr>
              <a:defRPr sz="940" b="0">
                <a:solidFill>
                  <a:srgbClr val="1F262E"/>
                </a:solidFill>
                <a:latin typeface="Microsoft YaHei"/>
              </a:defRPr>
            </a:pPr>
            <a:r>
              <a:t>部分 type V CRISPR effector 通过 target RNA 触发非靶 tRNA 裂解实现抗噬菌体防御。</a:t>
            </a:r>
          </a:p>
        </p:txBody>
      </p:sp>
      <p:sp>
        <p:nvSpPr>
          <p:cNvPr id="15" name="Rounded Rectangle 14"/>
          <p:cNvSpPr/>
          <p:nvPr/>
        </p:nvSpPr>
        <p:spPr>
          <a:xfrm>
            <a:off x="5559552"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24144" y="2706624"/>
            <a:ext cx="2459736" cy="237744"/>
          </a:xfrm>
          <a:prstGeom prst="rect">
            <a:avLst/>
          </a:prstGeom>
          <a:noFill/>
        </p:spPr>
        <p:txBody>
          <a:bodyPr wrap="square" anchor="t">
            <a:spAutoFit/>
          </a:bodyPr>
          <a:lstStyle/>
          <a:p>
            <a:pPr>
              <a:defRPr sz="1050" b="1">
                <a:solidFill>
                  <a:srgbClr val="2D5D7B"/>
                </a:solidFill>
                <a:latin typeface="Microsoft YaHei"/>
              </a:defRPr>
            </a:pPr>
            <a:r>
              <a:t>方法步骤</a:t>
            </a:r>
          </a:p>
        </p:txBody>
      </p:sp>
      <p:sp>
        <p:nvSpPr>
          <p:cNvPr id="17" name="TextBox 16"/>
          <p:cNvSpPr txBox="1"/>
          <p:nvPr/>
        </p:nvSpPr>
        <p:spPr>
          <a:xfrm>
            <a:off x="5724144"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cell-based/biochemical assay</a:t>
            </a:r>
          </a:p>
          <a:p>
            <a:pPr>
              <a:spcAft>
                <a:spcPts val="400"/>
              </a:spcAft>
              <a:defRPr sz="919">
                <a:solidFill>
                  <a:srgbClr val="1F262E"/>
                </a:solidFill>
                <a:latin typeface="Microsoft YaHei"/>
              </a:defRPr>
            </a:pPr>
            <a:r>
              <a:t>direct RNA sequencing</a:t>
            </a:r>
          </a:p>
          <a:p>
            <a:pPr>
              <a:spcAft>
                <a:spcPts val="400"/>
              </a:spcAft>
              <a:defRPr sz="919">
                <a:solidFill>
                  <a:srgbClr val="1F262E"/>
                </a:solidFill>
                <a:latin typeface="Microsoft YaHei"/>
              </a:defRPr>
            </a:pPr>
            <a:r>
              <a:t>cryo-EM</a:t>
            </a:r>
          </a:p>
          <a:p>
            <a:pPr>
              <a:spcAft>
                <a:spcPts val="400"/>
              </a:spcAft>
              <a:defRPr sz="919">
                <a:solidFill>
                  <a:srgbClr val="1F262E"/>
                </a:solidFill>
                <a:latin typeface="Microsoft YaHei"/>
              </a:defRPr>
            </a:pPr>
            <a:r>
              <a:t>synthetic tRNA-tail reporter</a:t>
            </a:r>
          </a:p>
        </p:txBody>
      </p:sp>
      <p:sp>
        <p:nvSpPr>
          <p:cNvPr id="18" name="Rounded Rectangle 17"/>
          <p:cNvSpPr/>
          <p:nvPr/>
        </p:nvSpPr>
        <p:spPr>
          <a:xfrm>
            <a:off x="8549640" y="2578608"/>
            <a:ext cx="2788920" cy="141732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14232" y="2706624"/>
            <a:ext cx="2459736" cy="237744"/>
          </a:xfrm>
          <a:prstGeom prst="rect">
            <a:avLst/>
          </a:prstGeom>
          <a:noFill/>
        </p:spPr>
        <p:txBody>
          <a:bodyPr wrap="square" anchor="t">
            <a:spAutoFit/>
          </a:bodyPr>
          <a:lstStyle/>
          <a:p>
            <a:pPr>
              <a:defRPr sz="1050" b="1">
                <a:solidFill>
                  <a:srgbClr val="2D5D7B"/>
                </a:solidFill>
                <a:latin typeface="Microsoft YaHei"/>
              </a:defRPr>
            </a:pPr>
            <a:r>
              <a:t>结果与讨论</a:t>
            </a:r>
          </a:p>
        </p:txBody>
      </p:sp>
      <p:sp>
        <p:nvSpPr>
          <p:cNvPr id="20" name="TextBox 19"/>
          <p:cNvSpPr txBox="1"/>
          <p:nvPr/>
        </p:nvSpPr>
        <p:spPr>
          <a:xfrm>
            <a:off x="8714232" y="3017520"/>
            <a:ext cx="2459736" cy="914400"/>
          </a:xfrm>
          <a:prstGeom prst="rect">
            <a:avLst/>
          </a:prstGeom>
          <a:noFill/>
        </p:spPr>
        <p:txBody>
          <a:bodyPr wrap="square">
            <a:spAutoFit/>
          </a:bodyPr>
          <a:lstStyle/>
          <a:p>
            <a:pPr>
              <a:spcAft>
                <a:spcPts val="400"/>
              </a:spcAft>
              <a:defRPr sz="919">
                <a:solidFill>
                  <a:srgbClr val="1F262E"/>
                </a:solidFill>
                <a:latin typeface="Microsoft YaHei"/>
              </a:defRPr>
            </a:pPr>
            <a:r>
              <a:t>发现 tRNA-loading domain 定位 tRNA tail 至 RuvC active site，并扩展 CRISPR RNA 检测能力。</a:t>
            </a:r>
          </a:p>
          <a:p>
            <a:pPr>
              <a:spcAft>
                <a:spcPts val="400"/>
              </a:spcAft>
              <a:defRPr sz="919">
                <a:solidFill>
                  <a:srgbClr val="1F262E"/>
                </a:solidFill>
                <a:latin typeface="Microsoft YaHei"/>
              </a:defRPr>
            </a:pPr>
            <a:r>
              <a:t>对 tRNA tail 识别和纳米孔/direct RNA readout 有启发；但不是 tRNA 分析算法论文。</a:t>
            </a:r>
          </a:p>
        </p:txBody>
      </p:sp>
      <p:sp>
        <p:nvSpPr>
          <p:cNvPr id="21" name="TextBox 20"/>
          <p:cNvSpPr txBox="1"/>
          <p:nvPr/>
        </p:nvSpPr>
        <p:spPr>
          <a:xfrm>
            <a:off x="640080" y="4407408"/>
            <a:ext cx="4709160" cy="530352"/>
          </a:xfrm>
          <a:prstGeom prst="rect">
            <a:avLst/>
          </a:prstGeom>
          <a:noFill/>
        </p:spPr>
        <p:txBody>
          <a:bodyPr wrap="square" anchor="t">
            <a:spAutoFit/>
          </a:bodyPr>
          <a:lstStyle/>
          <a:p>
            <a:pPr>
              <a:defRPr sz="1350" b="1">
                <a:solidFill>
                  <a:srgbClr val="2D5D7B"/>
                </a:solidFill>
                <a:latin typeface="Microsoft YaHei"/>
              </a:defRPr>
            </a:pPr>
            <a:r>
              <a:t>汇报定位：CRISPR-tRNA 识别机制</a:t>
            </a:r>
          </a:p>
        </p:txBody>
      </p:sp>
      <p:sp>
        <p:nvSpPr>
          <p:cNvPr id="22" name="TextBox 21"/>
          <p:cNvSpPr txBox="1"/>
          <p:nvPr/>
        </p:nvSpPr>
        <p:spPr>
          <a:xfrm>
            <a:off x="786384" y="4864608"/>
            <a:ext cx="10424160" cy="713232"/>
          </a:xfrm>
          <a:prstGeom prst="rect">
            <a:avLst/>
          </a:prstGeom>
          <a:noFill/>
        </p:spPr>
        <p:txBody>
          <a:bodyPr wrap="square">
            <a:spAutoFit/>
          </a:bodyPr>
          <a:lstStyle/>
          <a:p>
            <a:pPr>
              <a:spcAft>
                <a:spcPts val="400"/>
              </a:spcAft>
              <a:defRPr sz="940">
                <a:solidFill>
                  <a:srgbClr val="1F262E"/>
                </a:solidFill>
                <a:latin typeface="Microsoft YaHei"/>
              </a:defRPr>
            </a:pPr>
            <a:r>
              <a:t>识别逻辑：Cas12a3 被靶 RNA 激活后切割 tRNA 3' CCA tail，证明 tRNA tail 可以成为可编程识别/报告位点。</a:t>
            </a:r>
          </a:p>
          <a:p>
            <a:pPr>
              <a:spcAft>
                <a:spcPts val="400"/>
              </a:spcAft>
              <a:defRPr sz="940">
                <a:solidFill>
                  <a:srgbClr val="1F262E"/>
                </a:solidFill>
                <a:latin typeface="Microsoft YaHei"/>
              </a:defRPr>
            </a:pPr>
            <a:r>
              <a:t>可改动方向：对 tRNA tail 识别和纳米孔/direct RNA readout 有启发；但不是 tRNA 分析算法论文。</a:t>
            </a:r>
          </a:p>
        </p:txBody>
      </p:sp>
      <p:sp>
        <p:nvSpPr>
          <p:cNvPr id="23" name="Rounded Rectangle 22"/>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CRISPR-tRNA 识别机制 的关键不是单一软件命令，而是把生物化学偏差转化为可统计建模的信号。</a:t>
            </a:r>
          </a:p>
        </p:txBody>
      </p:sp>
      <p:sp>
        <p:nvSpPr>
          <p:cNvPr id="25" name="TextBox 24"/>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41501459: RNA-triggered Cas12a3 cleaves tRNA tails to execute bacterial immunity.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工具深挖一：tRNAscan-SE 2.0 的基因识别架构</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408176"/>
            <a:ext cx="1566672" cy="256032"/>
          </a:xfrm>
          <a:prstGeom prst="rect">
            <a:avLst/>
          </a:prstGeom>
          <a:noFill/>
        </p:spPr>
        <p:txBody>
          <a:bodyPr wrap="none">
            <a:spAutoFit/>
          </a:bodyPr>
          <a:lstStyle/>
          <a:p>
            <a:pPr algn="ctr">
              <a:defRPr sz="840" b="1">
                <a:solidFill>
                  <a:srgbClr val="2D5D7B"/>
                </a:solidFill>
                <a:latin typeface="Microsoft YaHei"/>
              </a:defRPr>
            </a:pPr>
            <a:r>
              <a:t>Genome windows</a:t>
            </a:r>
          </a:p>
        </p:txBody>
      </p:sp>
      <p:sp>
        <p:nvSpPr>
          <p:cNvPr id="7" name="TextBox 6"/>
          <p:cNvSpPr txBox="1"/>
          <p:nvPr/>
        </p:nvSpPr>
        <p:spPr>
          <a:xfrm>
            <a:off x="2348484"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8" name="Rounded Rectangle 7"/>
          <p:cNvSpPr/>
          <p:nvPr/>
        </p:nvSpPr>
        <p:spPr>
          <a:xfrm>
            <a:off x="2444495"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99359" y="1408176"/>
            <a:ext cx="1566672" cy="256032"/>
          </a:xfrm>
          <a:prstGeom prst="rect">
            <a:avLst/>
          </a:prstGeom>
          <a:noFill/>
        </p:spPr>
        <p:txBody>
          <a:bodyPr wrap="none">
            <a:spAutoFit/>
          </a:bodyPr>
          <a:lstStyle/>
          <a:p>
            <a:pPr algn="ctr">
              <a:defRPr sz="840" b="1">
                <a:solidFill>
                  <a:srgbClr val="2D5D7B"/>
                </a:solidFill>
                <a:latin typeface="Microsoft YaHei"/>
              </a:defRPr>
            </a:pPr>
            <a:r>
              <a:t>fast candidate scan</a:t>
            </a:r>
          </a:p>
        </p:txBody>
      </p:sp>
      <p:sp>
        <p:nvSpPr>
          <p:cNvPr id="10" name="TextBox 9"/>
          <p:cNvSpPr txBox="1"/>
          <p:nvPr/>
        </p:nvSpPr>
        <p:spPr>
          <a:xfrm>
            <a:off x="4134611"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4230623"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5487" y="1408176"/>
            <a:ext cx="1566672" cy="256032"/>
          </a:xfrm>
          <a:prstGeom prst="rect">
            <a:avLst/>
          </a:prstGeom>
          <a:noFill/>
        </p:spPr>
        <p:txBody>
          <a:bodyPr wrap="none">
            <a:spAutoFit/>
          </a:bodyPr>
          <a:lstStyle/>
          <a:p>
            <a:pPr algn="ctr">
              <a:defRPr sz="840" b="1">
                <a:solidFill>
                  <a:srgbClr val="2D5D7B"/>
                </a:solidFill>
                <a:latin typeface="Microsoft YaHei"/>
              </a:defRPr>
            </a:pPr>
            <a:r>
              <a:t>CM validation</a:t>
            </a:r>
          </a:p>
        </p:txBody>
      </p:sp>
      <p:sp>
        <p:nvSpPr>
          <p:cNvPr id="13" name="TextBox 12"/>
          <p:cNvSpPr txBox="1"/>
          <p:nvPr/>
        </p:nvSpPr>
        <p:spPr>
          <a:xfrm>
            <a:off x="5920739"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6016751"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71615" y="1408176"/>
            <a:ext cx="1566672" cy="256032"/>
          </a:xfrm>
          <a:prstGeom prst="rect">
            <a:avLst/>
          </a:prstGeom>
          <a:noFill/>
        </p:spPr>
        <p:txBody>
          <a:bodyPr wrap="none">
            <a:spAutoFit/>
          </a:bodyPr>
          <a:lstStyle/>
          <a:p>
            <a:pPr algn="ctr">
              <a:defRPr sz="840" b="1">
                <a:solidFill>
                  <a:srgbClr val="2D5D7B"/>
                </a:solidFill>
                <a:latin typeface="Microsoft YaHei"/>
              </a:defRPr>
            </a:pPr>
            <a:r>
              <a:t>isotype model</a:t>
            </a:r>
          </a:p>
        </p:txBody>
      </p:sp>
      <p:sp>
        <p:nvSpPr>
          <p:cNvPr id="16" name="TextBox 15"/>
          <p:cNvSpPr txBox="1"/>
          <p:nvPr/>
        </p:nvSpPr>
        <p:spPr>
          <a:xfrm>
            <a:off x="7706867"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7802880"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57744" y="1408176"/>
            <a:ext cx="1566672" cy="256032"/>
          </a:xfrm>
          <a:prstGeom prst="rect">
            <a:avLst/>
          </a:prstGeom>
          <a:noFill/>
        </p:spPr>
        <p:txBody>
          <a:bodyPr wrap="none">
            <a:spAutoFit/>
          </a:bodyPr>
          <a:lstStyle/>
          <a:p>
            <a:pPr algn="ctr">
              <a:defRPr sz="840" b="1">
                <a:solidFill>
                  <a:srgbClr val="2D5D7B"/>
                </a:solidFill>
                <a:latin typeface="Microsoft YaHei"/>
              </a:defRPr>
            </a:pPr>
            <a:r>
              <a:t>pseudogene filter</a:t>
            </a:r>
          </a:p>
        </p:txBody>
      </p:sp>
      <p:sp>
        <p:nvSpPr>
          <p:cNvPr id="19" name="TextBox 18"/>
          <p:cNvSpPr txBox="1"/>
          <p:nvPr/>
        </p:nvSpPr>
        <p:spPr>
          <a:xfrm>
            <a:off x="9492996"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0" name="Rounded Rectangle 19"/>
          <p:cNvSpPr/>
          <p:nvPr/>
        </p:nvSpPr>
        <p:spPr>
          <a:xfrm>
            <a:off x="9589008"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3872" y="1408176"/>
            <a:ext cx="1566672" cy="256032"/>
          </a:xfrm>
          <a:prstGeom prst="rect">
            <a:avLst/>
          </a:prstGeom>
          <a:noFill/>
        </p:spPr>
        <p:txBody>
          <a:bodyPr wrap="none">
            <a:spAutoFit/>
          </a:bodyPr>
          <a:lstStyle/>
          <a:p>
            <a:pPr algn="ctr">
              <a:defRPr sz="840" b="1">
                <a:solidFill>
                  <a:srgbClr val="2D5D7B"/>
                </a:solidFill>
                <a:latin typeface="Microsoft YaHei"/>
              </a:defRPr>
            </a:pPr>
            <a:r>
              <a:t>functional class</a:t>
            </a:r>
          </a:p>
        </p:txBody>
      </p:sp>
      <p:sp>
        <p:nvSpPr>
          <p:cNvPr id="22" name="Rounded Rectangle 21"/>
          <p:cNvSpPr/>
          <p:nvPr/>
        </p:nvSpPr>
        <p:spPr>
          <a:xfrm>
            <a:off x="713232" y="2267712"/>
            <a:ext cx="3291840" cy="246888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2395728"/>
            <a:ext cx="2962656" cy="237744"/>
          </a:xfrm>
          <a:prstGeom prst="rect">
            <a:avLst/>
          </a:prstGeom>
          <a:noFill/>
        </p:spPr>
        <p:txBody>
          <a:bodyPr wrap="square" anchor="t">
            <a:spAutoFit/>
          </a:bodyPr>
          <a:lstStyle/>
          <a:p>
            <a:pPr>
              <a:defRPr sz="1050" b="1">
                <a:solidFill>
                  <a:srgbClr val="2D5D7B"/>
                </a:solidFill>
                <a:latin typeface="Microsoft YaHei"/>
              </a:defRPr>
            </a:pPr>
            <a:r>
              <a:t>底层算法</a:t>
            </a:r>
          </a:p>
        </p:txBody>
      </p:sp>
      <p:sp>
        <p:nvSpPr>
          <p:cNvPr id="24" name="TextBox 23"/>
          <p:cNvSpPr txBox="1"/>
          <p:nvPr/>
        </p:nvSpPr>
        <p:spPr>
          <a:xfrm>
            <a:off x="877824" y="2706624"/>
            <a:ext cx="2962656" cy="1965960"/>
          </a:xfrm>
          <a:prstGeom prst="rect">
            <a:avLst/>
          </a:prstGeom>
          <a:noFill/>
        </p:spPr>
        <p:txBody>
          <a:bodyPr wrap="square">
            <a:spAutoFit/>
          </a:bodyPr>
          <a:lstStyle/>
          <a:p>
            <a:pPr>
              <a:spcAft>
                <a:spcPts val="400"/>
              </a:spcAft>
              <a:defRPr sz="919">
                <a:solidFill>
                  <a:srgbClr val="1F262E"/>
                </a:solidFill>
                <a:latin typeface="Microsoft YaHei"/>
              </a:defRPr>
            </a:pPr>
            <a:r>
              <a:t>协方差模型同时编码序列保守性和二级结构。</a:t>
            </a:r>
          </a:p>
          <a:p>
            <a:pPr>
              <a:spcAft>
                <a:spcPts val="400"/>
              </a:spcAft>
              <a:defRPr sz="919">
                <a:solidFill>
                  <a:srgbClr val="1F262E"/>
                </a:solidFill>
                <a:latin typeface="Microsoft YaHei"/>
              </a:defRPr>
            </a:pPr>
            <a:r>
              <a:t>先粗筛候选，再用结构模型精筛，降低全基因组搜索成本。</a:t>
            </a:r>
          </a:p>
          <a:p>
            <a:pPr>
              <a:spcAft>
                <a:spcPts val="400"/>
              </a:spcAft>
              <a:defRPr sz="919">
                <a:solidFill>
                  <a:srgbClr val="1F262E"/>
                </a:solidFill>
                <a:latin typeface="Microsoft YaHei"/>
              </a:defRPr>
            </a:pPr>
            <a:r>
              <a:t>anticodon、identity element 和结构完整性共同支持功能分类。</a:t>
            </a:r>
          </a:p>
        </p:txBody>
      </p:sp>
      <p:sp>
        <p:nvSpPr>
          <p:cNvPr id="25" name="Rounded Rectangle 24"/>
          <p:cNvSpPr/>
          <p:nvPr/>
        </p:nvSpPr>
        <p:spPr>
          <a:xfrm>
            <a:off x="4462272" y="2267712"/>
            <a:ext cx="3291840" cy="246888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6864" y="2395728"/>
            <a:ext cx="2962656" cy="237744"/>
          </a:xfrm>
          <a:prstGeom prst="rect">
            <a:avLst/>
          </a:prstGeom>
          <a:noFill/>
        </p:spPr>
        <p:txBody>
          <a:bodyPr wrap="square" anchor="t">
            <a:spAutoFit/>
          </a:bodyPr>
          <a:lstStyle/>
          <a:p>
            <a:pPr>
              <a:defRPr sz="1050" b="1">
                <a:solidFill>
                  <a:srgbClr val="2D5D7B"/>
                </a:solidFill>
                <a:latin typeface="Microsoft YaHei"/>
              </a:defRPr>
            </a:pPr>
            <a:r>
              <a:t>识别逻辑</a:t>
            </a:r>
          </a:p>
        </p:txBody>
      </p:sp>
      <p:sp>
        <p:nvSpPr>
          <p:cNvPr id="27" name="TextBox 26"/>
          <p:cNvSpPr txBox="1"/>
          <p:nvPr/>
        </p:nvSpPr>
        <p:spPr>
          <a:xfrm>
            <a:off x="4626864" y="2706624"/>
            <a:ext cx="2962656" cy="1965960"/>
          </a:xfrm>
          <a:prstGeom prst="rect">
            <a:avLst/>
          </a:prstGeom>
          <a:noFill/>
        </p:spPr>
        <p:txBody>
          <a:bodyPr wrap="square">
            <a:spAutoFit/>
          </a:bodyPr>
          <a:lstStyle/>
          <a:p>
            <a:pPr>
              <a:spcAft>
                <a:spcPts val="400"/>
              </a:spcAft>
              <a:defRPr sz="919">
                <a:solidFill>
                  <a:srgbClr val="1F262E"/>
                </a:solidFill>
                <a:latin typeface="Microsoft YaHei"/>
              </a:defRPr>
            </a:pPr>
            <a:r>
              <a:t>真 tRNA：结构完整、score 高、anticodon/CCA 等特征一致。</a:t>
            </a:r>
          </a:p>
          <a:p>
            <a:pPr>
              <a:spcAft>
                <a:spcPts val="400"/>
              </a:spcAft>
              <a:defRPr sz="919">
                <a:solidFill>
                  <a:srgbClr val="1F262E"/>
                </a:solidFill>
                <a:latin typeface="Microsoft YaHei"/>
              </a:defRPr>
            </a:pPr>
            <a:r>
              <a:t>伪基因：局部像 tRNA，但结构破损或身份元件异常。</a:t>
            </a:r>
          </a:p>
          <a:p>
            <a:pPr>
              <a:spcAft>
                <a:spcPts val="400"/>
              </a:spcAft>
              <a:defRPr sz="919">
                <a:solidFill>
                  <a:srgbClr val="1F262E"/>
                </a:solidFill>
                <a:latin typeface="Microsoft YaHei"/>
              </a:defRPr>
            </a:pPr>
            <a:r>
              <a:t>线粒体 tRNA：结构更非典型，需要专门模型。</a:t>
            </a:r>
          </a:p>
        </p:txBody>
      </p:sp>
      <p:sp>
        <p:nvSpPr>
          <p:cNvPr id="28" name="Rounded Rectangle 27"/>
          <p:cNvSpPr/>
          <p:nvPr/>
        </p:nvSpPr>
        <p:spPr>
          <a:xfrm>
            <a:off x="8211312" y="2267712"/>
            <a:ext cx="3291840" cy="246888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75904" y="2395728"/>
            <a:ext cx="2962656" cy="237744"/>
          </a:xfrm>
          <a:prstGeom prst="rect">
            <a:avLst/>
          </a:prstGeom>
          <a:noFill/>
        </p:spPr>
        <p:txBody>
          <a:bodyPr wrap="square" anchor="t">
            <a:spAutoFit/>
          </a:bodyPr>
          <a:lstStyle/>
          <a:p>
            <a:pPr>
              <a:defRPr sz="1050" b="1">
                <a:solidFill>
                  <a:srgbClr val="2D5D7B"/>
                </a:solidFill>
                <a:latin typeface="Microsoft YaHei"/>
              </a:defRPr>
            </a:pPr>
            <a:r>
              <a:t>改动方向</a:t>
            </a:r>
          </a:p>
        </p:txBody>
      </p:sp>
      <p:sp>
        <p:nvSpPr>
          <p:cNvPr id="30" name="TextBox 29"/>
          <p:cNvSpPr txBox="1"/>
          <p:nvPr/>
        </p:nvSpPr>
        <p:spPr>
          <a:xfrm>
            <a:off x="8375904" y="2706624"/>
            <a:ext cx="2962656" cy="1965960"/>
          </a:xfrm>
          <a:prstGeom prst="rect">
            <a:avLst/>
          </a:prstGeom>
          <a:noFill/>
        </p:spPr>
        <p:txBody>
          <a:bodyPr wrap="square">
            <a:spAutoFit/>
          </a:bodyPr>
          <a:lstStyle/>
          <a:p>
            <a:pPr>
              <a:spcAft>
                <a:spcPts val="400"/>
              </a:spcAft>
              <a:defRPr sz="919">
                <a:solidFill>
                  <a:srgbClr val="1F262E"/>
                </a:solidFill>
                <a:latin typeface="Microsoft YaHei"/>
              </a:defRPr>
            </a:pPr>
            <a:r>
              <a:t>用样本 tRNA-seq 证据辅助过滤 pseudogene。</a:t>
            </a:r>
          </a:p>
          <a:p>
            <a:pPr>
              <a:spcAft>
                <a:spcPts val="400"/>
              </a:spcAft>
              <a:defRPr sz="919">
                <a:solidFill>
                  <a:srgbClr val="1F262E"/>
                </a:solidFill>
                <a:latin typeface="Microsoft YaHei"/>
              </a:defRPr>
            </a:pPr>
            <a:r>
              <a:t>输出可直接用于 mature tRNA/tDR 的 reference graph。</a:t>
            </a:r>
          </a:p>
          <a:p>
            <a:pPr>
              <a:spcAft>
                <a:spcPts val="400"/>
              </a:spcAft>
              <a:defRPr sz="919">
                <a:solidFill>
                  <a:srgbClr val="1F262E"/>
                </a:solidFill>
                <a:latin typeface="Microsoft YaHei"/>
              </a:defRPr>
            </a:pPr>
            <a:r>
              <a:t>把保守性、表达证据和多拷贝不确定性一起报告。</a:t>
            </a:r>
          </a:p>
        </p:txBody>
      </p:sp>
      <p:sp>
        <p:nvSpPr>
          <p:cNvPr id="31" name="Rounded Rectangle 30"/>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tRNAscan-SE 解决的是“可能是哪一类 tRNA 基因”，不是“在样本中表达了多少”。</a:t>
            </a:r>
          </a:p>
        </p:txBody>
      </p:sp>
      <p:sp>
        <p:nvSpPr>
          <p:cNvPr id="33" name="TextBox 32"/>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34417604: tRNAscan-SE 2.0: improved detection and functional classification of transfer RNA genes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工具深挖二：短读长 tRNA-seq 的定量算法</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408176"/>
            <a:ext cx="1566672" cy="256032"/>
          </a:xfrm>
          <a:prstGeom prst="rect">
            <a:avLst/>
          </a:prstGeom>
          <a:noFill/>
        </p:spPr>
        <p:txBody>
          <a:bodyPr wrap="none">
            <a:spAutoFit/>
          </a:bodyPr>
          <a:lstStyle/>
          <a:p>
            <a:pPr algn="ctr">
              <a:defRPr sz="840" b="1">
                <a:solidFill>
                  <a:srgbClr val="2D5D7B"/>
                </a:solidFill>
                <a:latin typeface="Microsoft YaHei"/>
              </a:defRPr>
            </a:pPr>
            <a:r>
              <a:t>adapter/CCA handling</a:t>
            </a:r>
          </a:p>
        </p:txBody>
      </p:sp>
      <p:sp>
        <p:nvSpPr>
          <p:cNvPr id="7" name="TextBox 6"/>
          <p:cNvSpPr txBox="1"/>
          <p:nvPr/>
        </p:nvSpPr>
        <p:spPr>
          <a:xfrm>
            <a:off x="2348484"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8" name="Rounded Rectangle 7"/>
          <p:cNvSpPr/>
          <p:nvPr/>
        </p:nvSpPr>
        <p:spPr>
          <a:xfrm>
            <a:off x="2444495"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99359" y="1408176"/>
            <a:ext cx="1566672" cy="256032"/>
          </a:xfrm>
          <a:prstGeom prst="rect">
            <a:avLst/>
          </a:prstGeom>
          <a:noFill/>
        </p:spPr>
        <p:txBody>
          <a:bodyPr wrap="none">
            <a:spAutoFit/>
          </a:bodyPr>
          <a:lstStyle/>
          <a:p>
            <a:pPr algn="ctr">
              <a:defRPr sz="840" b="1">
                <a:solidFill>
                  <a:srgbClr val="2D5D7B"/>
                </a:solidFill>
                <a:latin typeface="Microsoft YaHei"/>
              </a:defRPr>
            </a:pPr>
            <a:r>
              <a:t>RT stop-aware reads</a:t>
            </a:r>
          </a:p>
        </p:txBody>
      </p:sp>
      <p:sp>
        <p:nvSpPr>
          <p:cNvPr id="10" name="TextBox 9"/>
          <p:cNvSpPr txBox="1"/>
          <p:nvPr/>
        </p:nvSpPr>
        <p:spPr>
          <a:xfrm>
            <a:off x="4134611"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4230623"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5487" y="1408176"/>
            <a:ext cx="1566672" cy="256032"/>
          </a:xfrm>
          <a:prstGeom prst="rect">
            <a:avLst/>
          </a:prstGeom>
          <a:noFill/>
        </p:spPr>
        <p:txBody>
          <a:bodyPr wrap="none">
            <a:spAutoFit/>
          </a:bodyPr>
          <a:lstStyle/>
          <a:p>
            <a:pPr algn="ctr">
              <a:defRPr sz="840" b="1">
                <a:solidFill>
                  <a:srgbClr val="2D5D7B"/>
                </a:solidFill>
                <a:latin typeface="Microsoft YaHei"/>
              </a:defRPr>
            </a:pPr>
            <a:r>
              <a:t>mature tRNA reference</a:t>
            </a:r>
          </a:p>
        </p:txBody>
      </p:sp>
      <p:sp>
        <p:nvSpPr>
          <p:cNvPr id="13" name="TextBox 12"/>
          <p:cNvSpPr txBox="1"/>
          <p:nvPr/>
        </p:nvSpPr>
        <p:spPr>
          <a:xfrm>
            <a:off x="5920739"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6016751"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71615" y="1408176"/>
            <a:ext cx="1566672" cy="256032"/>
          </a:xfrm>
          <a:prstGeom prst="rect">
            <a:avLst/>
          </a:prstGeom>
          <a:noFill/>
        </p:spPr>
        <p:txBody>
          <a:bodyPr wrap="none">
            <a:spAutoFit/>
          </a:bodyPr>
          <a:lstStyle/>
          <a:p>
            <a:pPr algn="ctr">
              <a:defRPr sz="840" b="1">
                <a:solidFill>
                  <a:srgbClr val="2D5D7B"/>
                </a:solidFill>
                <a:latin typeface="Microsoft YaHei"/>
              </a:defRPr>
            </a:pPr>
            <a:r>
              <a:t>multi-map assignment</a:t>
            </a:r>
          </a:p>
        </p:txBody>
      </p:sp>
      <p:sp>
        <p:nvSpPr>
          <p:cNvPr id="16" name="TextBox 15"/>
          <p:cNvSpPr txBox="1"/>
          <p:nvPr/>
        </p:nvSpPr>
        <p:spPr>
          <a:xfrm>
            <a:off x="7706867"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7802880"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57744" y="1408176"/>
            <a:ext cx="1566672" cy="256032"/>
          </a:xfrm>
          <a:prstGeom prst="rect">
            <a:avLst/>
          </a:prstGeom>
          <a:noFill/>
        </p:spPr>
        <p:txBody>
          <a:bodyPr wrap="none">
            <a:spAutoFit/>
          </a:bodyPr>
          <a:lstStyle/>
          <a:p>
            <a:pPr algn="ctr">
              <a:defRPr sz="840" b="1">
                <a:solidFill>
                  <a:srgbClr val="2D5D7B"/>
                </a:solidFill>
                <a:latin typeface="Microsoft YaHei"/>
              </a:defRPr>
            </a:pPr>
            <a:r>
              <a:t>normalization</a:t>
            </a:r>
          </a:p>
        </p:txBody>
      </p:sp>
      <p:sp>
        <p:nvSpPr>
          <p:cNvPr id="19" name="TextBox 18"/>
          <p:cNvSpPr txBox="1"/>
          <p:nvPr/>
        </p:nvSpPr>
        <p:spPr>
          <a:xfrm>
            <a:off x="9492996"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0" name="Rounded Rectangle 19"/>
          <p:cNvSpPr/>
          <p:nvPr/>
        </p:nvSpPr>
        <p:spPr>
          <a:xfrm>
            <a:off x="9589008"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3872" y="1408176"/>
            <a:ext cx="1566672" cy="256032"/>
          </a:xfrm>
          <a:prstGeom prst="rect">
            <a:avLst/>
          </a:prstGeom>
          <a:noFill/>
        </p:spPr>
        <p:txBody>
          <a:bodyPr wrap="none">
            <a:spAutoFit/>
          </a:bodyPr>
          <a:lstStyle/>
          <a:p>
            <a:pPr algn="ctr">
              <a:defRPr sz="840" b="1">
                <a:solidFill>
                  <a:srgbClr val="2D5D7B"/>
                </a:solidFill>
                <a:latin typeface="Microsoft YaHei"/>
              </a:defRPr>
            </a:pPr>
            <a:r>
              <a:t>DE testing</a:t>
            </a:r>
          </a:p>
        </p:txBody>
      </p:sp>
      <p:sp>
        <p:nvSpPr>
          <p:cNvPr id="22" name="Rounded Rectangle 21"/>
          <p:cNvSpPr/>
          <p:nvPr/>
        </p:nvSpPr>
        <p:spPr>
          <a:xfrm>
            <a:off x="713232" y="2267712"/>
            <a:ext cx="3291840" cy="246888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2395728"/>
            <a:ext cx="2962656" cy="237744"/>
          </a:xfrm>
          <a:prstGeom prst="rect">
            <a:avLst/>
          </a:prstGeom>
          <a:noFill/>
        </p:spPr>
        <p:txBody>
          <a:bodyPr wrap="square" anchor="t">
            <a:spAutoFit/>
          </a:bodyPr>
          <a:lstStyle/>
          <a:p>
            <a:pPr>
              <a:defRPr sz="1050" b="1">
                <a:solidFill>
                  <a:srgbClr val="2D5D7B"/>
                </a:solidFill>
                <a:latin typeface="Microsoft YaHei"/>
              </a:defRPr>
            </a:pPr>
            <a:r>
              <a:t>QuantM 的核心</a:t>
            </a:r>
          </a:p>
        </p:txBody>
      </p:sp>
      <p:sp>
        <p:nvSpPr>
          <p:cNvPr id="24" name="TextBox 23"/>
          <p:cNvSpPr txBox="1"/>
          <p:nvPr/>
        </p:nvSpPr>
        <p:spPr>
          <a:xfrm>
            <a:off x="877824" y="2706624"/>
            <a:ext cx="2962656" cy="1965960"/>
          </a:xfrm>
          <a:prstGeom prst="rect">
            <a:avLst/>
          </a:prstGeom>
          <a:noFill/>
        </p:spPr>
        <p:txBody>
          <a:bodyPr wrap="square">
            <a:spAutoFit/>
          </a:bodyPr>
          <a:lstStyle/>
          <a:p>
            <a:pPr>
              <a:spcAft>
                <a:spcPts val="400"/>
              </a:spcAft>
              <a:defRPr sz="919">
                <a:solidFill>
                  <a:srgbClr val="1F262E"/>
                </a:solidFill>
                <a:latin typeface="Microsoft YaHei"/>
              </a:defRPr>
            </a:pPr>
            <a:r>
              <a:t>优化成熟 tRNA 建库并评估组织间 tRNA 丰度。</a:t>
            </a:r>
          </a:p>
          <a:p>
            <a:pPr>
              <a:spcAft>
                <a:spcPts val="400"/>
              </a:spcAft>
              <a:defRPr sz="919">
                <a:solidFill>
                  <a:srgbClr val="1F262E"/>
                </a:solidFill>
                <a:latin typeface="Microsoft YaHei"/>
              </a:defRPr>
            </a:pPr>
            <a:r>
              <a:t>从 reads 层追踪 RT fall-off 和修饰相关偏差。</a:t>
            </a:r>
          </a:p>
          <a:p>
            <a:pPr>
              <a:spcAft>
                <a:spcPts val="400"/>
              </a:spcAft>
              <a:defRPr sz="919">
                <a:solidFill>
                  <a:srgbClr val="1F262E"/>
                </a:solidFill>
                <a:latin typeface="Microsoft YaHei"/>
              </a:defRPr>
            </a:pPr>
            <a:r>
              <a:t>比较 gene/isodecoder/anticodon 不同层级的表达。</a:t>
            </a:r>
          </a:p>
        </p:txBody>
      </p:sp>
      <p:sp>
        <p:nvSpPr>
          <p:cNvPr id="25" name="Rounded Rectangle 24"/>
          <p:cNvSpPr/>
          <p:nvPr/>
        </p:nvSpPr>
        <p:spPr>
          <a:xfrm>
            <a:off x="4462272" y="2267712"/>
            <a:ext cx="3291840" cy="246888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6864" y="2395728"/>
            <a:ext cx="2962656" cy="237744"/>
          </a:xfrm>
          <a:prstGeom prst="rect">
            <a:avLst/>
          </a:prstGeom>
          <a:noFill/>
        </p:spPr>
        <p:txBody>
          <a:bodyPr wrap="square" anchor="t">
            <a:spAutoFit/>
          </a:bodyPr>
          <a:lstStyle/>
          <a:p>
            <a:pPr>
              <a:defRPr sz="1050" b="1">
                <a:solidFill>
                  <a:srgbClr val="2D5D7B"/>
                </a:solidFill>
                <a:latin typeface="Microsoft YaHei"/>
              </a:defRPr>
            </a:pPr>
            <a:r>
              <a:t>mim 的核心</a:t>
            </a:r>
          </a:p>
        </p:txBody>
      </p:sp>
      <p:sp>
        <p:nvSpPr>
          <p:cNvPr id="27" name="TextBox 26"/>
          <p:cNvSpPr txBox="1"/>
          <p:nvPr/>
        </p:nvSpPr>
        <p:spPr>
          <a:xfrm>
            <a:off x="4626864" y="2706624"/>
            <a:ext cx="2962656" cy="1965960"/>
          </a:xfrm>
          <a:prstGeom prst="rect">
            <a:avLst/>
          </a:prstGeom>
          <a:noFill/>
        </p:spPr>
        <p:txBody>
          <a:bodyPr wrap="square">
            <a:spAutoFit/>
          </a:bodyPr>
          <a:lstStyle/>
          <a:p>
            <a:pPr>
              <a:spcAft>
                <a:spcPts val="400"/>
              </a:spcAft>
              <a:defRPr sz="919">
                <a:solidFill>
                  <a:srgbClr val="1F262E"/>
                </a:solidFill>
                <a:latin typeface="Microsoft YaHei"/>
              </a:defRPr>
            </a:pPr>
            <a:r>
              <a:t>把修饰诱导错配作为 site-level feature。</a:t>
            </a:r>
          </a:p>
          <a:p>
            <a:pPr>
              <a:spcAft>
                <a:spcPts val="400"/>
              </a:spcAft>
              <a:defRPr sz="919">
                <a:solidFill>
                  <a:srgbClr val="1F262E"/>
                </a:solidFill>
                <a:latin typeface="Microsoft YaHei"/>
              </a:defRPr>
            </a:pPr>
            <a:r>
              <a:t>同时估计 abundance 与 modification status。</a:t>
            </a:r>
          </a:p>
          <a:p>
            <a:pPr>
              <a:spcAft>
                <a:spcPts val="400"/>
              </a:spcAft>
              <a:defRPr sz="919">
                <a:solidFill>
                  <a:srgbClr val="1F262E"/>
                </a:solidFill>
                <a:latin typeface="Microsoft YaHei"/>
              </a:defRPr>
            </a:pPr>
            <a:r>
              <a:t>用分析工具包减少手工注释和错配统计。</a:t>
            </a:r>
          </a:p>
        </p:txBody>
      </p:sp>
      <p:sp>
        <p:nvSpPr>
          <p:cNvPr id="28" name="Rounded Rectangle 27"/>
          <p:cNvSpPr/>
          <p:nvPr/>
        </p:nvSpPr>
        <p:spPr>
          <a:xfrm>
            <a:off x="8211312" y="2267712"/>
            <a:ext cx="3291840" cy="246888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75904" y="2395728"/>
            <a:ext cx="2962656" cy="237744"/>
          </a:xfrm>
          <a:prstGeom prst="rect">
            <a:avLst/>
          </a:prstGeom>
          <a:noFill/>
        </p:spPr>
        <p:txBody>
          <a:bodyPr wrap="square" anchor="t">
            <a:spAutoFit/>
          </a:bodyPr>
          <a:lstStyle/>
          <a:p>
            <a:pPr>
              <a:defRPr sz="1050" b="1">
                <a:solidFill>
                  <a:srgbClr val="2D5D7B"/>
                </a:solidFill>
                <a:latin typeface="Microsoft YaHei"/>
              </a:defRPr>
            </a:pPr>
            <a:r>
              <a:t>差异分析要点</a:t>
            </a:r>
          </a:p>
        </p:txBody>
      </p:sp>
      <p:sp>
        <p:nvSpPr>
          <p:cNvPr id="30" name="TextBox 29"/>
          <p:cNvSpPr txBox="1"/>
          <p:nvPr/>
        </p:nvSpPr>
        <p:spPr>
          <a:xfrm>
            <a:off x="8375904" y="2706624"/>
            <a:ext cx="2962656" cy="1965960"/>
          </a:xfrm>
          <a:prstGeom prst="rect">
            <a:avLst/>
          </a:prstGeom>
          <a:noFill/>
        </p:spPr>
        <p:txBody>
          <a:bodyPr wrap="square">
            <a:spAutoFit/>
          </a:bodyPr>
          <a:lstStyle/>
          <a:p>
            <a:pPr>
              <a:spcAft>
                <a:spcPts val="400"/>
              </a:spcAft>
              <a:defRPr sz="919">
                <a:solidFill>
                  <a:srgbClr val="1F262E"/>
                </a:solidFill>
                <a:latin typeface="Microsoft YaHei"/>
              </a:defRPr>
            </a:pPr>
            <a:r>
              <a:t>abundance 用 NB/GLM，但必须处理多重比对。</a:t>
            </a:r>
          </a:p>
          <a:p>
            <a:pPr>
              <a:spcAft>
                <a:spcPts val="400"/>
              </a:spcAft>
              <a:defRPr sz="919">
                <a:solidFill>
                  <a:srgbClr val="1F262E"/>
                </a:solidFill>
                <a:latin typeface="Microsoft YaHei"/>
              </a:defRPr>
            </a:pPr>
            <a:r>
              <a:t>modification fraction 用比例模型，而非原始 read counts。</a:t>
            </a:r>
          </a:p>
          <a:p>
            <a:pPr>
              <a:spcAft>
                <a:spcPts val="400"/>
              </a:spcAft>
              <a:defRPr sz="919">
                <a:solidFill>
                  <a:srgbClr val="1F262E"/>
                </a:solidFill>
                <a:latin typeface="Microsoft YaHei"/>
              </a:defRPr>
            </a:pPr>
            <a:r>
              <a:t>最好保留 isotype、isodecoder、gene 三层输出。</a:t>
            </a:r>
          </a:p>
        </p:txBody>
      </p:sp>
      <p:sp>
        <p:nvSpPr>
          <p:cNvPr id="31" name="Rounded Rectangle 30"/>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短读长工具的关键是不要把 RT 停顿和多重比对造成的偏差误当作生物差异。</a:t>
            </a:r>
          </a:p>
        </p:txBody>
      </p:sp>
      <p:sp>
        <p:nvSpPr>
          <p:cNvPr id="33" name="TextBox 32"/>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32796835: Quantitative tRNA-sequencing uncovers metazoan tissue-specific tRNA regulation. | PMID 33581077: High-resolution quantitative profiling of tRNA abundance and modification status in eukaryotes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工具深挖三：mim 与 Induro 如何把 RT 异常变成修饰信号</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408176"/>
            <a:ext cx="1566672" cy="256032"/>
          </a:xfrm>
          <a:prstGeom prst="rect">
            <a:avLst/>
          </a:prstGeom>
          <a:noFill/>
        </p:spPr>
        <p:txBody>
          <a:bodyPr wrap="none">
            <a:spAutoFit/>
          </a:bodyPr>
          <a:lstStyle/>
          <a:p>
            <a:pPr algn="ctr">
              <a:defRPr sz="840" b="1">
                <a:solidFill>
                  <a:srgbClr val="587C5D"/>
                </a:solidFill>
                <a:latin typeface="Microsoft YaHei"/>
              </a:defRPr>
            </a:pPr>
            <a:r>
              <a:t>modified tRNA</a:t>
            </a:r>
          </a:p>
        </p:txBody>
      </p:sp>
      <p:sp>
        <p:nvSpPr>
          <p:cNvPr id="7" name="TextBox 6"/>
          <p:cNvSpPr txBox="1"/>
          <p:nvPr/>
        </p:nvSpPr>
        <p:spPr>
          <a:xfrm>
            <a:off x="2348484"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8" name="Rounded Rectangle 7"/>
          <p:cNvSpPr/>
          <p:nvPr/>
        </p:nvSpPr>
        <p:spPr>
          <a:xfrm>
            <a:off x="2444495"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99359" y="1408176"/>
            <a:ext cx="1566672" cy="256032"/>
          </a:xfrm>
          <a:prstGeom prst="rect">
            <a:avLst/>
          </a:prstGeom>
          <a:noFill/>
        </p:spPr>
        <p:txBody>
          <a:bodyPr wrap="none">
            <a:spAutoFit/>
          </a:bodyPr>
          <a:lstStyle/>
          <a:p>
            <a:pPr algn="ctr">
              <a:defRPr sz="840" b="1">
                <a:solidFill>
                  <a:srgbClr val="587C5D"/>
                </a:solidFill>
                <a:latin typeface="Microsoft YaHei"/>
              </a:defRPr>
            </a:pPr>
            <a:r>
              <a:t>RT enzyme behavior</a:t>
            </a:r>
          </a:p>
        </p:txBody>
      </p:sp>
      <p:sp>
        <p:nvSpPr>
          <p:cNvPr id="10" name="TextBox 9"/>
          <p:cNvSpPr txBox="1"/>
          <p:nvPr/>
        </p:nvSpPr>
        <p:spPr>
          <a:xfrm>
            <a:off x="4134611"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4230623"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5487" y="1408176"/>
            <a:ext cx="1566672" cy="256032"/>
          </a:xfrm>
          <a:prstGeom prst="rect">
            <a:avLst/>
          </a:prstGeom>
          <a:noFill/>
        </p:spPr>
        <p:txBody>
          <a:bodyPr wrap="none">
            <a:spAutoFit/>
          </a:bodyPr>
          <a:lstStyle/>
          <a:p>
            <a:pPr algn="ctr">
              <a:defRPr sz="840" b="1">
                <a:solidFill>
                  <a:srgbClr val="587C5D"/>
                </a:solidFill>
                <a:latin typeface="Microsoft YaHei"/>
              </a:defRPr>
            </a:pPr>
            <a:r>
              <a:t>stop/readthrough</a:t>
            </a:r>
          </a:p>
        </p:txBody>
      </p:sp>
      <p:sp>
        <p:nvSpPr>
          <p:cNvPr id="13" name="TextBox 12"/>
          <p:cNvSpPr txBox="1"/>
          <p:nvPr/>
        </p:nvSpPr>
        <p:spPr>
          <a:xfrm>
            <a:off x="5920739"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6016751"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71615" y="1408176"/>
            <a:ext cx="1566672" cy="256032"/>
          </a:xfrm>
          <a:prstGeom prst="rect">
            <a:avLst/>
          </a:prstGeom>
          <a:noFill/>
        </p:spPr>
        <p:txBody>
          <a:bodyPr wrap="none">
            <a:spAutoFit/>
          </a:bodyPr>
          <a:lstStyle/>
          <a:p>
            <a:pPr algn="ctr">
              <a:defRPr sz="840" b="1">
                <a:solidFill>
                  <a:srgbClr val="587C5D"/>
                </a:solidFill>
                <a:latin typeface="Microsoft YaHei"/>
              </a:defRPr>
            </a:pPr>
            <a:r>
              <a:t>misincorporation matrix</a:t>
            </a:r>
          </a:p>
        </p:txBody>
      </p:sp>
      <p:sp>
        <p:nvSpPr>
          <p:cNvPr id="16" name="TextBox 15"/>
          <p:cNvSpPr txBox="1"/>
          <p:nvPr/>
        </p:nvSpPr>
        <p:spPr>
          <a:xfrm>
            <a:off x="7706867"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7802880"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57744" y="1408176"/>
            <a:ext cx="1566672" cy="256032"/>
          </a:xfrm>
          <a:prstGeom prst="rect">
            <a:avLst/>
          </a:prstGeom>
          <a:noFill/>
        </p:spPr>
        <p:txBody>
          <a:bodyPr wrap="none">
            <a:spAutoFit/>
          </a:bodyPr>
          <a:lstStyle/>
          <a:p>
            <a:pPr algn="ctr">
              <a:defRPr sz="840" b="1">
                <a:solidFill>
                  <a:srgbClr val="587C5D"/>
                </a:solidFill>
                <a:latin typeface="Microsoft YaHei"/>
              </a:defRPr>
            </a:pPr>
            <a:r>
              <a:t>site signature</a:t>
            </a:r>
          </a:p>
        </p:txBody>
      </p:sp>
      <p:sp>
        <p:nvSpPr>
          <p:cNvPr id="19" name="TextBox 18"/>
          <p:cNvSpPr txBox="1"/>
          <p:nvPr/>
        </p:nvSpPr>
        <p:spPr>
          <a:xfrm>
            <a:off x="9492996"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0" name="Rounded Rectangle 19"/>
          <p:cNvSpPr/>
          <p:nvPr/>
        </p:nvSpPr>
        <p:spPr>
          <a:xfrm>
            <a:off x="9589008"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3872" y="1408176"/>
            <a:ext cx="1566672" cy="256032"/>
          </a:xfrm>
          <a:prstGeom prst="rect">
            <a:avLst/>
          </a:prstGeom>
          <a:noFill/>
        </p:spPr>
        <p:txBody>
          <a:bodyPr wrap="none">
            <a:spAutoFit/>
          </a:bodyPr>
          <a:lstStyle/>
          <a:p>
            <a:pPr algn="ctr">
              <a:defRPr sz="840" b="1">
                <a:solidFill>
                  <a:srgbClr val="587C5D"/>
                </a:solidFill>
                <a:latin typeface="Microsoft YaHei"/>
              </a:defRPr>
            </a:pPr>
            <a:r>
              <a:t>modification inference</a:t>
            </a:r>
          </a:p>
        </p:txBody>
      </p:sp>
      <p:sp>
        <p:nvSpPr>
          <p:cNvPr id="22" name="Rounded Rectangle 21"/>
          <p:cNvSpPr/>
          <p:nvPr/>
        </p:nvSpPr>
        <p:spPr>
          <a:xfrm>
            <a:off x="713232" y="2267712"/>
            <a:ext cx="3291840" cy="265176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2395728"/>
            <a:ext cx="2962656" cy="237744"/>
          </a:xfrm>
          <a:prstGeom prst="rect">
            <a:avLst/>
          </a:prstGeom>
          <a:noFill/>
        </p:spPr>
        <p:txBody>
          <a:bodyPr wrap="square" anchor="t">
            <a:spAutoFit/>
          </a:bodyPr>
          <a:lstStyle/>
          <a:p>
            <a:pPr>
              <a:defRPr sz="1050" b="1">
                <a:solidFill>
                  <a:srgbClr val="2D5D7B"/>
                </a:solidFill>
                <a:latin typeface="Microsoft YaHei"/>
              </a:defRPr>
            </a:pPr>
            <a:r>
              <a:t>mim-tRNAseq</a:t>
            </a:r>
          </a:p>
        </p:txBody>
      </p:sp>
      <p:sp>
        <p:nvSpPr>
          <p:cNvPr id="24" name="TextBox 23"/>
          <p:cNvSpPr txBox="1"/>
          <p:nvPr/>
        </p:nvSpPr>
        <p:spPr>
          <a:xfrm>
            <a:off x="877824" y="2706624"/>
            <a:ext cx="2962656" cy="2148839"/>
          </a:xfrm>
          <a:prstGeom prst="rect">
            <a:avLst/>
          </a:prstGeom>
          <a:noFill/>
        </p:spPr>
        <p:txBody>
          <a:bodyPr wrap="square">
            <a:spAutoFit/>
          </a:bodyPr>
          <a:lstStyle/>
          <a:p>
            <a:pPr>
              <a:spcAft>
                <a:spcPts val="400"/>
              </a:spcAft>
              <a:defRPr sz="919">
                <a:solidFill>
                  <a:srgbClr val="1F262E"/>
                </a:solidFill>
                <a:latin typeface="Microsoft YaHei"/>
              </a:defRPr>
            </a:pPr>
            <a:r>
              <a:t>观察 RT 过程中稳定出现的 misincorporation。</a:t>
            </a:r>
          </a:p>
          <a:p>
            <a:pPr>
              <a:spcAft>
                <a:spcPts val="400"/>
              </a:spcAft>
              <a:defRPr sz="919">
                <a:solidFill>
                  <a:srgbClr val="1F262E"/>
                </a:solidFill>
                <a:latin typeface="Microsoft YaHei"/>
              </a:defRPr>
            </a:pPr>
            <a:r>
              <a:t>适合细胞系/物种间的相对修饰状态比较。</a:t>
            </a:r>
          </a:p>
          <a:p>
            <a:pPr>
              <a:spcAft>
                <a:spcPts val="400"/>
              </a:spcAft>
              <a:defRPr sz="919">
                <a:solidFill>
                  <a:srgbClr val="1F262E"/>
                </a:solidFill>
                <a:latin typeface="Microsoft YaHei"/>
              </a:defRPr>
            </a:pPr>
            <a:r>
              <a:t>依赖已知修饰指纹和高质量参考。</a:t>
            </a:r>
          </a:p>
        </p:txBody>
      </p:sp>
      <p:sp>
        <p:nvSpPr>
          <p:cNvPr id="25" name="Rounded Rectangle 24"/>
          <p:cNvSpPr/>
          <p:nvPr/>
        </p:nvSpPr>
        <p:spPr>
          <a:xfrm>
            <a:off x="4462272" y="2267712"/>
            <a:ext cx="3291840" cy="265176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6864" y="2395728"/>
            <a:ext cx="2962656" cy="237744"/>
          </a:xfrm>
          <a:prstGeom prst="rect">
            <a:avLst/>
          </a:prstGeom>
          <a:noFill/>
        </p:spPr>
        <p:txBody>
          <a:bodyPr wrap="square" anchor="t">
            <a:spAutoFit/>
          </a:bodyPr>
          <a:lstStyle/>
          <a:p>
            <a:pPr>
              <a:defRPr sz="1050" b="1">
                <a:solidFill>
                  <a:srgbClr val="2D5D7B"/>
                </a:solidFill>
                <a:latin typeface="Microsoft YaHei"/>
              </a:defRPr>
            </a:pPr>
            <a:r>
              <a:t>Induro-tRNAseq</a:t>
            </a:r>
          </a:p>
        </p:txBody>
      </p:sp>
      <p:sp>
        <p:nvSpPr>
          <p:cNvPr id="27" name="TextBox 26"/>
          <p:cNvSpPr txBox="1"/>
          <p:nvPr/>
        </p:nvSpPr>
        <p:spPr>
          <a:xfrm>
            <a:off x="4626864" y="2706624"/>
            <a:ext cx="2962656" cy="2148839"/>
          </a:xfrm>
          <a:prstGeom prst="rect">
            <a:avLst/>
          </a:prstGeom>
          <a:noFill/>
        </p:spPr>
        <p:txBody>
          <a:bodyPr wrap="square">
            <a:spAutoFit/>
          </a:bodyPr>
          <a:lstStyle/>
          <a:p>
            <a:pPr>
              <a:spcAft>
                <a:spcPts val="400"/>
              </a:spcAft>
              <a:defRPr sz="919">
                <a:solidFill>
                  <a:srgbClr val="1F262E"/>
                </a:solidFill>
                <a:latin typeface="Microsoft YaHei"/>
              </a:defRPr>
            </a:pPr>
            <a:r>
              <a:t>使用 readthrough 更强的 Induro RT。</a:t>
            </a:r>
          </a:p>
          <a:p>
            <a:pPr>
              <a:spcAft>
                <a:spcPts val="400"/>
              </a:spcAft>
              <a:defRPr sz="919">
                <a:solidFill>
                  <a:srgbClr val="1F262E"/>
                </a:solidFill>
                <a:latin typeface="Microsoft YaHei"/>
              </a:defRPr>
            </a:pPr>
            <a:r>
              <a:t>通过时间梯度与对照 RT 比较区分停顿和错配。</a:t>
            </a:r>
          </a:p>
          <a:p>
            <a:pPr>
              <a:spcAft>
                <a:spcPts val="400"/>
              </a:spcAft>
              <a:defRPr sz="919">
                <a:solidFill>
                  <a:srgbClr val="1F262E"/>
                </a:solidFill>
                <a:latin typeface="Microsoft YaHei"/>
              </a:defRPr>
            </a:pPr>
            <a:r>
              <a:t>适合从全基因组角度看 coordinated changes。</a:t>
            </a:r>
          </a:p>
        </p:txBody>
      </p:sp>
      <p:sp>
        <p:nvSpPr>
          <p:cNvPr id="28" name="Rounded Rectangle 27"/>
          <p:cNvSpPr/>
          <p:nvPr/>
        </p:nvSpPr>
        <p:spPr>
          <a:xfrm>
            <a:off x="8211312" y="2267712"/>
            <a:ext cx="3291840" cy="265176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75904" y="2395728"/>
            <a:ext cx="2962656" cy="237744"/>
          </a:xfrm>
          <a:prstGeom prst="rect">
            <a:avLst/>
          </a:prstGeom>
          <a:noFill/>
        </p:spPr>
        <p:txBody>
          <a:bodyPr wrap="square" anchor="t">
            <a:spAutoFit/>
          </a:bodyPr>
          <a:lstStyle/>
          <a:p>
            <a:pPr>
              <a:defRPr sz="1050" b="1">
                <a:solidFill>
                  <a:srgbClr val="2D5D7B"/>
                </a:solidFill>
                <a:latin typeface="Microsoft YaHei"/>
              </a:defRPr>
            </a:pPr>
            <a:r>
              <a:t>联合 caller</a:t>
            </a:r>
          </a:p>
        </p:txBody>
      </p:sp>
      <p:sp>
        <p:nvSpPr>
          <p:cNvPr id="30" name="TextBox 29"/>
          <p:cNvSpPr txBox="1"/>
          <p:nvPr/>
        </p:nvSpPr>
        <p:spPr>
          <a:xfrm>
            <a:off x="8375904" y="2706624"/>
            <a:ext cx="2962656" cy="2148839"/>
          </a:xfrm>
          <a:prstGeom prst="rect">
            <a:avLst/>
          </a:prstGeom>
          <a:noFill/>
        </p:spPr>
        <p:txBody>
          <a:bodyPr wrap="square">
            <a:spAutoFit/>
          </a:bodyPr>
          <a:lstStyle/>
          <a:p>
            <a:pPr>
              <a:spcAft>
                <a:spcPts val="400"/>
              </a:spcAft>
              <a:defRPr sz="919">
                <a:solidFill>
                  <a:srgbClr val="1F262E"/>
                </a:solidFill>
                <a:latin typeface="Microsoft YaHei"/>
              </a:defRPr>
            </a:pPr>
            <a:r>
              <a:t>把 stop、mismatch、coverage drop 分开建模。</a:t>
            </a:r>
          </a:p>
          <a:p>
            <a:pPr>
              <a:spcAft>
                <a:spcPts val="400"/>
              </a:spcAft>
              <a:defRPr sz="919">
                <a:solidFill>
                  <a:srgbClr val="1F262E"/>
                </a:solidFill>
                <a:latin typeface="Microsoft YaHei"/>
              </a:defRPr>
            </a:pPr>
            <a:r>
              <a:t>用 knockout/标准品训练 modification probability。</a:t>
            </a:r>
          </a:p>
          <a:p>
            <a:pPr>
              <a:spcAft>
                <a:spcPts val="400"/>
              </a:spcAft>
              <a:defRPr sz="919">
                <a:solidFill>
                  <a:srgbClr val="1F262E"/>
                </a:solidFill>
                <a:latin typeface="Microsoft YaHei"/>
              </a:defRPr>
            </a:pPr>
            <a:r>
              <a:t>输出低置信位点，避免过度解释。</a:t>
            </a:r>
          </a:p>
        </p:txBody>
      </p:sp>
      <p:sp>
        <p:nvSpPr>
          <p:cNvPr id="31" name="Rounded Rectangle 30"/>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RT 异常既是技术障碍，也是 tRNA 修饰测序最重要的可观测变量。</a:t>
            </a:r>
          </a:p>
        </p:txBody>
      </p:sp>
      <p:sp>
        <p:nvSpPr>
          <p:cNvPr id="33" name="TextBox 32"/>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33581077: High-resolution quantitative profiling of tRNA abundance and modification status in eukaryotes by mim-tRNAseq. | PMID 39865096: Genome-wide profiling of tRNA modifications by Induro-tRNAseq 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工具深挖四：纳米孔 tRNA 工具的 raw-signal 路线</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408176"/>
            <a:ext cx="1566672" cy="256032"/>
          </a:xfrm>
          <a:prstGeom prst="rect">
            <a:avLst/>
          </a:prstGeom>
          <a:noFill/>
        </p:spPr>
        <p:txBody>
          <a:bodyPr wrap="none">
            <a:spAutoFit/>
          </a:bodyPr>
          <a:lstStyle/>
          <a:p>
            <a:pPr algn="ctr">
              <a:defRPr sz="840" b="1">
                <a:solidFill>
                  <a:srgbClr val="587C5D"/>
                </a:solidFill>
                <a:latin typeface="Microsoft YaHei"/>
              </a:defRPr>
            </a:pPr>
            <a:r>
              <a:t>native/ligated tRNA</a:t>
            </a:r>
          </a:p>
        </p:txBody>
      </p:sp>
      <p:sp>
        <p:nvSpPr>
          <p:cNvPr id="7" name="TextBox 6"/>
          <p:cNvSpPr txBox="1"/>
          <p:nvPr/>
        </p:nvSpPr>
        <p:spPr>
          <a:xfrm>
            <a:off x="2348484"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8" name="Rounded Rectangle 7"/>
          <p:cNvSpPr/>
          <p:nvPr/>
        </p:nvSpPr>
        <p:spPr>
          <a:xfrm>
            <a:off x="2444495"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99359" y="1408176"/>
            <a:ext cx="1566672" cy="256032"/>
          </a:xfrm>
          <a:prstGeom prst="rect">
            <a:avLst/>
          </a:prstGeom>
          <a:noFill/>
        </p:spPr>
        <p:txBody>
          <a:bodyPr wrap="none">
            <a:spAutoFit/>
          </a:bodyPr>
          <a:lstStyle/>
          <a:p>
            <a:pPr algn="ctr">
              <a:defRPr sz="840" b="1">
                <a:solidFill>
                  <a:srgbClr val="587C5D"/>
                </a:solidFill>
                <a:latin typeface="Microsoft YaHei"/>
              </a:defRPr>
            </a:pPr>
            <a:r>
              <a:t>nanopore current</a:t>
            </a:r>
          </a:p>
        </p:txBody>
      </p:sp>
      <p:sp>
        <p:nvSpPr>
          <p:cNvPr id="10" name="TextBox 9"/>
          <p:cNvSpPr txBox="1"/>
          <p:nvPr/>
        </p:nvSpPr>
        <p:spPr>
          <a:xfrm>
            <a:off x="4134611"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4230623"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5487" y="1408176"/>
            <a:ext cx="1566672" cy="256032"/>
          </a:xfrm>
          <a:prstGeom prst="rect">
            <a:avLst/>
          </a:prstGeom>
          <a:noFill/>
        </p:spPr>
        <p:txBody>
          <a:bodyPr wrap="none">
            <a:spAutoFit/>
          </a:bodyPr>
          <a:lstStyle/>
          <a:p>
            <a:pPr algn="ctr">
              <a:defRPr sz="840" b="1">
                <a:solidFill>
                  <a:srgbClr val="587C5D"/>
                </a:solidFill>
                <a:latin typeface="Microsoft YaHei"/>
              </a:defRPr>
            </a:pPr>
            <a:r>
              <a:t>read recovery</a:t>
            </a:r>
          </a:p>
        </p:txBody>
      </p:sp>
      <p:sp>
        <p:nvSpPr>
          <p:cNvPr id="13" name="TextBox 12"/>
          <p:cNvSpPr txBox="1"/>
          <p:nvPr/>
        </p:nvSpPr>
        <p:spPr>
          <a:xfrm>
            <a:off x="5920739"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6016751"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71615" y="1408176"/>
            <a:ext cx="1566672" cy="256032"/>
          </a:xfrm>
          <a:prstGeom prst="rect">
            <a:avLst/>
          </a:prstGeom>
          <a:noFill/>
        </p:spPr>
        <p:txBody>
          <a:bodyPr wrap="none">
            <a:spAutoFit/>
          </a:bodyPr>
          <a:lstStyle/>
          <a:p>
            <a:pPr algn="ctr">
              <a:defRPr sz="840" b="1">
                <a:solidFill>
                  <a:srgbClr val="587C5D"/>
                </a:solidFill>
                <a:latin typeface="Microsoft YaHei"/>
              </a:defRPr>
            </a:pPr>
            <a:r>
              <a:t>event features</a:t>
            </a:r>
          </a:p>
        </p:txBody>
      </p:sp>
      <p:sp>
        <p:nvSpPr>
          <p:cNvPr id="16" name="TextBox 15"/>
          <p:cNvSpPr txBox="1"/>
          <p:nvPr/>
        </p:nvSpPr>
        <p:spPr>
          <a:xfrm>
            <a:off x="7706867"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7802880"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57744" y="1408176"/>
            <a:ext cx="1566672" cy="256032"/>
          </a:xfrm>
          <a:prstGeom prst="rect">
            <a:avLst/>
          </a:prstGeom>
          <a:noFill/>
        </p:spPr>
        <p:txBody>
          <a:bodyPr wrap="none">
            <a:spAutoFit/>
          </a:bodyPr>
          <a:lstStyle/>
          <a:p>
            <a:pPr algn="ctr">
              <a:defRPr sz="840" b="1">
                <a:solidFill>
                  <a:srgbClr val="587C5D"/>
                </a:solidFill>
                <a:latin typeface="Microsoft YaHei"/>
              </a:defRPr>
            </a:pPr>
            <a:r>
              <a:t>mapping</a:t>
            </a:r>
          </a:p>
        </p:txBody>
      </p:sp>
      <p:sp>
        <p:nvSpPr>
          <p:cNvPr id="19" name="TextBox 18"/>
          <p:cNvSpPr txBox="1"/>
          <p:nvPr/>
        </p:nvSpPr>
        <p:spPr>
          <a:xfrm>
            <a:off x="9492996"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0" name="Rounded Rectangle 19"/>
          <p:cNvSpPr/>
          <p:nvPr/>
        </p:nvSpPr>
        <p:spPr>
          <a:xfrm>
            <a:off x="9589008" y="1298448"/>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3872" y="1408176"/>
            <a:ext cx="1566672" cy="256032"/>
          </a:xfrm>
          <a:prstGeom prst="rect">
            <a:avLst/>
          </a:prstGeom>
          <a:noFill/>
        </p:spPr>
        <p:txBody>
          <a:bodyPr wrap="none">
            <a:spAutoFit/>
          </a:bodyPr>
          <a:lstStyle/>
          <a:p>
            <a:pPr algn="ctr">
              <a:defRPr sz="840" b="1">
                <a:solidFill>
                  <a:srgbClr val="587C5D"/>
                </a:solidFill>
                <a:latin typeface="Microsoft YaHei"/>
              </a:defRPr>
            </a:pPr>
            <a:r>
              <a:t>mod/charging inference</a:t>
            </a:r>
          </a:p>
        </p:txBody>
      </p:sp>
      <p:sp>
        <p:nvSpPr>
          <p:cNvPr id="22" name="Rounded Rectangle 21"/>
          <p:cNvSpPr/>
          <p:nvPr/>
        </p:nvSpPr>
        <p:spPr>
          <a:xfrm>
            <a:off x="713232" y="2267712"/>
            <a:ext cx="3291840" cy="265176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2395728"/>
            <a:ext cx="2962656" cy="237744"/>
          </a:xfrm>
          <a:prstGeom prst="rect">
            <a:avLst/>
          </a:prstGeom>
          <a:noFill/>
        </p:spPr>
        <p:txBody>
          <a:bodyPr wrap="square" anchor="t">
            <a:spAutoFit/>
          </a:bodyPr>
          <a:lstStyle/>
          <a:p>
            <a:pPr>
              <a:defRPr sz="1050" b="1">
                <a:solidFill>
                  <a:srgbClr val="2D5D7B"/>
                </a:solidFill>
                <a:latin typeface="Microsoft YaHei"/>
              </a:defRPr>
            </a:pPr>
            <a:r>
              <a:t>Nano-tRNAseq</a:t>
            </a:r>
          </a:p>
        </p:txBody>
      </p:sp>
      <p:sp>
        <p:nvSpPr>
          <p:cNvPr id="24" name="TextBox 23"/>
          <p:cNvSpPr txBox="1"/>
          <p:nvPr/>
        </p:nvSpPr>
        <p:spPr>
          <a:xfrm>
            <a:off x="877824" y="2706624"/>
            <a:ext cx="2962656" cy="2148839"/>
          </a:xfrm>
          <a:prstGeom prst="rect">
            <a:avLst/>
          </a:prstGeom>
          <a:noFill/>
        </p:spPr>
        <p:txBody>
          <a:bodyPr wrap="square">
            <a:spAutoFit/>
          </a:bodyPr>
          <a:lstStyle/>
          <a:p>
            <a:pPr>
              <a:spcAft>
                <a:spcPts val="400"/>
              </a:spcAft>
              <a:defRPr sz="919">
                <a:solidFill>
                  <a:srgbClr val="1F262E"/>
                </a:solidFill>
                <a:latin typeface="Microsoft YaHei"/>
              </a:defRPr>
            </a:pPr>
            <a:r>
              <a:t>核心改动不是单纯测序，而是重处理 raw signal。</a:t>
            </a:r>
          </a:p>
          <a:p>
            <a:pPr>
              <a:spcAft>
                <a:spcPts val="400"/>
              </a:spcAft>
              <a:defRPr sz="919">
                <a:solidFill>
                  <a:srgbClr val="1F262E"/>
                </a:solidFill>
                <a:latin typeface="Microsoft YaHei"/>
              </a:defRPr>
            </a:pPr>
            <a:r>
              <a:t>恢复默认流程会丢掉的短 tRNA reads。</a:t>
            </a:r>
          </a:p>
          <a:p>
            <a:pPr>
              <a:spcAft>
                <a:spcPts val="400"/>
              </a:spcAft>
              <a:defRPr sz="919">
                <a:solidFill>
                  <a:srgbClr val="1F262E"/>
                </a:solidFill>
                <a:latin typeface="Microsoft YaHei"/>
              </a:defRPr>
            </a:pPr>
            <a:r>
              <a:t>同时观察 abundance 与 modification dynamics。</a:t>
            </a:r>
          </a:p>
        </p:txBody>
      </p:sp>
      <p:sp>
        <p:nvSpPr>
          <p:cNvPr id="25" name="Rounded Rectangle 24"/>
          <p:cNvSpPr/>
          <p:nvPr/>
        </p:nvSpPr>
        <p:spPr>
          <a:xfrm>
            <a:off x="4462272" y="2267712"/>
            <a:ext cx="3291840" cy="265176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6864" y="2395728"/>
            <a:ext cx="2962656" cy="237744"/>
          </a:xfrm>
          <a:prstGeom prst="rect">
            <a:avLst/>
          </a:prstGeom>
          <a:noFill/>
        </p:spPr>
        <p:txBody>
          <a:bodyPr wrap="square" anchor="t">
            <a:spAutoFit/>
          </a:bodyPr>
          <a:lstStyle/>
          <a:p>
            <a:pPr>
              <a:defRPr sz="1050" b="1">
                <a:solidFill>
                  <a:srgbClr val="2D5D7B"/>
                </a:solidFill>
                <a:latin typeface="Microsoft YaHei"/>
              </a:defRPr>
            </a:pPr>
            <a:r>
              <a:t>aa-tRNA-seq</a:t>
            </a:r>
          </a:p>
        </p:txBody>
      </p:sp>
      <p:sp>
        <p:nvSpPr>
          <p:cNvPr id="27" name="TextBox 26"/>
          <p:cNvSpPr txBox="1"/>
          <p:nvPr/>
        </p:nvSpPr>
        <p:spPr>
          <a:xfrm>
            <a:off x="4626864" y="2706624"/>
            <a:ext cx="2962656" cy="2148839"/>
          </a:xfrm>
          <a:prstGeom prst="rect">
            <a:avLst/>
          </a:prstGeom>
          <a:noFill/>
        </p:spPr>
        <p:txBody>
          <a:bodyPr wrap="square">
            <a:spAutoFit/>
          </a:bodyPr>
          <a:lstStyle/>
          <a:p>
            <a:pPr>
              <a:spcAft>
                <a:spcPts val="400"/>
              </a:spcAft>
              <a:defRPr sz="919">
                <a:solidFill>
                  <a:srgbClr val="1F262E"/>
                </a:solidFill>
                <a:latin typeface="Microsoft YaHei"/>
              </a:defRPr>
            </a:pPr>
            <a:r>
              <a:t>化学连接把 amino acid identity 转为可读信号扰动。</a:t>
            </a:r>
          </a:p>
          <a:p>
            <a:pPr>
              <a:spcAft>
                <a:spcPts val="400"/>
              </a:spcAft>
              <a:defRPr sz="919">
                <a:solidFill>
                  <a:srgbClr val="1F262E"/>
                </a:solidFill>
                <a:latin typeface="Microsoft YaHei"/>
              </a:defRPr>
            </a:pPr>
            <a:r>
              <a:t>用机器学习识别单分子携带的氨基酸。</a:t>
            </a:r>
          </a:p>
          <a:p>
            <a:pPr>
              <a:spcAft>
                <a:spcPts val="400"/>
              </a:spcAft>
              <a:defRPr sz="919">
                <a:solidFill>
                  <a:srgbClr val="1F262E"/>
                </a:solidFill>
                <a:latin typeface="Microsoft YaHei"/>
              </a:defRPr>
            </a:pPr>
            <a:r>
              <a:t>适合 charging fidelity 和 hypomodification 后果。</a:t>
            </a:r>
          </a:p>
        </p:txBody>
      </p:sp>
      <p:sp>
        <p:nvSpPr>
          <p:cNvPr id="28" name="Rounded Rectangle 27"/>
          <p:cNvSpPr/>
          <p:nvPr/>
        </p:nvSpPr>
        <p:spPr>
          <a:xfrm>
            <a:off x="8211312" y="2267712"/>
            <a:ext cx="3291840" cy="265176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75904" y="2395728"/>
            <a:ext cx="2962656" cy="237744"/>
          </a:xfrm>
          <a:prstGeom prst="rect">
            <a:avLst/>
          </a:prstGeom>
          <a:noFill/>
        </p:spPr>
        <p:txBody>
          <a:bodyPr wrap="square" anchor="t">
            <a:spAutoFit/>
          </a:bodyPr>
          <a:lstStyle/>
          <a:p>
            <a:pPr>
              <a:defRPr sz="1050" b="1">
                <a:solidFill>
                  <a:srgbClr val="2D5D7B"/>
                </a:solidFill>
                <a:latin typeface="Microsoft YaHei"/>
              </a:defRPr>
            </a:pPr>
            <a:r>
              <a:t>算法瓶颈</a:t>
            </a:r>
          </a:p>
        </p:txBody>
      </p:sp>
      <p:sp>
        <p:nvSpPr>
          <p:cNvPr id="30" name="TextBox 29"/>
          <p:cNvSpPr txBox="1"/>
          <p:nvPr/>
        </p:nvSpPr>
        <p:spPr>
          <a:xfrm>
            <a:off x="8375904" y="2706624"/>
            <a:ext cx="2962656" cy="2148839"/>
          </a:xfrm>
          <a:prstGeom prst="rect">
            <a:avLst/>
          </a:prstGeom>
          <a:noFill/>
        </p:spPr>
        <p:txBody>
          <a:bodyPr wrap="square">
            <a:spAutoFit/>
          </a:bodyPr>
          <a:lstStyle/>
          <a:p>
            <a:pPr>
              <a:spcAft>
                <a:spcPts val="400"/>
              </a:spcAft>
              <a:defRPr sz="919">
                <a:solidFill>
                  <a:srgbClr val="1F262E"/>
                </a:solidFill>
                <a:latin typeface="Microsoft YaHei"/>
              </a:defRPr>
            </a:pPr>
            <a:r>
              <a:t>短 RNA basecalling 训练域不足。</a:t>
            </a:r>
          </a:p>
          <a:p>
            <a:pPr>
              <a:spcAft>
                <a:spcPts val="400"/>
              </a:spcAft>
              <a:defRPr sz="919">
                <a:solidFill>
                  <a:srgbClr val="1F262E"/>
                </a:solidFill>
                <a:latin typeface="Microsoft YaHei"/>
              </a:defRPr>
            </a:pPr>
            <a:r>
              <a:t>修饰与氨酰化信号可能互相混杂。</a:t>
            </a:r>
          </a:p>
          <a:p>
            <a:pPr>
              <a:spcAft>
                <a:spcPts val="400"/>
              </a:spcAft>
              <a:defRPr sz="919">
                <a:solidFill>
                  <a:srgbClr val="1F262E"/>
                </a:solidFill>
                <a:latin typeface="Microsoft YaHei"/>
              </a:defRPr>
            </a:pPr>
            <a:r>
              <a:t>需要 read-level calibration、置信区间和独立验证。</a:t>
            </a:r>
          </a:p>
        </p:txBody>
      </p:sp>
      <p:sp>
        <p:nvSpPr>
          <p:cNvPr id="31" name="Rounded Rectangle 30"/>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纳米孔路线的优势在单分子整合读出；风险在于 signal model 的可解释性和训练集泛化。</a:t>
            </a:r>
          </a:p>
        </p:txBody>
      </p:sp>
      <p:sp>
        <p:nvSpPr>
          <p:cNvPr id="33" name="TextBox 32"/>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37024678: Quantitative analysis of tRNA abundance and modifications by nanopore RNA sequencing. | PMID 40835813: Nanopore sequencing of intact aminoacylated tRNAs.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工具深挖五：结构/互作分析不能只看二级结构预测</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408176"/>
            <a:ext cx="1566672" cy="256032"/>
          </a:xfrm>
          <a:prstGeom prst="rect">
            <a:avLst/>
          </a:prstGeom>
          <a:noFill/>
        </p:spPr>
        <p:txBody>
          <a:bodyPr wrap="none">
            <a:spAutoFit/>
          </a:bodyPr>
          <a:lstStyle/>
          <a:p>
            <a:pPr algn="ctr">
              <a:defRPr sz="840" b="1">
                <a:solidFill>
                  <a:srgbClr val="2D5D7B"/>
                </a:solidFill>
                <a:latin typeface="Microsoft YaHei"/>
              </a:defRPr>
            </a:pPr>
            <a:r>
              <a:t>in vivo DMS</a:t>
            </a:r>
          </a:p>
        </p:txBody>
      </p:sp>
      <p:sp>
        <p:nvSpPr>
          <p:cNvPr id="7" name="TextBox 6"/>
          <p:cNvSpPr txBox="1"/>
          <p:nvPr/>
        </p:nvSpPr>
        <p:spPr>
          <a:xfrm>
            <a:off x="2348484"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8" name="Rounded Rectangle 7"/>
          <p:cNvSpPr/>
          <p:nvPr/>
        </p:nvSpPr>
        <p:spPr>
          <a:xfrm>
            <a:off x="2444495"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99359" y="1408176"/>
            <a:ext cx="1566672" cy="256032"/>
          </a:xfrm>
          <a:prstGeom prst="rect">
            <a:avLst/>
          </a:prstGeom>
          <a:noFill/>
        </p:spPr>
        <p:txBody>
          <a:bodyPr wrap="none">
            <a:spAutoFit/>
          </a:bodyPr>
          <a:lstStyle/>
          <a:p>
            <a:pPr algn="ctr">
              <a:defRPr sz="840" b="1">
                <a:solidFill>
                  <a:srgbClr val="2D5D7B"/>
                </a:solidFill>
                <a:latin typeface="Microsoft YaHei"/>
              </a:defRPr>
            </a:pPr>
            <a:r>
              <a:t>demethylase treatment</a:t>
            </a:r>
          </a:p>
        </p:txBody>
      </p:sp>
      <p:sp>
        <p:nvSpPr>
          <p:cNvPr id="10" name="TextBox 9"/>
          <p:cNvSpPr txBox="1"/>
          <p:nvPr/>
        </p:nvSpPr>
        <p:spPr>
          <a:xfrm>
            <a:off x="4134611"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4230623"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5487" y="1408176"/>
            <a:ext cx="1566672" cy="256032"/>
          </a:xfrm>
          <a:prstGeom prst="rect">
            <a:avLst/>
          </a:prstGeom>
          <a:noFill/>
        </p:spPr>
        <p:txBody>
          <a:bodyPr wrap="none">
            <a:spAutoFit/>
          </a:bodyPr>
          <a:lstStyle/>
          <a:p>
            <a:pPr algn="ctr">
              <a:defRPr sz="840" b="1">
                <a:solidFill>
                  <a:srgbClr val="2D5D7B"/>
                </a:solidFill>
                <a:latin typeface="Microsoft YaHei"/>
              </a:defRPr>
            </a:pPr>
            <a:r>
              <a:t>MaP mutations</a:t>
            </a:r>
          </a:p>
        </p:txBody>
      </p:sp>
      <p:sp>
        <p:nvSpPr>
          <p:cNvPr id="13" name="TextBox 12"/>
          <p:cNvSpPr txBox="1"/>
          <p:nvPr/>
        </p:nvSpPr>
        <p:spPr>
          <a:xfrm>
            <a:off x="5920739"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6016751"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71615" y="1408176"/>
            <a:ext cx="1566672" cy="256032"/>
          </a:xfrm>
          <a:prstGeom prst="rect">
            <a:avLst/>
          </a:prstGeom>
          <a:noFill/>
        </p:spPr>
        <p:txBody>
          <a:bodyPr wrap="none">
            <a:spAutoFit/>
          </a:bodyPr>
          <a:lstStyle/>
          <a:p>
            <a:pPr algn="ctr">
              <a:defRPr sz="840" b="1">
                <a:solidFill>
                  <a:srgbClr val="2D5D7B"/>
                </a:solidFill>
                <a:latin typeface="Microsoft YaHei"/>
              </a:defRPr>
            </a:pPr>
            <a:r>
              <a:t>reactivity profile</a:t>
            </a:r>
          </a:p>
        </p:txBody>
      </p:sp>
      <p:sp>
        <p:nvSpPr>
          <p:cNvPr id="16" name="TextBox 15"/>
          <p:cNvSpPr txBox="1"/>
          <p:nvPr/>
        </p:nvSpPr>
        <p:spPr>
          <a:xfrm>
            <a:off x="7706867"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7802880"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57744" y="1408176"/>
            <a:ext cx="1566672" cy="256032"/>
          </a:xfrm>
          <a:prstGeom prst="rect">
            <a:avLst/>
          </a:prstGeom>
          <a:noFill/>
        </p:spPr>
        <p:txBody>
          <a:bodyPr wrap="none">
            <a:spAutoFit/>
          </a:bodyPr>
          <a:lstStyle/>
          <a:p>
            <a:pPr algn="ctr">
              <a:defRPr sz="840" b="1">
                <a:solidFill>
                  <a:srgbClr val="2D5D7B"/>
                </a:solidFill>
                <a:latin typeface="Microsoft YaHei"/>
              </a:defRPr>
            </a:pPr>
            <a:r>
              <a:t>stress comparison</a:t>
            </a:r>
          </a:p>
        </p:txBody>
      </p:sp>
      <p:sp>
        <p:nvSpPr>
          <p:cNvPr id="19" name="TextBox 18"/>
          <p:cNvSpPr txBox="1"/>
          <p:nvPr/>
        </p:nvSpPr>
        <p:spPr>
          <a:xfrm>
            <a:off x="9492996" y="1444751"/>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0" name="Rounded Rectangle 19"/>
          <p:cNvSpPr/>
          <p:nvPr/>
        </p:nvSpPr>
        <p:spPr>
          <a:xfrm>
            <a:off x="9589008" y="1298448"/>
            <a:ext cx="1676400"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3872" y="1408176"/>
            <a:ext cx="1566672" cy="256032"/>
          </a:xfrm>
          <a:prstGeom prst="rect">
            <a:avLst/>
          </a:prstGeom>
          <a:noFill/>
        </p:spPr>
        <p:txBody>
          <a:bodyPr wrap="none">
            <a:spAutoFit/>
          </a:bodyPr>
          <a:lstStyle/>
          <a:p>
            <a:pPr algn="ctr">
              <a:defRPr sz="840" b="1">
                <a:solidFill>
                  <a:srgbClr val="2D5D7B"/>
                </a:solidFill>
                <a:latin typeface="Microsoft YaHei"/>
              </a:defRPr>
            </a:pPr>
            <a:r>
              <a:t>interaction inference</a:t>
            </a:r>
          </a:p>
        </p:txBody>
      </p:sp>
      <p:sp>
        <p:nvSpPr>
          <p:cNvPr id="22" name="Rounded Rectangle 21"/>
          <p:cNvSpPr/>
          <p:nvPr/>
        </p:nvSpPr>
        <p:spPr>
          <a:xfrm>
            <a:off x="713232" y="2267712"/>
            <a:ext cx="3291840" cy="265176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2395728"/>
            <a:ext cx="2962656" cy="237744"/>
          </a:xfrm>
          <a:prstGeom prst="rect">
            <a:avLst/>
          </a:prstGeom>
          <a:noFill/>
        </p:spPr>
        <p:txBody>
          <a:bodyPr wrap="square" anchor="t">
            <a:spAutoFit/>
          </a:bodyPr>
          <a:lstStyle/>
          <a:p>
            <a:pPr>
              <a:defRPr sz="1050" b="1">
                <a:solidFill>
                  <a:srgbClr val="2D5D7B"/>
                </a:solidFill>
                <a:latin typeface="Microsoft YaHei"/>
              </a:defRPr>
            </a:pPr>
            <a:r>
              <a:t>DM-DMS-MaPseq 的价值</a:t>
            </a:r>
          </a:p>
        </p:txBody>
      </p:sp>
      <p:sp>
        <p:nvSpPr>
          <p:cNvPr id="24" name="TextBox 23"/>
          <p:cNvSpPr txBox="1"/>
          <p:nvPr/>
        </p:nvSpPr>
        <p:spPr>
          <a:xfrm>
            <a:off x="877824" y="2706624"/>
            <a:ext cx="2962656" cy="2148839"/>
          </a:xfrm>
          <a:prstGeom prst="rect">
            <a:avLst/>
          </a:prstGeom>
          <a:noFill/>
        </p:spPr>
        <p:txBody>
          <a:bodyPr wrap="square">
            <a:spAutoFit/>
          </a:bodyPr>
          <a:lstStyle/>
          <a:p>
            <a:pPr>
              <a:spcAft>
                <a:spcPts val="400"/>
              </a:spcAft>
              <a:defRPr sz="919">
                <a:solidFill>
                  <a:srgbClr val="1F262E"/>
                </a:solidFill>
                <a:latin typeface="Microsoft YaHei"/>
              </a:defRPr>
            </a:pPr>
            <a:r>
              <a:t>在人细胞内同时观察胞质和线粒体 tRNA。</a:t>
            </a:r>
          </a:p>
          <a:p>
            <a:pPr>
              <a:spcAft>
                <a:spcPts val="400"/>
              </a:spcAft>
              <a:defRPr sz="919">
                <a:solidFill>
                  <a:srgbClr val="1F262E"/>
                </a:solidFill>
                <a:latin typeface="Microsoft YaHei"/>
              </a:defRPr>
            </a:pPr>
            <a:r>
              <a:t>DMS 反应性反映局部可及性。</a:t>
            </a:r>
          </a:p>
          <a:p>
            <a:pPr>
              <a:spcAft>
                <a:spcPts val="400"/>
              </a:spcAft>
              <a:defRPr sz="919">
                <a:solidFill>
                  <a:srgbClr val="1F262E"/>
                </a:solidFill>
                <a:latin typeface="Microsoft YaHei"/>
              </a:defRPr>
            </a:pPr>
            <a:r>
              <a:t>体内与体外差异揭示蛋白/核糖体保护。</a:t>
            </a:r>
          </a:p>
        </p:txBody>
      </p:sp>
      <p:sp>
        <p:nvSpPr>
          <p:cNvPr id="25" name="Rounded Rectangle 24"/>
          <p:cNvSpPr/>
          <p:nvPr/>
        </p:nvSpPr>
        <p:spPr>
          <a:xfrm>
            <a:off x="4462272" y="2267712"/>
            <a:ext cx="3291840" cy="265176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6864" y="2395728"/>
            <a:ext cx="2962656" cy="237744"/>
          </a:xfrm>
          <a:prstGeom prst="rect">
            <a:avLst/>
          </a:prstGeom>
          <a:noFill/>
        </p:spPr>
        <p:txBody>
          <a:bodyPr wrap="square" anchor="t">
            <a:spAutoFit/>
          </a:bodyPr>
          <a:lstStyle/>
          <a:p>
            <a:pPr>
              <a:defRPr sz="1050" b="1">
                <a:solidFill>
                  <a:srgbClr val="2D5D7B"/>
                </a:solidFill>
                <a:latin typeface="Microsoft YaHei"/>
              </a:defRPr>
            </a:pPr>
            <a:r>
              <a:t>差异分析逻辑</a:t>
            </a:r>
          </a:p>
        </p:txBody>
      </p:sp>
      <p:sp>
        <p:nvSpPr>
          <p:cNvPr id="27" name="TextBox 26"/>
          <p:cNvSpPr txBox="1"/>
          <p:nvPr/>
        </p:nvSpPr>
        <p:spPr>
          <a:xfrm>
            <a:off x="4626864" y="2706624"/>
            <a:ext cx="2962656" cy="2148839"/>
          </a:xfrm>
          <a:prstGeom prst="rect">
            <a:avLst/>
          </a:prstGeom>
          <a:noFill/>
        </p:spPr>
        <p:txBody>
          <a:bodyPr wrap="square">
            <a:spAutoFit/>
          </a:bodyPr>
          <a:lstStyle/>
          <a:p>
            <a:pPr>
              <a:spcAft>
                <a:spcPts val="400"/>
              </a:spcAft>
              <a:defRPr sz="919">
                <a:solidFill>
                  <a:srgbClr val="1F262E"/>
                </a:solidFill>
                <a:latin typeface="Microsoft YaHei"/>
              </a:defRPr>
            </a:pPr>
            <a:r>
              <a:t>position-level reactivity 是主要单位。</a:t>
            </a:r>
          </a:p>
          <a:p>
            <a:pPr>
              <a:spcAft>
                <a:spcPts val="400"/>
              </a:spcAft>
              <a:defRPr sz="919">
                <a:solidFill>
                  <a:srgbClr val="1F262E"/>
                </a:solidFill>
                <a:latin typeface="Microsoft YaHei"/>
              </a:defRPr>
            </a:pPr>
            <a:r>
              <a:t>stress/control 需配对比较。</a:t>
            </a:r>
          </a:p>
          <a:p>
            <a:pPr>
              <a:spcAft>
                <a:spcPts val="400"/>
              </a:spcAft>
              <a:defRPr sz="919">
                <a:solidFill>
                  <a:srgbClr val="1F262E"/>
                </a:solidFill>
                <a:latin typeface="Microsoft YaHei"/>
              </a:defRPr>
            </a:pPr>
            <a:r>
              <a:t>必须区分结构改变和互作遮蔽改变。</a:t>
            </a:r>
          </a:p>
        </p:txBody>
      </p:sp>
      <p:sp>
        <p:nvSpPr>
          <p:cNvPr id="28" name="Rounded Rectangle 27"/>
          <p:cNvSpPr/>
          <p:nvPr/>
        </p:nvSpPr>
        <p:spPr>
          <a:xfrm>
            <a:off x="8211312" y="2267712"/>
            <a:ext cx="3291840" cy="265176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75904" y="2395728"/>
            <a:ext cx="2962656" cy="237744"/>
          </a:xfrm>
          <a:prstGeom prst="rect">
            <a:avLst/>
          </a:prstGeom>
          <a:noFill/>
        </p:spPr>
        <p:txBody>
          <a:bodyPr wrap="square" anchor="t">
            <a:spAutoFit/>
          </a:bodyPr>
          <a:lstStyle/>
          <a:p>
            <a:pPr>
              <a:defRPr sz="1050" b="1">
                <a:solidFill>
                  <a:srgbClr val="2D5D7B"/>
                </a:solidFill>
                <a:latin typeface="Microsoft YaHei"/>
              </a:defRPr>
            </a:pPr>
            <a:r>
              <a:t>改动方向</a:t>
            </a:r>
          </a:p>
        </p:txBody>
      </p:sp>
      <p:sp>
        <p:nvSpPr>
          <p:cNvPr id="30" name="TextBox 29"/>
          <p:cNvSpPr txBox="1"/>
          <p:nvPr/>
        </p:nvSpPr>
        <p:spPr>
          <a:xfrm>
            <a:off x="8375904" y="2706624"/>
            <a:ext cx="2962656" cy="2148839"/>
          </a:xfrm>
          <a:prstGeom prst="rect">
            <a:avLst/>
          </a:prstGeom>
          <a:noFill/>
        </p:spPr>
        <p:txBody>
          <a:bodyPr wrap="square">
            <a:spAutoFit/>
          </a:bodyPr>
          <a:lstStyle/>
          <a:p>
            <a:pPr>
              <a:spcAft>
                <a:spcPts val="400"/>
              </a:spcAft>
              <a:defRPr sz="919">
                <a:solidFill>
                  <a:srgbClr val="1F262E"/>
                </a:solidFill>
                <a:latin typeface="Microsoft YaHei"/>
              </a:defRPr>
            </a:pPr>
            <a:r>
              <a:t>加入 Ribo-seq、RIP/CLIP 或蛋白扰动做解卷积。</a:t>
            </a:r>
          </a:p>
          <a:p>
            <a:pPr>
              <a:spcAft>
                <a:spcPts val="400"/>
              </a:spcAft>
              <a:defRPr sz="919">
                <a:solidFill>
                  <a:srgbClr val="1F262E"/>
                </a:solidFill>
                <a:latin typeface="Microsoft YaHei"/>
              </a:defRPr>
            </a:pPr>
            <a:r>
              <a:t>建立 tRNA family-aware reactivity baseline。</a:t>
            </a:r>
          </a:p>
          <a:p>
            <a:pPr>
              <a:spcAft>
                <a:spcPts val="400"/>
              </a:spcAft>
              <a:defRPr sz="919">
                <a:solidFill>
                  <a:srgbClr val="1F262E"/>
                </a:solidFill>
                <a:latin typeface="Microsoft YaHei"/>
              </a:defRPr>
            </a:pPr>
            <a:r>
              <a:t>把结构变化与 abundance/modification 联合建模。</a:t>
            </a:r>
          </a:p>
        </p:txBody>
      </p:sp>
      <p:sp>
        <p:nvSpPr>
          <p:cNvPr id="31" name="Rounded Rectangle 30"/>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tRNA structurome 的读出本质是“结构 + 互作 + 条件”的合成信号。</a:t>
            </a:r>
          </a:p>
        </p:txBody>
      </p:sp>
      <p:sp>
        <p:nvSpPr>
          <p:cNvPr id="33" name="TextBox 32"/>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40447571: In vivo structure profiling reveals human cytosolic and mitochondrial tRNA structurome and interactome in response to stress.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工具深挖六：低输入与 tDR 分析代表两个极端场景</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207008"/>
            <a:ext cx="4983480" cy="361188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335024"/>
            <a:ext cx="4654296" cy="237744"/>
          </a:xfrm>
          <a:prstGeom prst="rect">
            <a:avLst/>
          </a:prstGeom>
          <a:noFill/>
        </p:spPr>
        <p:txBody>
          <a:bodyPr wrap="square" anchor="t">
            <a:spAutoFit/>
          </a:bodyPr>
          <a:lstStyle/>
          <a:p>
            <a:pPr>
              <a:defRPr sz="1050" b="1">
                <a:solidFill>
                  <a:srgbClr val="2D5D7B"/>
                </a:solidFill>
                <a:latin typeface="Microsoft YaHei"/>
              </a:defRPr>
            </a:pPr>
            <a:r>
              <a:t>ORACLE-tRNAseq：极低输入</a:t>
            </a:r>
          </a:p>
        </p:txBody>
      </p:sp>
      <p:sp>
        <p:nvSpPr>
          <p:cNvPr id="7" name="TextBox 6"/>
          <p:cNvSpPr txBox="1"/>
          <p:nvPr/>
        </p:nvSpPr>
        <p:spPr>
          <a:xfrm>
            <a:off x="896112" y="1645920"/>
            <a:ext cx="4654296" cy="3108960"/>
          </a:xfrm>
          <a:prstGeom prst="rect">
            <a:avLst/>
          </a:prstGeom>
          <a:noFill/>
        </p:spPr>
        <p:txBody>
          <a:bodyPr wrap="square">
            <a:spAutoFit/>
          </a:bodyPr>
          <a:lstStyle/>
          <a:p>
            <a:pPr>
              <a:spcAft>
                <a:spcPts val="400"/>
              </a:spcAft>
              <a:defRPr sz="919">
                <a:solidFill>
                  <a:srgbClr val="1F262E"/>
                </a:solidFill>
                <a:latin typeface="Microsoft YaHei"/>
              </a:defRPr>
            </a:pPr>
            <a:r>
              <a:t>样本量小，核心挑战是建库效率、dropout 和批次效应。</a:t>
            </a:r>
          </a:p>
          <a:p>
            <a:pPr>
              <a:spcAft>
                <a:spcPts val="400"/>
              </a:spcAft>
              <a:defRPr sz="919">
                <a:solidFill>
                  <a:srgbClr val="1F262E"/>
                </a:solidFill>
                <a:latin typeface="Microsoft YaHei"/>
              </a:defRPr>
            </a:pPr>
            <a:r>
              <a:t>需要把 tRNA repertoire 与 ZGA、H3K4me3、Ribo-seq 对齐。</a:t>
            </a:r>
          </a:p>
          <a:p>
            <a:pPr>
              <a:spcAft>
                <a:spcPts val="400"/>
              </a:spcAft>
              <a:defRPr sz="919">
                <a:solidFill>
                  <a:srgbClr val="1F262E"/>
                </a:solidFill>
                <a:latin typeface="Microsoft YaHei"/>
              </a:defRPr>
            </a:pPr>
            <a:r>
              <a:t>差异分析应优先稳健性和时间序列一致性，而非单点显著性。</a:t>
            </a:r>
          </a:p>
        </p:txBody>
      </p:sp>
      <p:sp>
        <p:nvSpPr>
          <p:cNvPr id="8" name="Rounded Rectangle 7"/>
          <p:cNvSpPr/>
          <p:nvPr/>
        </p:nvSpPr>
        <p:spPr>
          <a:xfrm>
            <a:off x="6309360" y="1207008"/>
            <a:ext cx="4983480" cy="361188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335024"/>
            <a:ext cx="4654296" cy="237744"/>
          </a:xfrm>
          <a:prstGeom prst="rect">
            <a:avLst/>
          </a:prstGeom>
          <a:noFill/>
        </p:spPr>
        <p:txBody>
          <a:bodyPr wrap="square" anchor="t">
            <a:spAutoFit/>
          </a:bodyPr>
          <a:lstStyle/>
          <a:p>
            <a:pPr>
              <a:defRPr sz="1050" b="1">
                <a:solidFill>
                  <a:srgbClr val="2D5D7B"/>
                </a:solidFill>
                <a:latin typeface="Microsoft YaHei"/>
              </a:defRPr>
            </a:pPr>
            <a:r>
              <a:t>LIDAR/tRAX/tDRnamer：末端与来源复杂</a:t>
            </a:r>
          </a:p>
        </p:txBody>
      </p:sp>
      <p:sp>
        <p:nvSpPr>
          <p:cNvPr id="10" name="TextBox 9"/>
          <p:cNvSpPr txBox="1"/>
          <p:nvPr/>
        </p:nvSpPr>
        <p:spPr>
          <a:xfrm>
            <a:off x="6473952" y="1645920"/>
            <a:ext cx="4654296" cy="3108960"/>
          </a:xfrm>
          <a:prstGeom prst="rect">
            <a:avLst/>
          </a:prstGeom>
          <a:noFill/>
        </p:spPr>
        <p:txBody>
          <a:bodyPr wrap="square">
            <a:spAutoFit/>
          </a:bodyPr>
          <a:lstStyle/>
          <a:p>
            <a:pPr>
              <a:spcAft>
                <a:spcPts val="400"/>
              </a:spcAft>
              <a:defRPr sz="919">
                <a:solidFill>
                  <a:srgbClr val="1F262E"/>
                </a:solidFill>
                <a:latin typeface="Microsoft YaHei"/>
              </a:defRPr>
            </a:pPr>
            <a:r>
              <a:t>blocked 3' termini 会让传统 ligation-based 方法漏检 tDR。</a:t>
            </a:r>
          </a:p>
          <a:p>
            <a:pPr>
              <a:spcAft>
                <a:spcPts val="400"/>
              </a:spcAft>
              <a:defRPr sz="919">
                <a:solidFill>
                  <a:srgbClr val="1F262E"/>
                </a:solidFill>
                <a:latin typeface="Microsoft YaHei"/>
              </a:defRPr>
            </a:pPr>
            <a:r>
              <a:t>small RNA reads 很短，来源 tRNA 经常多解。</a:t>
            </a:r>
          </a:p>
          <a:p>
            <a:pPr>
              <a:spcAft>
                <a:spcPts val="400"/>
              </a:spcAft>
              <a:defRPr sz="919">
                <a:solidFill>
                  <a:srgbClr val="1F262E"/>
                </a:solidFill>
                <a:latin typeface="Microsoft YaHei"/>
              </a:defRPr>
            </a:pPr>
            <a:r>
              <a:t>标准命名必须绑定 origin uncertainty，不能只给漂亮名字。</a:t>
            </a:r>
          </a:p>
        </p:txBody>
      </p:sp>
      <p:sp>
        <p:nvSpPr>
          <p:cNvPr id="11" name="Rounded Rectangle 10"/>
          <p:cNvSpPr/>
          <p:nvPr/>
        </p:nvSpPr>
        <p:spPr>
          <a:xfrm>
            <a:off x="914400" y="5175504"/>
            <a:ext cx="158496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5285232"/>
            <a:ext cx="1475232" cy="256032"/>
          </a:xfrm>
          <a:prstGeom prst="rect">
            <a:avLst/>
          </a:prstGeom>
          <a:noFill/>
        </p:spPr>
        <p:txBody>
          <a:bodyPr wrap="none">
            <a:spAutoFit/>
          </a:bodyPr>
          <a:lstStyle/>
          <a:p>
            <a:pPr algn="ctr">
              <a:defRPr sz="840" b="1">
                <a:solidFill>
                  <a:srgbClr val="587C5D"/>
                </a:solidFill>
                <a:latin typeface="Microsoft YaHei"/>
              </a:defRPr>
            </a:pPr>
            <a:r>
              <a:t>low-input capture</a:t>
            </a:r>
          </a:p>
        </p:txBody>
      </p:sp>
      <p:sp>
        <p:nvSpPr>
          <p:cNvPr id="13" name="TextBox 12"/>
          <p:cNvSpPr txBox="1"/>
          <p:nvPr/>
        </p:nvSpPr>
        <p:spPr>
          <a:xfrm>
            <a:off x="2513076" y="5321808"/>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2609088" y="5175504"/>
            <a:ext cx="158496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63952" y="5285232"/>
            <a:ext cx="1475232" cy="256032"/>
          </a:xfrm>
          <a:prstGeom prst="rect">
            <a:avLst/>
          </a:prstGeom>
          <a:noFill/>
        </p:spPr>
        <p:txBody>
          <a:bodyPr wrap="none">
            <a:spAutoFit/>
          </a:bodyPr>
          <a:lstStyle/>
          <a:p>
            <a:pPr algn="ctr">
              <a:defRPr sz="840" b="1">
                <a:solidFill>
                  <a:srgbClr val="587C5D"/>
                </a:solidFill>
                <a:latin typeface="Microsoft YaHei"/>
              </a:defRPr>
            </a:pPr>
            <a:r>
              <a:t>or</a:t>
            </a:r>
          </a:p>
        </p:txBody>
      </p:sp>
      <p:sp>
        <p:nvSpPr>
          <p:cNvPr id="16" name="TextBox 15"/>
          <p:cNvSpPr txBox="1"/>
          <p:nvPr/>
        </p:nvSpPr>
        <p:spPr>
          <a:xfrm>
            <a:off x="4207764" y="5321808"/>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4303776" y="5175504"/>
            <a:ext cx="158496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58640" y="5285232"/>
            <a:ext cx="1475232" cy="256032"/>
          </a:xfrm>
          <a:prstGeom prst="rect">
            <a:avLst/>
          </a:prstGeom>
          <a:noFill/>
        </p:spPr>
        <p:txBody>
          <a:bodyPr wrap="none">
            <a:spAutoFit/>
          </a:bodyPr>
          <a:lstStyle/>
          <a:p>
            <a:pPr algn="ctr">
              <a:defRPr sz="840" b="1">
                <a:solidFill>
                  <a:srgbClr val="587C5D"/>
                </a:solidFill>
                <a:latin typeface="Microsoft YaHei"/>
              </a:defRPr>
            </a:pPr>
            <a:r>
              <a:t>blocked-end capture</a:t>
            </a:r>
          </a:p>
        </p:txBody>
      </p:sp>
      <p:sp>
        <p:nvSpPr>
          <p:cNvPr id="19" name="TextBox 18"/>
          <p:cNvSpPr txBox="1"/>
          <p:nvPr/>
        </p:nvSpPr>
        <p:spPr>
          <a:xfrm>
            <a:off x="5902452" y="5321808"/>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0" name="Rounded Rectangle 19"/>
          <p:cNvSpPr/>
          <p:nvPr/>
        </p:nvSpPr>
        <p:spPr>
          <a:xfrm>
            <a:off x="5998464" y="5175504"/>
            <a:ext cx="158496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5285232"/>
            <a:ext cx="1475232" cy="256032"/>
          </a:xfrm>
          <a:prstGeom prst="rect">
            <a:avLst/>
          </a:prstGeom>
          <a:noFill/>
        </p:spPr>
        <p:txBody>
          <a:bodyPr wrap="none">
            <a:spAutoFit/>
          </a:bodyPr>
          <a:lstStyle/>
          <a:p>
            <a:pPr algn="ctr">
              <a:defRPr sz="840" b="1">
                <a:solidFill>
                  <a:srgbClr val="587C5D"/>
                </a:solidFill>
                <a:latin typeface="Microsoft YaHei"/>
              </a:defRPr>
            </a:pPr>
            <a:r>
              <a:t>reference-aware mapping</a:t>
            </a:r>
          </a:p>
        </p:txBody>
      </p:sp>
      <p:sp>
        <p:nvSpPr>
          <p:cNvPr id="22" name="TextBox 21"/>
          <p:cNvSpPr txBox="1"/>
          <p:nvPr/>
        </p:nvSpPr>
        <p:spPr>
          <a:xfrm>
            <a:off x="7597140" y="5321808"/>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3" name="Rounded Rectangle 22"/>
          <p:cNvSpPr/>
          <p:nvPr/>
        </p:nvSpPr>
        <p:spPr>
          <a:xfrm>
            <a:off x="7693152" y="5175504"/>
            <a:ext cx="158496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8016" y="5285232"/>
            <a:ext cx="1475232" cy="256032"/>
          </a:xfrm>
          <a:prstGeom prst="rect">
            <a:avLst/>
          </a:prstGeom>
          <a:noFill/>
        </p:spPr>
        <p:txBody>
          <a:bodyPr wrap="none">
            <a:spAutoFit/>
          </a:bodyPr>
          <a:lstStyle/>
          <a:p>
            <a:pPr algn="ctr">
              <a:defRPr sz="840" b="1">
                <a:solidFill>
                  <a:srgbClr val="587C5D"/>
                </a:solidFill>
                <a:latin typeface="Microsoft YaHei"/>
              </a:defRPr>
            </a:pPr>
            <a:r>
              <a:t>standard ontology</a:t>
            </a:r>
          </a:p>
        </p:txBody>
      </p:sp>
      <p:sp>
        <p:nvSpPr>
          <p:cNvPr id="25" name="TextBox 24"/>
          <p:cNvSpPr txBox="1"/>
          <p:nvPr/>
        </p:nvSpPr>
        <p:spPr>
          <a:xfrm>
            <a:off x="9291828" y="5321808"/>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6" name="Rounded Rectangle 25"/>
          <p:cNvSpPr/>
          <p:nvPr/>
        </p:nvSpPr>
        <p:spPr>
          <a:xfrm>
            <a:off x="9387840" y="5175504"/>
            <a:ext cx="158496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42704" y="5285232"/>
            <a:ext cx="1475232" cy="256032"/>
          </a:xfrm>
          <a:prstGeom prst="rect">
            <a:avLst/>
          </a:prstGeom>
          <a:noFill/>
        </p:spPr>
        <p:txBody>
          <a:bodyPr wrap="none">
            <a:spAutoFit/>
          </a:bodyPr>
          <a:lstStyle/>
          <a:p>
            <a:pPr algn="ctr">
              <a:defRPr sz="840" b="1">
                <a:solidFill>
                  <a:srgbClr val="587C5D"/>
                </a:solidFill>
                <a:latin typeface="Microsoft YaHei"/>
              </a:defRPr>
            </a:pPr>
            <a:r>
              <a:t>differential interpretation</a:t>
            </a:r>
          </a:p>
        </p:txBody>
      </p:sp>
      <p:sp>
        <p:nvSpPr>
          <p:cNvPr id="28" name="Rounded Rectangle 27"/>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低输入和 tDR 场景提醒我们：建库可见性与来源归属会决定后续所有统计结论。</a:t>
            </a:r>
          </a:p>
        </p:txBody>
      </p:sp>
      <p:sp>
        <p:nvSpPr>
          <p:cNvPr id="30" name="TextBox 29"/>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42062277: Deciphering tRNA repertoires and translation coordination during mouse early embryogenesis by ORACLE-tRNAseq. | PMID 39096899: A ligation-independent sequencing method reveals tRNA-derived RNA...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通用底层架构：reference-first 与 signal-first 两条路线应汇合</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170432"/>
            <a:ext cx="2468880" cy="320040"/>
          </a:xfrm>
          <a:prstGeom prst="rect">
            <a:avLst/>
          </a:prstGeom>
          <a:noFill/>
        </p:spPr>
        <p:txBody>
          <a:bodyPr wrap="square" anchor="t">
            <a:spAutoFit/>
          </a:bodyPr>
          <a:lstStyle/>
          <a:p>
            <a:pPr>
              <a:defRPr sz="1500" b="1">
                <a:solidFill>
                  <a:srgbClr val="2D5D7B"/>
                </a:solidFill>
                <a:latin typeface="Microsoft YaHei"/>
              </a:defRPr>
            </a:pPr>
            <a:r>
              <a:t>Reference-first</a:t>
            </a:r>
          </a:p>
        </p:txBody>
      </p:sp>
      <p:sp>
        <p:nvSpPr>
          <p:cNvPr id="6" name="Rounded Rectangle 5"/>
          <p:cNvSpPr/>
          <p:nvPr/>
        </p:nvSpPr>
        <p:spPr>
          <a:xfrm>
            <a:off x="640080" y="1627632"/>
            <a:ext cx="991209"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37360"/>
            <a:ext cx="881481" cy="256032"/>
          </a:xfrm>
          <a:prstGeom prst="rect">
            <a:avLst/>
          </a:prstGeom>
          <a:noFill/>
        </p:spPr>
        <p:txBody>
          <a:bodyPr wrap="none">
            <a:spAutoFit/>
          </a:bodyPr>
          <a:lstStyle/>
          <a:p>
            <a:pPr algn="ctr">
              <a:defRPr sz="840" b="1">
                <a:solidFill>
                  <a:srgbClr val="2D5D7B"/>
                </a:solidFill>
                <a:latin typeface="Microsoft YaHei"/>
              </a:defRPr>
            </a:pPr>
            <a:r>
              <a:t>Genome</a:t>
            </a:r>
          </a:p>
        </p:txBody>
      </p:sp>
      <p:sp>
        <p:nvSpPr>
          <p:cNvPr id="8" name="TextBox 7"/>
          <p:cNvSpPr txBox="1"/>
          <p:nvPr/>
        </p:nvSpPr>
        <p:spPr>
          <a:xfrm>
            <a:off x="1645005" y="1773936"/>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9" name="Rounded Rectangle 8"/>
          <p:cNvSpPr/>
          <p:nvPr/>
        </p:nvSpPr>
        <p:spPr>
          <a:xfrm>
            <a:off x="1741017" y="1627632"/>
            <a:ext cx="991209"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95881" y="1737360"/>
            <a:ext cx="881481" cy="256032"/>
          </a:xfrm>
          <a:prstGeom prst="rect">
            <a:avLst/>
          </a:prstGeom>
          <a:noFill/>
        </p:spPr>
        <p:txBody>
          <a:bodyPr wrap="none">
            <a:spAutoFit/>
          </a:bodyPr>
          <a:lstStyle/>
          <a:p>
            <a:pPr algn="ctr">
              <a:defRPr sz="840" b="1">
                <a:solidFill>
                  <a:srgbClr val="2D5D7B"/>
                </a:solidFill>
                <a:latin typeface="Microsoft YaHei"/>
              </a:defRPr>
            </a:pPr>
            <a:r>
              <a:t>tRNAscan-SE</a:t>
            </a:r>
          </a:p>
        </p:txBody>
      </p:sp>
      <p:sp>
        <p:nvSpPr>
          <p:cNvPr id="11" name="TextBox 10"/>
          <p:cNvSpPr txBox="1"/>
          <p:nvPr/>
        </p:nvSpPr>
        <p:spPr>
          <a:xfrm>
            <a:off x="2745943" y="1773936"/>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2" name="Rounded Rectangle 11"/>
          <p:cNvSpPr/>
          <p:nvPr/>
        </p:nvSpPr>
        <p:spPr>
          <a:xfrm>
            <a:off x="2841955" y="1627632"/>
            <a:ext cx="991209"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96819" y="1737360"/>
            <a:ext cx="881481" cy="256032"/>
          </a:xfrm>
          <a:prstGeom prst="rect">
            <a:avLst/>
          </a:prstGeom>
          <a:noFill/>
        </p:spPr>
        <p:txBody>
          <a:bodyPr wrap="none">
            <a:spAutoFit/>
          </a:bodyPr>
          <a:lstStyle/>
          <a:p>
            <a:pPr algn="ctr">
              <a:defRPr sz="840" b="1">
                <a:solidFill>
                  <a:srgbClr val="2D5D7B"/>
                </a:solidFill>
                <a:latin typeface="Microsoft YaHei"/>
              </a:defRPr>
            </a:pPr>
            <a:r>
              <a:t>mature ref</a:t>
            </a:r>
          </a:p>
        </p:txBody>
      </p:sp>
      <p:sp>
        <p:nvSpPr>
          <p:cNvPr id="14" name="TextBox 13"/>
          <p:cNvSpPr txBox="1"/>
          <p:nvPr/>
        </p:nvSpPr>
        <p:spPr>
          <a:xfrm>
            <a:off x="3846880" y="1773936"/>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5" name="Rounded Rectangle 14"/>
          <p:cNvSpPr/>
          <p:nvPr/>
        </p:nvSpPr>
        <p:spPr>
          <a:xfrm>
            <a:off x="3942892" y="1627632"/>
            <a:ext cx="991209"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97756" y="1737360"/>
            <a:ext cx="881481" cy="256032"/>
          </a:xfrm>
          <a:prstGeom prst="rect">
            <a:avLst/>
          </a:prstGeom>
          <a:noFill/>
        </p:spPr>
        <p:txBody>
          <a:bodyPr wrap="none">
            <a:spAutoFit/>
          </a:bodyPr>
          <a:lstStyle/>
          <a:p>
            <a:pPr algn="ctr">
              <a:defRPr sz="840" b="1">
                <a:solidFill>
                  <a:srgbClr val="2D5D7B"/>
                </a:solidFill>
                <a:latin typeface="Microsoft YaHei"/>
              </a:defRPr>
            </a:pPr>
            <a:r>
              <a:t>alignment</a:t>
            </a:r>
          </a:p>
        </p:txBody>
      </p:sp>
      <p:sp>
        <p:nvSpPr>
          <p:cNvPr id="17" name="TextBox 16"/>
          <p:cNvSpPr txBox="1"/>
          <p:nvPr/>
        </p:nvSpPr>
        <p:spPr>
          <a:xfrm>
            <a:off x="4947818" y="1773936"/>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8" name="Rounded Rectangle 17"/>
          <p:cNvSpPr/>
          <p:nvPr/>
        </p:nvSpPr>
        <p:spPr>
          <a:xfrm>
            <a:off x="5043830" y="1627632"/>
            <a:ext cx="991209"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98694" y="1737360"/>
            <a:ext cx="881481" cy="256032"/>
          </a:xfrm>
          <a:prstGeom prst="rect">
            <a:avLst/>
          </a:prstGeom>
          <a:noFill/>
        </p:spPr>
        <p:txBody>
          <a:bodyPr wrap="none">
            <a:spAutoFit/>
          </a:bodyPr>
          <a:lstStyle/>
          <a:p>
            <a:pPr algn="ctr">
              <a:defRPr sz="840" b="1">
                <a:solidFill>
                  <a:srgbClr val="2D5D7B"/>
                </a:solidFill>
                <a:latin typeface="Microsoft YaHei"/>
              </a:defRPr>
            </a:pPr>
            <a:r>
              <a:t>abundance/tDR</a:t>
            </a:r>
          </a:p>
        </p:txBody>
      </p:sp>
      <p:sp>
        <p:nvSpPr>
          <p:cNvPr id="20" name="TextBox 19"/>
          <p:cNvSpPr txBox="1"/>
          <p:nvPr/>
        </p:nvSpPr>
        <p:spPr>
          <a:xfrm>
            <a:off x="640080" y="2514600"/>
            <a:ext cx="5303520" cy="640080"/>
          </a:xfrm>
          <a:prstGeom prst="rect">
            <a:avLst/>
          </a:prstGeom>
          <a:noFill/>
        </p:spPr>
        <p:txBody>
          <a:bodyPr wrap="square" anchor="t">
            <a:spAutoFit/>
          </a:bodyPr>
          <a:lstStyle/>
          <a:p>
            <a:pPr>
              <a:defRPr sz="1250" b="0">
                <a:solidFill>
                  <a:srgbClr val="1F262E"/>
                </a:solidFill>
                <a:latin typeface="Microsoft YaHei"/>
              </a:defRPr>
            </a:pPr>
            <a:r>
              <a:t>适合 tRNA gene catalog、短读长定量和 tDR 注释；主要风险是多拷贝、多等解码 tRNA 和 pseudogene 的归属。</a:t>
            </a:r>
          </a:p>
        </p:txBody>
      </p:sp>
      <p:sp>
        <p:nvSpPr>
          <p:cNvPr id="21" name="TextBox 20"/>
          <p:cNvSpPr txBox="1"/>
          <p:nvPr/>
        </p:nvSpPr>
        <p:spPr>
          <a:xfrm>
            <a:off x="640080" y="3657600"/>
            <a:ext cx="2468880" cy="320040"/>
          </a:xfrm>
          <a:prstGeom prst="rect">
            <a:avLst/>
          </a:prstGeom>
          <a:noFill/>
        </p:spPr>
        <p:txBody>
          <a:bodyPr wrap="square" anchor="t">
            <a:spAutoFit/>
          </a:bodyPr>
          <a:lstStyle/>
          <a:p>
            <a:pPr>
              <a:defRPr sz="1500" b="1">
                <a:solidFill>
                  <a:srgbClr val="587C5D"/>
                </a:solidFill>
                <a:latin typeface="Microsoft YaHei"/>
              </a:defRPr>
            </a:pPr>
            <a:r>
              <a:t>Signal-first</a:t>
            </a:r>
          </a:p>
        </p:txBody>
      </p:sp>
      <p:sp>
        <p:nvSpPr>
          <p:cNvPr id="22" name="Rounded Rectangle 21"/>
          <p:cNvSpPr/>
          <p:nvPr/>
        </p:nvSpPr>
        <p:spPr>
          <a:xfrm>
            <a:off x="640080" y="4114800"/>
            <a:ext cx="991209"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4224528"/>
            <a:ext cx="881481" cy="256032"/>
          </a:xfrm>
          <a:prstGeom prst="rect">
            <a:avLst/>
          </a:prstGeom>
          <a:noFill/>
        </p:spPr>
        <p:txBody>
          <a:bodyPr wrap="none">
            <a:spAutoFit/>
          </a:bodyPr>
          <a:lstStyle/>
          <a:p>
            <a:pPr algn="ctr">
              <a:defRPr sz="840" b="1">
                <a:solidFill>
                  <a:srgbClr val="587C5D"/>
                </a:solidFill>
                <a:latin typeface="Microsoft YaHei"/>
              </a:defRPr>
            </a:pPr>
            <a:r>
              <a:t>Raw reads</a:t>
            </a:r>
          </a:p>
        </p:txBody>
      </p:sp>
      <p:sp>
        <p:nvSpPr>
          <p:cNvPr id="24" name="TextBox 23"/>
          <p:cNvSpPr txBox="1"/>
          <p:nvPr/>
        </p:nvSpPr>
        <p:spPr>
          <a:xfrm>
            <a:off x="1645005" y="426110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5" name="Rounded Rectangle 24"/>
          <p:cNvSpPr/>
          <p:nvPr/>
        </p:nvSpPr>
        <p:spPr>
          <a:xfrm>
            <a:off x="1741017" y="4114800"/>
            <a:ext cx="991209"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95881" y="4224528"/>
            <a:ext cx="881481" cy="256032"/>
          </a:xfrm>
          <a:prstGeom prst="rect">
            <a:avLst/>
          </a:prstGeom>
          <a:noFill/>
        </p:spPr>
        <p:txBody>
          <a:bodyPr wrap="none">
            <a:spAutoFit/>
          </a:bodyPr>
          <a:lstStyle/>
          <a:p>
            <a:pPr algn="ctr">
              <a:defRPr sz="840" b="1">
                <a:solidFill>
                  <a:srgbClr val="587C5D"/>
                </a:solidFill>
                <a:latin typeface="Microsoft YaHei"/>
              </a:defRPr>
            </a:pPr>
            <a:r>
              <a:t>RT/signature</a:t>
            </a:r>
          </a:p>
        </p:txBody>
      </p:sp>
      <p:sp>
        <p:nvSpPr>
          <p:cNvPr id="27" name="TextBox 26"/>
          <p:cNvSpPr txBox="1"/>
          <p:nvPr/>
        </p:nvSpPr>
        <p:spPr>
          <a:xfrm>
            <a:off x="2745943" y="426110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8" name="Rounded Rectangle 27"/>
          <p:cNvSpPr/>
          <p:nvPr/>
        </p:nvSpPr>
        <p:spPr>
          <a:xfrm>
            <a:off x="2841955" y="4114800"/>
            <a:ext cx="991209"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96819" y="4224528"/>
            <a:ext cx="881481" cy="256032"/>
          </a:xfrm>
          <a:prstGeom prst="rect">
            <a:avLst/>
          </a:prstGeom>
          <a:noFill/>
        </p:spPr>
        <p:txBody>
          <a:bodyPr wrap="none">
            <a:spAutoFit/>
          </a:bodyPr>
          <a:lstStyle/>
          <a:p>
            <a:pPr algn="ctr">
              <a:defRPr sz="840" b="1">
                <a:solidFill>
                  <a:srgbClr val="587C5D"/>
                </a:solidFill>
                <a:latin typeface="Microsoft YaHei"/>
              </a:defRPr>
            </a:pPr>
            <a:r>
              <a:t>event signal</a:t>
            </a:r>
          </a:p>
        </p:txBody>
      </p:sp>
      <p:sp>
        <p:nvSpPr>
          <p:cNvPr id="30" name="TextBox 29"/>
          <p:cNvSpPr txBox="1"/>
          <p:nvPr/>
        </p:nvSpPr>
        <p:spPr>
          <a:xfrm>
            <a:off x="3846880" y="426110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31" name="Rounded Rectangle 30"/>
          <p:cNvSpPr/>
          <p:nvPr/>
        </p:nvSpPr>
        <p:spPr>
          <a:xfrm>
            <a:off x="3942892" y="4114800"/>
            <a:ext cx="991209"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97756" y="4224528"/>
            <a:ext cx="881481" cy="256032"/>
          </a:xfrm>
          <a:prstGeom prst="rect">
            <a:avLst/>
          </a:prstGeom>
          <a:noFill/>
        </p:spPr>
        <p:txBody>
          <a:bodyPr wrap="none">
            <a:spAutoFit/>
          </a:bodyPr>
          <a:lstStyle/>
          <a:p>
            <a:pPr algn="ctr">
              <a:defRPr sz="840" b="1">
                <a:solidFill>
                  <a:srgbClr val="587C5D"/>
                </a:solidFill>
                <a:latin typeface="Microsoft YaHei"/>
              </a:defRPr>
            </a:pPr>
            <a:r>
              <a:t>classifier</a:t>
            </a:r>
          </a:p>
        </p:txBody>
      </p:sp>
      <p:sp>
        <p:nvSpPr>
          <p:cNvPr id="33" name="TextBox 32"/>
          <p:cNvSpPr txBox="1"/>
          <p:nvPr/>
        </p:nvSpPr>
        <p:spPr>
          <a:xfrm>
            <a:off x="4947818" y="426110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34" name="Rounded Rectangle 33"/>
          <p:cNvSpPr/>
          <p:nvPr/>
        </p:nvSpPr>
        <p:spPr>
          <a:xfrm>
            <a:off x="5043830" y="4114800"/>
            <a:ext cx="991209"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98694" y="4224528"/>
            <a:ext cx="881481" cy="256032"/>
          </a:xfrm>
          <a:prstGeom prst="rect">
            <a:avLst/>
          </a:prstGeom>
          <a:noFill/>
        </p:spPr>
        <p:txBody>
          <a:bodyPr wrap="none">
            <a:spAutoFit/>
          </a:bodyPr>
          <a:lstStyle/>
          <a:p>
            <a:pPr algn="ctr">
              <a:defRPr sz="840" b="1">
                <a:solidFill>
                  <a:srgbClr val="587C5D"/>
                </a:solidFill>
                <a:latin typeface="Microsoft YaHei"/>
              </a:defRPr>
            </a:pPr>
            <a:r>
              <a:t>mod/charging</a:t>
            </a:r>
          </a:p>
        </p:txBody>
      </p:sp>
      <p:sp>
        <p:nvSpPr>
          <p:cNvPr id="36" name="TextBox 35"/>
          <p:cNvSpPr txBox="1"/>
          <p:nvPr/>
        </p:nvSpPr>
        <p:spPr>
          <a:xfrm>
            <a:off x="640080" y="5001768"/>
            <a:ext cx="5303520" cy="640080"/>
          </a:xfrm>
          <a:prstGeom prst="rect">
            <a:avLst/>
          </a:prstGeom>
          <a:noFill/>
        </p:spPr>
        <p:txBody>
          <a:bodyPr wrap="square" anchor="t">
            <a:spAutoFit/>
          </a:bodyPr>
          <a:lstStyle/>
          <a:p>
            <a:pPr>
              <a:defRPr sz="1250" b="0">
                <a:solidFill>
                  <a:srgbClr val="1F262E"/>
                </a:solidFill>
                <a:latin typeface="Microsoft YaHei"/>
              </a:defRPr>
            </a:pPr>
            <a:r>
              <a:t>适合修饰、结构和氨酰化状态；主要风险是训练集依赖、酶/平台批次和信号可解释性。</a:t>
            </a:r>
          </a:p>
        </p:txBody>
      </p:sp>
      <p:sp>
        <p:nvSpPr>
          <p:cNvPr id="37" name="Rounded Rectangle 36"/>
          <p:cNvSpPr/>
          <p:nvPr/>
        </p:nvSpPr>
        <p:spPr>
          <a:xfrm>
            <a:off x="6400800" y="1325880"/>
            <a:ext cx="4892040" cy="4160520"/>
          </a:xfrm>
          <a:prstGeom prst="roundRect">
            <a:avLst/>
          </a:prstGeom>
          <a:solidFill>
            <a:srgbClr val="F6F0E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65392" y="1453895"/>
            <a:ext cx="4562855" cy="237744"/>
          </a:xfrm>
          <a:prstGeom prst="rect">
            <a:avLst/>
          </a:prstGeom>
          <a:noFill/>
        </p:spPr>
        <p:txBody>
          <a:bodyPr wrap="square" anchor="t">
            <a:spAutoFit/>
          </a:bodyPr>
          <a:lstStyle/>
          <a:p>
            <a:pPr>
              <a:defRPr sz="1050" b="1">
                <a:solidFill>
                  <a:srgbClr val="AB813F"/>
                </a:solidFill>
                <a:latin typeface="Microsoft YaHei"/>
              </a:defRPr>
            </a:pPr>
            <a:r>
              <a:t>推荐的统一层</a:t>
            </a:r>
          </a:p>
        </p:txBody>
      </p:sp>
      <p:sp>
        <p:nvSpPr>
          <p:cNvPr id="39" name="TextBox 38"/>
          <p:cNvSpPr txBox="1"/>
          <p:nvPr/>
        </p:nvSpPr>
        <p:spPr>
          <a:xfrm>
            <a:off x="6565392" y="1764792"/>
            <a:ext cx="4562855" cy="3657600"/>
          </a:xfrm>
          <a:prstGeom prst="rect">
            <a:avLst/>
          </a:prstGeom>
          <a:noFill/>
        </p:spPr>
        <p:txBody>
          <a:bodyPr wrap="square">
            <a:spAutoFit/>
          </a:bodyPr>
          <a:lstStyle/>
          <a:p>
            <a:pPr>
              <a:spcAft>
                <a:spcPts val="400"/>
              </a:spcAft>
              <a:defRPr sz="919">
                <a:solidFill>
                  <a:srgbClr val="1F262E"/>
                </a:solidFill>
                <a:latin typeface="Microsoft YaHei"/>
              </a:defRPr>
            </a:pPr>
            <a:r>
              <a:t>同一份 mature+tDR reference graph：保留 gene/isodecoder/isotype 层级。</a:t>
            </a:r>
          </a:p>
          <a:p>
            <a:pPr>
              <a:spcAft>
                <a:spcPts val="400"/>
              </a:spcAft>
              <a:defRPr sz="919">
                <a:solidFill>
                  <a:srgbClr val="1F262E"/>
                </a:solidFill>
                <a:latin typeface="Microsoft YaHei"/>
              </a:defRPr>
            </a:pPr>
            <a:r>
              <a:t>读段级不确定性：multi-mapping 不硬分配，传递到 differential model。</a:t>
            </a:r>
          </a:p>
          <a:p>
            <a:pPr>
              <a:spcAft>
                <a:spcPts val="400"/>
              </a:spcAft>
              <a:defRPr sz="919">
                <a:solidFill>
                  <a:srgbClr val="1F262E"/>
                </a:solidFill>
                <a:latin typeface="Microsoft YaHei"/>
              </a:defRPr>
            </a:pPr>
            <a:r>
              <a:t>信号级证据矩阵：RT-stop、mismatch、DMS reactivity、nanopore event 作为独立 evidence channels。</a:t>
            </a:r>
          </a:p>
          <a:p>
            <a:pPr>
              <a:spcAft>
                <a:spcPts val="400"/>
              </a:spcAft>
              <a:defRPr sz="919">
                <a:solidFill>
                  <a:srgbClr val="1F262E"/>
                </a:solidFill>
                <a:latin typeface="Microsoft YaHei"/>
              </a:defRPr>
            </a:pPr>
            <a:r>
              <a:t>输出层同时给 counts、fraction、confidence 和 ontology-compatible names。</a:t>
            </a:r>
          </a:p>
        </p:txBody>
      </p:sp>
      <p:sp>
        <p:nvSpPr>
          <p:cNvPr id="40" name="Rounded Rectangle 39"/>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未来工具应从“单方法 pipeline”走向“多证据联合推断框架”。</a:t>
            </a:r>
          </a:p>
        </p:txBody>
      </p:sp>
      <p:sp>
        <p:nvSpPr>
          <p:cNvPr id="42" name="TextBox 41"/>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34417604: tRNAscan-SE 2.0: improved detection and functional classification of transfer RNA genes | PMID 33581077: High-resolution quantitative profiling of tRNA abundance and modification status in euk...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识别逻辑：从 tRNA gene 到 tDR origin 不能只靠最佳比对</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34440"/>
            <a:ext cx="914400" cy="585216"/>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9496" y="1284732"/>
            <a:ext cx="841248" cy="512064"/>
          </a:xfrm>
          <a:prstGeom prst="rect">
            <a:avLst/>
          </a:prstGeom>
          <a:noFill/>
        </p:spPr>
        <p:txBody>
          <a:bodyPr wrap="none">
            <a:spAutoFit/>
          </a:bodyPr>
          <a:lstStyle/>
          <a:p>
            <a:pPr>
              <a:defRPr sz="829" b="1">
                <a:solidFill>
                  <a:srgbClr val="1F262E"/>
                </a:solidFill>
                <a:latin typeface="Microsoft YaHei"/>
              </a:defRPr>
            </a:pPr>
            <a:r>
              <a:t>层级</a:t>
            </a:r>
          </a:p>
        </p:txBody>
      </p:sp>
      <p:sp>
        <p:nvSpPr>
          <p:cNvPr id="7" name="Rectangle 6"/>
          <p:cNvSpPr/>
          <p:nvPr/>
        </p:nvSpPr>
        <p:spPr>
          <a:xfrm>
            <a:off x="1417320" y="1234440"/>
            <a:ext cx="1965960" cy="585216"/>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53896" y="1284732"/>
            <a:ext cx="1892807" cy="512064"/>
          </a:xfrm>
          <a:prstGeom prst="rect">
            <a:avLst/>
          </a:prstGeom>
          <a:noFill/>
        </p:spPr>
        <p:txBody>
          <a:bodyPr wrap="none">
            <a:spAutoFit/>
          </a:bodyPr>
          <a:lstStyle/>
          <a:p>
            <a:pPr>
              <a:defRPr sz="829" b="1">
                <a:solidFill>
                  <a:srgbClr val="1F262E"/>
                </a:solidFill>
                <a:latin typeface="Microsoft YaHei"/>
              </a:defRPr>
            </a:pPr>
            <a:r>
              <a:t>主要输入</a:t>
            </a:r>
          </a:p>
        </p:txBody>
      </p:sp>
      <p:sp>
        <p:nvSpPr>
          <p:cNvPr id="9" name="Rectangle 8"/>
          <p:cNvSpPr/>
          <p:nvPr/>
        </p:nvSpPr>
        <p:spPr>
          <a:xfrm>
            <a:off x="3383280" y="1234440"/>
            <a:ext cx="2788920" cy="585216"/>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9856" y="1284732"/>
            <a:ext cx="2715768" cy="512064"/>
          </a:xfrm>
          <a:prstGeom prst="rect">
            <a:avLst/>
          </a:prstGeom>
          <a:noFill/>
        </p:spPr>
        <p:txBody>
          <a:bodyPr wrap="none">
            <a:spAutoFit/>
          </a:bodyPr>
          <a:lstStyle/>
          <a:p>
            <a:pPr>
              <a:defRPr sz="829" b="1">
                <a:solidFill>
                  <a:srgbClr val="1F262E"/>
                </a:solidFill>
                <a:latin typeface="Microsoft YaHei"/>
              </a:defRPr>
            </a:pPr>
            <a:r>
              <a:t>核心判据</a:t>
            </a:r>
          </a:p>
        </p:txBody>
      </p:sp>
      <p:sp>
        <p:nvSpPr>
          <p:cNvPr id="11" name="Rectangle 10"/>
          <p:cNvSpPr/>
          <p:nvPr/>
        </p:nvSpPr>
        <p:spPr>
          <a:xfrm>
            <a:off x="6172200" y="1234440"/>
            <a:ext cx="2423160" cy="585216"/>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8776" y="1284732"/>
            <a:ext cx="2350008" cy="512064"/>
          </a:xfrm>
          <a:prstGeom prst="rect">
            <a:avLst/>
          </a:prstGeom>
          <a:noFill/>
        </p:spPr>
        <p:txBody>
          <a:bodyPr wrap="none">
            <a:spAutoFit/>
          </a:bodyPr>
          <a:lstStyle/>
          <a:p>
            <a:pPr>
              <a:defRPr sz="829" b="1">
                <a:solidFill>
                  <a:srgbClr val="1F262E"/>
                </a:solidFill>
                <a:latin typeface="Microsoft YaHei"/>
              </a:defRPr>
            </a:pPr>
            <a:r>
              <a:t>常见误差</a:t>
            </a:r>
          </a:p>
        </p:txBody>
      </p:sp>
      <p:sp>
        <p:nvSpPr>
          <p:cNvPr id="13" name="Rectangle 12"/>
          <p:cNvSpPr/>
          <p:nvPr/>
        </p:nvSpPr>
        <p:spPr>
          <a:xfrm>
            <a:off x="8595360" y="1234440"/>
            <a:ext cx="2971800" cy="585216"/>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1936" y="1284732"/>
            <a:ext cx="2898648" cy="512064"/>
          </a:xfrm>
          <a:prstGeom prst="rect">
            <a:avLst/>
          </a:prstGeom>
          <a:noFill/>
        </p:spPr>
        <p:txBody>
          <a:bodyPr wrap="none">
            <a:spAutoFit/>
          </a:bodyPr>
          <a:lstStyle/>
          <a:p>
            <a:pPr>
              <a:defRPr sz="829" b="1">
                <a:solidFill>
                  <a:srgbClr val="1F262E"/>
                </a:solidFill>
                <a:latin typeface="Microsoft YaHei"/>
              </a:defRPr>
            </a:pPr>
            <a:r>
              <a:t>建议改动</a:t>
            </a:r>
          </a:p>
        </p:txBody>
      </p:sp>
      <p:sp>
        <p:nvSpPr>
          <p:cNvPr id="15" name="Rectangle 14"/>
          <p:cNvSpPr/>
          <p:nvPr/>
        </p:nvSpPr>
        <p:spPr>
          <a:xfrm>
            <a:off x="502920" y="1819656"/>
            <a:ext cx="914400" cy="585216"/>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 y="1869948"/>
            <a:ext cx="841248" cy="512064"/>
          </a:xfrm>
          <a:prstGeom prst="rect">
            <a:avLst/>
          </a:prstGeom>
          <a:noFill/>
        </p:spPr>
        <p:txBody>
          <a:bodyPr wrap="none">
            <a:spAutoFit/>
          </a:bodyPr>
          <a:lstStyle/>
          <a:p>
            <a:pPr>
              <a:defRPr sz="810" b="0">
                <a:solidFill>
                  <a:srgbClr val="1F262E"/>
                </a:solidFill>
                <a:latin typeface="Microsoft YaHei"/>
              </a:defRPr>
            </a:pPr>
            <a:r>
              <a:t>gene</a:t>
            </a:r>
          </a:p>
        </p:txBody>
      </p:sp>
      <p:sp>
        <p:nvSpPr>
          <p:cNvPr id="17" name="Rectangle 16"/>
          <p:cNvSpPr/>
          <p:nvPr/>
        </p:nvSpPr>
        <p:spPr>
          <a:xfrm>
            <a:off x="1417320" y="1819656"/>
            <a:ext cx="1965960" cy="585216"/>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53896" y="1869948"/>
            <a:ext cx="1892807" cy="512064"/>
          </a:xfrm>
          <a:prstGeom prst="rect">
            <a:avLst/>
          </a:prstGeom>
          <a:noFill/>
        </p:spPr>
        <p:txBody>
          <a:bodyPr wrap="none">
            <a:spAutoFit/>
          </a:bodyPr>
          <a:lstStyle/>
          <a:p>
            <a:pPr>
              <a:defRPr sz="810" b="0">
                <a:solidFill>
                  <a:srgbClr val="1F262E"/>
                </a:solidFill>
                <a:latin typeface="Microsoft YaHei"/>
              </a:defRPr>
            </a:pPr>
            <a:r>
              <a:t>genome sequence</a:t>
            </a:r>
          </a:p>
        </p:txBody>
      </p:sp>
      <p:sp>
        <p:nvSpPr>
          <p:cNvPr id="19" name="Rectangle 18"/>
          <p:cNvSpPr/>
          <p:nvPr/>
        </p:nvSpPr>
        <p:spPr>
          <a:xfrm>
            <a:off x="3383280" y="1819656"/>
            <a:ext cx="2788920" cy="585216"/>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9856" y="1869948"/>
            <a:ext cx="2715768" cy="512064"/>
          </a:xfrm>
          <a:prstGeom prst="rect">
            <a:avLst/>
          </a:prstGeom>
          <a:noFill/>
        </p:spPr>
        <p:txBody>
          <a:bodyPr wrap="none">
            <a:spAutoFit/>
          </a:bodyPr>
          <a:lstStyle/>
          <a:p>
            <a:pPr>
              <a:defRPr sz="810" b="0">
                <a:solidFill>
                  <a:srgbClr val="1F262E"/>
                </a:solidFill>
                <a:latin typeface="Microsoft YaHei"/>
              </a:defRPr>
            </a:pPr>
            <a:r>
              <a:t>二级结构 + CM score + anticodon</a:t>
            </a:r>
          </a:p>
        </p:txBody>
      </p:sp>
      <p:sp>
        <p:nvSpPr>
          <p:cNvPr id="21" name="Rectangle 20"/>
          <p:cNvSpPr/>
          <p:nvPr/>
        </p:nvSpPr>
        <p:spPr>
          <a:xfrm>
            <a:off x="6172200" y="1819656"/>
            <a:ext cx="2423160" cy="585216"/>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08776" y="1869948"/>
            <a:ext cx="2350008" cy="512064"/>
          </a:xfrm>
          <a:prstGeom prst="rect">
            <a:avLst/>
          </a:prstGeom>
          <a:noFill/>
        </p:spPr>
        <p:txBody>
          <a:bodyPr wrap="none">
            <a:spAutoFit/>
          </a:bodyPr>
          <a:lstStyle/>
          <a:p>
            <a:pPr>
              <a:defRPr sz="810" b="0">
                <a:solidFill>
                  <a:srgbClr val="1F262E"/>
                </a:solidFill>
                <a:latin typeface="Microsoft YaHei"/>
              </a:defRPr>
            </a:pPr>
            <a:r>
              <a:t>pseudogene/tRNA-like 元件</a:t>
            </a:r>
          </a:p>
        </p:txBody>
      </p:sp>
      <p:sp>
        <p:nvSpPr>
          <p:cNvPr id="23" name="Rectangle 22"/>
          <p:cNvSpPr/>
          <p:nvPr/>
        </p:nvSpPr>
        <p:spPr>
          <a:xfrm>
            <a:off x="8595360" y="1819656"/>
            <a:ext cx="2971800" cy="585216"/>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31936" y="1869948"/>
            <a:ext cx="2898648" cy="512064"/>
          </a:xfrm>
          <a:prstGeom prst="rect">
            <a:avLst/>
          </a:prstGeom>
          <a:noFill/>
        </p:spPr>
        <p:txBody>
          <a:bodyPr wrap="none">
            <a:spAutoFit/>
          </a:bodyPr>
          <a:lstStyle/>
          <a:p>
            <a:pPr>
              <a:defRPr sz="810" b="0">
                <a:solidFill>
                  <a:srgbClr val="1F262E"/>
                </a:solidFill>
                <a:latin typeface="Microsoft YaHei"/>
              </a:defRPr>
            </a:pPr>
            <a:r>
              <a:t>加入表达证据和保守性</a:t>
            </a:r>
          </a:p>
        </p:txBody>
      </p:sp>
      <p:sp>
        <p:nvSpPr>
          <p:cNvPr id="25" name="Rectangle 24"/>
          <p:cNvSpPr/>
          <p:nvPr/>
        </p:nvSpPr>
        <p:spPr>
          <a:xfrm>
            <a:off x="502920" y="2404872"/>
            <a:ext cx="914400" cy="585216"/>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9496" y="2455164"/>
            <a:ext cx="841248" cy="512064"/>
          </a:xfrm>
          <a:prstGeom prst="rect">
            <a:avLst/>
          </a:prstGeom>
          <a:noFill/>
        </p:spPr>
        <p:txBody>
          <a:bodyPr wrap="none">
            <a:spAutoFit/>
          </a:bodyPr>
          <a:lstStyle/>
          <a:p>
            <a:pPr>
              <a:defRPr sz="810" b="0">
                <a:solidFill>
                  <a:srgbClr val="1F262E"/>
                </a:solidFill>
                <a:latin typeface="Microsoft YaHei"/>
              </a:defRPr>
            </a:pPr>
            <a:r>
              <a:t>mature tRNA</a:t>
            </a:r>
          </a:p>
        </p:txBody>
      </p:sp>
      <p:sp>
        <p:nvSpPr>
          <p:cNvPr id="27" name="Rectangle 26"/>
          <p:cNvSpPr/>
          <p:nvPr/>
        </p:nvSpPr>
        <p:spPr>
          <a:xfrm>
            <a:off x="1417320" y="2404872"/>
            <a:ext cx="1965960" cy="585216"/>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53896" y="2455164"/>
            <a:ext cx="1892807" cy="512064"/>
          </a:xfrm>
          <a:prstGeom prst="rect">
            <a:avLst/>
          </a:prstGeom>
          <a:noFill/>
        </p:spPr>
        <p:txBody>
          <a:bodyPr wrap="none">
            <a:spAutoFit/>
          </a:bodyPr>
          <a:lstStyle/>
          <a:p>
            <a:pPr>
              <a:defRPr sz="810" b="0">
                <a:solidFill>
                  <a:srgbClr val="1F262E"/>
                </a:solidFill>
                <a:latin typeface="Microsoft YaHei"/>
              </a:defRPr>
            </a:pPr>
            <a:r>
              <a:t>tRNA-seq reads</a:t>
            </a:r>
          </a:p>
        </p:txBody>
      </p:sp>
      <p:sp>
        <p:nvSpPr>
          <p:cNvPr id="29" name="Rectangle 28"/>
          <p:cNvSpPr/>
          <p:nvPr/>
        </p:nvSpPr>
        <p:spPr>
          <a:xfrm>
            <a:off x="3383280" y="2404872"/>
            <a:ext cx="2788920" cy="585216"/>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19856" y="2455164"/>
            <a:ext cx="2715768" cy="512064"/>
          </a:xfrm>
          <a:prstGeom prst="rect">
            <a:avLst/>
          </a:prstGeom>
          <a:noFill/>
        </p:spPr>
        <p:txBody>
          <a:bodyPr wrap="none">
            <a:spAutoFit/>
          </a:bodyPr>
          <a:lstStyle/>
          <a:p>
            <a:pPr>
              <a:defRPr sz="810" b="0">
                <a:solidFill>
                  <a:srgbClr val="1F262E"/>
                </a:solidFill>
                <a:latin typeface="Microsoft YaHei"/>
              </a:defRPr>
            </a:pPr>
            <a:r>
              <a:t>CCA、intron removal、isodecoder</a:t>
            </a:r>
          </a:p>
        </p:txBody>
      </p:sp>
      <p:sp>
        <p:nvSpPr>
          <p:cNvPr id="31" name="Rectangle 30"/>
          <p:cNvSpPr/>
          <p:nvPr/>
        </p:nvSpPr>
        <p:spPr>
          <a:xfrm>
            <a:off x="6172200" y="2404872"/>
            <a:ext cx="2423160" cy="585216"/>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08776" y="2455164"/>
            <a:ext cx="2350008" cy="512064"/>
          </a:xfrm>
          <a:prstGeom prst="rect">
            <a:avLst/>
          </a:prstGeom>
          <a:noFill/>
        </p:spPr>
        <p:txBody>
          <a:bodyPr wrap="none">
            <a:spAutoFit/>
          </a:bodyPr>
          <a:lstStyle/>
          <a:p>
            <a:pPr>
              <a:defRPr sz="810" b="0">
                <a:solidFill>
                  <a:srgbClr val="1F262E"/>
                </a:solidFill>
                <a:latin typeface="Microsoft YaHei"/>
              </a:defRPr>
            </a:pPr>
            <a:r>
              <a:t>多重比对、RT stop</a:t>
            </a:r>
          </a:p>
        </p:txBody>
      </p:sp>
      <p:sp>
        <p:nvSpPr>
          <p:cNvPr id="33" name="Rectangle 32"/>
          <p:cNvSpPr/>
          <p:nvPr/>
        </p:nvSpPr>
        <p:spPr>
          <a:xfrm>
            <a:off x="8595360" y="2404872"/>
            <a:ext cx="2971800" cy="585216"/>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31936" y="2455164"/>
            <a:ext cx="2898648" cy="512064"/>
          </a:xfrm>
          <a:prstGeom prst="rect">
            <a:avLst/>
          </a:prstGeom>
          <a:noFill/>
        </p:spPr>
        <p:txBody>
          <a:bodyPr wrap="none">
            <a:spAutoFit/>
          </a:bodyPr>
          <a:lstStyle/>
          <a:p>
            <a:pPr>
              <a:defRPr sz="810" b="0">
                <a:solidFill>
                  <a:srgbClr val="1F262E"/>
                </a:solidFill>
                <a:latin typeface="Microsoft YaHei"/>
              </a:defRPr>
            </a:pPr>
            <a:r>
              <a:t>概率分配 + UMI/spike-in</a:t>
            </a:r>
          </a:p>
        </p:txBody>
      </p:sp>
      <p:sp>
        <p:nvSpPr>
          <p:cNvPr id="35" name="Rectangle 34"/>
          <p:cNvSpPr/>
          <p:nvPr/>
        </p:nvSpPr>
        <p:spPr>
          <a:xfrm>
            <a:off x="502920" y="2990088"/>
            <a:ext cx="914400" cy="585216"/>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9496" y="3040380"/>
            <a:ext cx="841248" cy="512064"/>
          </a:xfrm>
          <a:prstGeom prst="rect">
            <a:avLst/>
          </a:prstGeom>
          <a:noFill/>
        </p:spPr>
        <p:txBody>
          <a:bodyPr wrap="none">
            <a:spAutoFit/>
          </a:bodyPr>
          <a:lstStyle/>
          <a:p>
            <a:pPr>
              <a:defRPr sz="810" b="0">
                <a:solidFill>
                  <a:srgbClr val="1F262E"/>
                </a:solidFill>
                <a:latin typeface="Microsoft YaHei"/>
              </a:defRPr>
            </a:pPr>
            <a:r>
              <a:t>modification</a:t>
            </a:r>
          </a:p>
        </p:txBody>
      </p:sp>
      <p:sp>
        <p:nvSpPr>
          <p:cNvPr id="37" name="Rectangle 36"/>
          <p:cNvSpPr/>
          <p:nvPr/>
        </p:nvSpPr>
        <p:spPr>
          <a:xfrm>
            <a:off x="1417320" y="2990088"/>
            <a:ext cx="1965960" cy="585216"/>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453896" y="3040380"/>
            <a:ext cx="1892807" cy="512064"/>
          </a:xfrm>
          <a:prstGeom prst="rect">
            <a:avLst/>
          </a:prstGeom>
          <a:noFill/>
        </p:spPr>
        <p:txBody>
          <a:bodyPr wrap="none">
            <a:spAutoFit/>
          </a:bodyPr>
          <a:lstStyle/>
          <a:p>
            <a:pPr>
              <a:defRPr sz="810" b="0">
                <a:solidFill>
                  <a:srgbClr val="1F262E"/>
                </a:solidFill>
                <a:latin typeface="Microsoft YaHei"/>
              </a:defRPr>
            </a:pPr>
            <a:r>
              <a:t>mismatch/stop/signal</a:t>
            </a:r>
          </a:p>
        </p:txBody>
      </p:sp>
      <p:sp>
        <p:nvSpPr>
          <p:cNvPr id="39" name="Rectangle 38"/>
          <p:cNvSpPr/>
          <p:nvPr/>
        </p:nvSpPr>
        <p:spPr>
          <a:xfrm>
            <a:off x="3383280" y="2990088"/>
            <a:ext cx="2788920" cy="585216"/>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19856" y="3040380"/>
            <a:ext cx="2715768" cy="512064"/>
          </a:xfrm>
          <a:prstGeom prst="rect">
            <a:avLst/>
          </a:prstGeom>
          <a:noFill/>
        </p:spPr>
        <p:txBody>
          <a:bodyPr wrap="none">
            <a:spAutoFit/>
          </a:bodyPr>
          <a:lstStyle/>
          <a:p>
            <a:pPr>
              <a:defRPr sz="810" b="0">
                <a:solidFill>
                  <a:srgbClr val="1F262E"/>
                </a:solidFill>
                <a:latin typeface="Microsoft YaHei"/>
              </a:defRPr>
            </a:pPr>
            <a:r>
              <a:t>位点模式与对照差异</a:t>
            </a:r>
          </a:p>
        </p:txBody>
      </p:sp>
      <p:sp>
        <p:nvSpPr>
          <p:cNvPr id="41" name="Rectangle 40"/>
          <p:cNvSpPr/>
          <p:nvPr/>
        </p:nvSpPr>
        <p:spPr>
          <a:xfrm>
            <a:off x="6172200" y="2990088"/>
            <a:ext cx="2423160" cy="585216"/>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08776" y="3040380"/>
            <a:ext cx="2350008" cy="512064"/>
          </a:xfrm>
          <a:prstGeom prst="rect">
            <a:avLst/>
          </a:prstGeom>
          <a:noFill/>
        </p:spPr>
        <p:txBody>
          <a:bodyPr wrap="none">
            <a:spAutoFit/>
          </a:bodyPr>
          <a:lstStyle/>
          <a:p>
            <a:pPr>
              <a:defRPr sz="810" b="0">
                <a:solidFill>
                  <a:srgbClr val="1F262E"/>
                </a:solidFill>
                <a:latin typeface="Microsoft YaHei"/>
              </a:defRPr>
            </a:pPr>
            <a:r>
              <a:t>未知修饰混同</a:t>
            </a:r>
          </a:p>
        </p:txBody>
      </p:sp>
      <p:sp>
        <p:nvSpPr>
          <p:cNvPr id="43" name="Rectangle 42"/>
          <p:cNvSpPr/>
          <p:nvPr/>
        </p:nvSpPr>
        <p:spPr>
          <a:xfrm>
            <a:off x="8595360" y="2990088"/>
            <a:ext cx="2971800" cy="585216"/>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31936" y="3040380"/>
            <a:ext cx="2898648" cy="512064"/>
          </a:xfrm>
          <a:prstGeom prst="rect">
            <a:avLst/>
          </a:prstGeom>
          <a:noFill/>
        </p:spPr>
        <p:txBody>
          <a:bodyPr wrap="none">
            <a:spAutoFit/>
          </a:bodyPr>
          <a:lstStyle/>
          <a:p>
            <a:pPr>
              <a:defRPr sz="810" b="0">
                <a:solidFill>
                  <a:srgbClr val="1F262E"/>
                </a:solidFill>
                <a:latin typeface="Microsoft YaHei"/>
              </a:defRPr>
            </a:pPr>
            <a:r>
              <a:t>联合酶/标准品/knockout evidence</a:t>
            </a:r>
          </a:p>
        </p:txBody>
      </p:sp>
      <p:sp>
        <p:nvSpPr>
          <p:cNvPr id="45" name="Rectangle 44"/>
          <p:cNvSpPr/>
          <p:nvPr/>
        </p:nvSpPr>
        <p:spPr>
          <a:xfrm>
            <a:off x="502920" y="3575304"/>
            <a:ext cx="914400" cy="585216"/>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9496" y="3625596"/>
            <a:ext cx="841248" cy="512064"/>
          </a:xfrm>
          <a:prstGeom prst="rect">
            <a:avLst/>
          </a:prstGeom>
          <a:noFill/>
        </p:spPr>
        <p:txBody>
          <a:bodyPr wrap="none">
            <a:spAutoFit/>
          </a:bodyPr>
          <a:lstStyle/>
          <a:p>
            <a:pPr>
              <a:defRPr sz="810" b="0">
                <a:solidFill>
                  <a:srgbClr val="1F262E"/>
                </a:solidFill>
                <a:latin typeface="Microsoft YaHei"/>
              </a:defRPr>
            </a:pPr>
            <a:r>
              <a:t>tDR</a:t>
            </a:r>
          </a:p>
        </p:txBody>
      </p:sp>
      <p:sp>
        <p:nvSpPr>
          <p:cNvPr id="47" name="Rectangle 46"/>
          <p:cNvSpPr/>
          <p:nvPr/>
        </p:nvSpPr>
        <p:spPr>
          <a:xfrm>
            <a:off x="1417320" y="3575304"/>
            <a:ext cx="1965960" cy="585216"/>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453896" y="3625596"/>
            <a:ext cx="1892807" cy="512064"/>
          </a:xfrm>
          <a:prstGeom prst="rect">
            <a:avLst/>
          </a:prstGeom>
          <a:noFill/>
        </p:spPr>
        <p:txBody>
          <a:bodyPr wrap="none">
            <a:spAutoFit/>
          </a:bodyPr>
          <a:lstStyle/>
          <a:p>
            <a:pPr>
              <a:defRPr sz="810" b="0">
                <a:solidFill>
                  <a:srgbClr val="1F262E"/>
                </a:solidFill>
                <a:latin typeface="Microsoft YaHei"/>
              </a:defRPr>
            </a:pPr>
            <a:r>
              <a:t>small RNA reads</a:t>
            </a:r>
          </a:p>
        </p:txBody>
      </p:sp>
      <p:sp>
        <p:nvSpPr>
          <p:cNvPr id="49" name="Rectangle 48"/>
          <p:cNvSpPr/>
          <p:nvPr/>
        </p:nvSpPr>
        <p:spPr>
          <a:xfrm>
            <a:off x="3383280" y="3575304"/>
            <a:ext cx="2788920" cy="585216"/>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19856" y="3625596"/>
            <a:ext cx="2715768" cy="512064"/>
          </a:xfrm>
          <a:prstGeom prst="rect">
            <a:avLst/>
          </a:prstGeom>
          <a:noFill/>
        </p:spPr>
        <p:txBody>
          <a:bodyPr wrap="none">
            <a:spAutoFit/>
          </a:bodyPr>
          <a:lstStyle/>
          <a:p>
            <a:pPr>
              <a:defRPr sz="810" b="0">
                <a:solidFill>
                  <a:srgbClr val="1F262E"/>
                </a:solidFill>
                <a:latin typeface="Microsoft YaHei"/>
              </a:defRPr>
            </a:pPr>
            <a:r>
              <a:t>fragment start/end + source tRNA</a:t>
            </a:r>
          </a:p>
        </p:txBody>
      </p:sp>
      <p:sp>
        <p:nvSpPr>
          <p:cNvPr id="51" name="Rectangle 50"/>
          <p:cNvSpPr/>
          <p:nvPr/>
        </p:nvSpPr>
        <p:spPr>
          <a:xfrm>
            <a:off x="6172200" y="3575304"/>
            <a:ext cx="2423160" cy="585216"/>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08776" y="3625596"/>
            <a:ext cx="2350008" cy="512064"/>
          </a:xfrm>
          <a:prstGeom prst="rect">
            <a:avLst/>
          </a:prstGeom>
          <a:noFill/>
        </p:spPr>
        <p:txBody>
          <a:bodyPr wrap="none">
            <a:spAutoFit/>
          </a:bodyPr>
          <a:lstStyle/>
          <a:p>
            <a:pPr>
              <a:defRPr sz="810" b="0">
                <a:solidFill>
                  <a:srgbClr val="1F262E"/>
                </a:solidFill>
                <a:latin typeface="Microsoft YaHei"/>
              </a:defRPr>
            </a:pPr>
            <a:r>
              <a:t>同源 tRNA 来源不唯一</a:t>
            </a:r>
          </a:p>
        </p:txBody>
      </p:sp>
      <p:sp>
        <p:nvSpPr>
          <p:cNvPr id="53" name="Rectangle 52"/>
          <p:cNvSpPr/>
          <p:nvPr/>
        </p:nvSpPr>
        <p:spPr>
          <a:xfrm>
            <a:off x="8595360" y="3575304"/>
            <a:ext cx="2971800" cy="585216"/>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31936" y="3625596"/>
            <a:ext cx="2898648" cy="512064"/>
          </a:xfrm>
          <a:prstGeom prst="rect">
            <a:avLst/>
          </a:prstGeom>
          <a:noFill/>
        </p:spPr>
        <p:txBody>
          <a:bodyPr wrap="none">
            <a:spAutoFit/>
          </a:bodyPr>
          <a:lstStyle/>
          <a:p>
            <a:pPr>
              <a:defRPr sz="810" b="0">
                <a:solidFill>
                  <a:srgbClr val="1F262E"/>
                </a:solidFill>
                <a:latin typeface="Microsoft YaHei"/>
              </a:defRPr>
            </a:pPr>
            <a:r>
              <a:t>tDRnamer + uncertainty-aware counts</a:t>
            </a:r>
          </a:p>
        </p:txBody>
      </p:sp>
      <p:sp>
        <p:nvSpPr>
          <p:cNvPr id="55" name="Rounded Rectangle 54"/>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tRNA 工具的“识别”本质上是层级归因，最佳实践是输出层级置信度而非单一标签。</a:t>
            </a:r>
          </a:p>
        </p:txBody>
      </p:sp>
      <p:sp>
        <p:nvSpPr>
          <p:cNvPr id="57" name="TextBox 56"/>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34417604: tRNAscan-SE 2.0: improved detection and functional classification of transfer RNA genes | PMID 32796835: Quantitative tRNA-sequencing uncovers metazoan tissue-specific tRNA regulation. | PMID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差异分析：不同读出需要不同统计模型</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15568"/>
            <a:ext cx="1828800" cy="530352"/>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 y="1165860"/>
            <a:ext cx="1755648" cy="457199"/>
          </a:xfrm>
          <a:prstGeom prst="rect">
            <a:avLst/>
          </a:prstGeom>
          <a:noFill/>
        </p:spPr>
        <p:txBody>
          <a:bodyPr wrap="none">
            <a:spAutoFit/>
          </a:bodyPr>
          <a:lstStyle/>
          <a:p>
            <a:pPr>
              <a:defRPr sz="800" b="1">
                <a:solidFill>
                  <a:srgbClr val="1F262E"/>
                </a:solidFill>
                <a:latin typeface="Microsoft YaHei"/>
              </a:defRPr>
            </a:pPr>
            <a:r>
              <a:t>读出</a:t>
            </a:r>
          </a:p>
        </p:txBody>
      </p:sp>
      <p:sp>
        <p:nvSpPr>
          <p:cNvPr id="7" name="Rectangle 6"/>
          <p:cNvSpPr/>
          <p:nvPr/>
        </p:nvSpPr>
        <p:spPr>
          <a:xfrm>
            <a:off x="2286000" y="1115568"/>
            <a:ext cx="2971800" cy="530352"/>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22576" y="1165860"/>
            <a:ext cx="2898648" cy="457199"/>
          </a:xfrm>
          <a:prstGeom prst="rect">
            <a:avLst/>
          </a:prstGeom>
          <a:noFill/>
        </p:spPr>
        <p:txBody>
          <a:bodyPr wrap="none">
            <a:spAutoFit/>
          </a:bodyPr>
          <a:lstStyle/>
          <a:p>
            <a:pPr>
              <a:defRPr sz="800" b="1">
                <a:solidFill>
                  <a:srgbClr val="1F262E"/>
                </a:solidFill>
                <a:latin typeface="Microsoft YaHei"/>
              </a:defRPr>
            </a:pPr>
            <a:r>
              <a:t>推荐比较单位</a:t>
            </a:r>
          </a:p>
        </p:txBody>
      </p:sp>
      <p:sp>
        <p:nvSpPr>
          <p:cNvPr id="9" name="Rectangle 8"/>
          <p:cNvSpPr/>
          <p:nvPr/>
        </p:nvSpPr>
        <p:spPr>
          <a:xfrm>
            <a:off x="5257800" y="1115568"/>
            <a:ext cx="3063240" cy="530352"/>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94376" y="1165860"/>
            <a:ext cx="2990088" cy="457199"/>
          </a:xfrm>
          <a:prstGeom prst="rect">
            <a:avLst/>
          </a:prstGeom>
          <a:noFill/>
        </p:spPr>
        <p:txBody>
          <a:bodyPr wrap="none">
            <a:spAutoFit/>
          </a:bodyPr>
          <a:lstStyle/>
          <a:p>
            <a:pPr>
              <a:defRPr sz="800" b="1">
                <a:solidFill>
                  <a:srgbClr val="1F262E"/>
                </a:solidFill>
                <a:latin typeface="Microsoft YaHei"/>
              </a:defRPr>
            </a:pPr>
            <a:r>
              <a:t>统计模型</a:t>
            </a:r>
          </a:p>
        </p:txBody>
      </p:sp>
      <p:sp>
        <p:nvSpPr>
          <p:cNvPr id="11" name="Rectangle 10"/>
          <p:cNvSpPr/>
          <p:nvPr/>
        </p:nvSpPr>
        <p:spPr>
          <a:xfrm>
            <a:off x="8321040" y="1115568"/>
            <a:ext cx="3063240" cy="530352"/>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7615" y="1165860"/>
            <a:ext cx="2990088" cy="457199"/>
          </a:xfrm>
          <a:prstGeom prst="rect">
            <a:avLst/>
          </a:prstGeom>
          <a:noFill/>
        </p:spPr>
        <p:txBody>
          <a:bodyPr wrap="none">
            <a:spAutoFit/>
          </a:bodyPr>
          <a:lstStyle/>
          <a:p>
            <a:pPr>
              <a:defRPr sz="800" b="1">
                <a:solidFill>
                  <a:srgbClr val="1F262E"/>
                </a:solidFill>
                <a:latin typeface="Microsoft YaHei"/>
              </a:defRPr>
            </a:pPr>
            <a:r>
              <a:t>必须控制</a:t>
            </a:r>
          </a:p>
        </p:txBody>
      </p:sp>
      <p:sp>
        <p:nvSpPr>
          <p:cNvPr id="13" name="Rectangle 12"/>
          <p:cNvSpPr/>
          <p:nvPr/>
        </p:nvSpPr>
        <p:spPr>
          <a:xfrm>
            <a:off x="457200" y="1645919"/>
            <a:ext cx="182880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1696211"/>
            <a:ext cx="1755648" cy="457199"/>
          </a:xfrm>
          <a:prstGeom prst="rect">
            <a:avLst/>
          </a:prstGeom>
          <a:noFill/>
        </p:spPr>
        <p:txBody>
          <a:bodyPr wrap="none">
            <a:spAutoFit/>
          </a:bodyPr>
          <a:lstStyle/>
          <a:p>
            <a:pPr>
              <a:defRPr sz="780" b="0">
                <a:solidFill>
                  <a:srgbClr val="1F262E"/>
                </a:solidFill>
                <a:latin typeface="Microsoft YaHei"/>
              </a:defRPr>
            </a:pPr>
            <a:r>
              <a:t>abundance</a:t>
            </a:r>
          </a:p>
        </p:txBody>
      </p:sp>
      <p:sp>
        <p:nvSpPr>
          <p:cNvPr id="15" name="Rectangle 14"/>
          <p:cNvSpPr/>
          <p:nvPr/>
        </p:nvSpPr>
        <p:spPr>
          <a:xfrm>
            <a:off x="2286000" y="1645919"/>
            <a:ext cx="297180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22576" y="1696211"/>
            <a:ext cx="2898648" cy="457199"/>
          </a:xfrm>
          <a:prstGeom prst="rect">
            <a:avLst/>
          </a:prstGeom>
          <a:noFill/>
        </p:spPr>
        <p:txBody>
          <a:bodyPr wrap="none">
            <a:spAutoFit/>
          </a:bodyPr>
          <a:lstStyle/>
          <a:p>
            <a:pPr>
              <a:defRPr sz="780" b="0">
                <a:solidFill>
                  <a:srgbClr val="1F262E"/>
                </a:solidFill>
                <a:latin typeface="Microsoft YaHei"/>
              </a:defRPr>
            </a:pPr>
            <a:r>
              <a:t>gene/isodecoder/isotype/anticodon</a:t>
            </a:r>
          </a:p>
        </p:txBody>
      </p:sp>
      <p:sp>
        <p:nvSpPr>
          <p:cNvPr id="17" name="Rectangle 16"/>
          <p:cNvSpPr/>
          <p:nvPr/>
        </p:nvSpPr>
        <p:spPr>
          <a:xfrm>
            <a:off x="5257800" y="1645919"/>
            <a:ext cx="306324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94376" y="1696211"/>
            <a:ext cx="2990088" cy="457199"/>
          </a:xfrm>
          <a:prstGeom prst="rect">
            <a:avLst/>
          </a:prstGeom>
          <a:noFill/>
        </p:spPr>
        <p:txBody>
          <a:bodyPr wrap="none">
            <a:spAutoFit/>
          </a:bodyPr>
          <a:lstStyle/>
          <a:p>
            <a:pPr>
              <a:defRPr sz="780" b="0">
                <a:solidFill>
                  <a:srgbClr val="1F262E"/>
                </a:solidFill>
                <a:latin typeface="Microsoft YaHei"/>
              </a:defRPr>
            </a:pPr>
            <a:r>
              <a:t>negative binomial 或 compositional model</a:t>
            </a:r>
          </a:p>
        </p:txBody>
      </p:sp>
      <p:sp>
        <p:nvSpPr>
          <p:cNvPr id="19" name="Rectangle 18"/>
          <p:cNvSpPr/>
          <p:nvPr/>
        </p:nvSpPr>
        <p:spPr>
          <a:xfrm>
            <a:off x="8321040" y="1645919"/>
            <a:ext cx="306324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7615" y="1696211"/>
            <a:ext cx="2990088" cy="457199"/>
          </a:xfrm>
          <a:prstGeom prst="rect">
            <a:avLst/>
          </a:prstGeom>
          <a:noFill/>
        </p:spPr>
        <p:txBody>
          <a:bodyPr wrap="none">
            <a:spAutoFit/>
          </a:bodyPr>
          <a:lstStyle/>
          <a:p>
            <a:pPr>
              <a:defRPr sz="780" b="0">
                <a:solidFill>
                  <a:srgbClr val="1F262E"/>
                </a:solidFill>
                <a:latin typeface="Microsoft YaHei"/>
              </a:defRPr>
            </a:pPr>
            <a:r>
              <a:t>library size、spike-in、multi-mapping</a:t>
            </a:r>
          </a:p>
        </p:txBody>
      </p:sp>
      <p:sp>
        <p:nvSpPr>
          <p:cNvPr id="21" name="Rectangle 20"/>
          <p:cNvSpPr/>
          <p:nvPr/>
        </p:nvSpPr>
        <p:spPr>
          <a:xfrm>
            <a:off x="457200" y="2176272"/>
            <a:ext cx="182880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2226564"/>
            <a:ext cx="1755648" cy="457199"/>
          </a:xfrm>
          <a:prstGeom prst="rect">
            <a:avLst/>
          </a:prstGeom>
          <a:noFill/>
        </p:spPr>
        <p:txBody>
          <a:bodyPr wrap="none">
            <a:spAutoFit/>
          </a:bodyPr>
          <a:lstStyle/>
          <a:p>
            <a:pPr>
              <a:defRPr sz="780" b="0">
                <a:solidFill>
                  <a:srgbClr val="1F262E"/>
                </a:solidFill>
                <a:latin typeface="Microsoft YaHei"/>
              </a:defRPr>
            </a:pPr>
            <a:r>
              <a:t>modification fraction</a:t>
            </a:r>
          </a:p>
        </p:txBody>
      </p:sp>
      <p:sp>
        <p:nvSpPr>
          <p:cNvPr id="23" name="Rectangle 22"/>
          <p:cNvSpPr/>
          <p:nvPr/>
        </p:nvSpPr>
        <p:spPr>
          <a:xfrm>
            <a:off x="2286000" y="2176272"/>
            <a:ext cx="297180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22576" y="2226564"/>
            <a:ext cx="2898648" cy="457199"/>
          </a:xfrm>
          <a:prstGeom prst="rect">
            <a:avLst/>
          </a:prstGeom>
          <a:noFill/>
        </p:spPr>
        <p:txBody>
          <a:bodyPr wrap="none">
            <a:spAutoFit/>
          </a:bodyPr>
          <a:lstStyle/>
          <a:p>
            <a:pPr>
              <a:defRPr sz="780" b="0">
                <a:solidFill>
                  <a:srgbClr val="1F262E"/>
                </a:solidFill>
                <a:latin typeface="Microsoft YaHei"/>
              </a:defRPr>
            </a:pPr>
            <a:r>
              <a:t>site × tRNA family</a:t>
            </a:r>
          </a:p>
        </p:txBody>
      </p:sp>
      <p:sp>
        <p:nvSpPr>
          <p:cNvPr id="25" name="Rectangle 24"/>
          <p:cNvSpPr/>
          <p:nvPr/>
        </p:nvSpPr>
        <p:spPr>
          <a:xfrm>
            <a:off x="5257800" y="2176272"/>
            <a:ext cx="306324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94376" y="2226564"/>
            <a:ext cx="2990088" cy="457199"/>
          </a:xfrm>
          <a:prstGeom prst="rect">
            <a:avLst/>
          </a:prstGeom>
          <a:noFill/>
        </p:spPr>
        <p:txBody>
          <a:bodyPr wrap="none">
            <a:spAutoFit/>
          </a:bodyPr>
          <a:lstStyle/>
          <a:p>
            <a:pPr>
              <a:defRPr sz="780" b="0">
                <a:solidFill>
                  <a:srgbClr val="1F262E"/>
                </a:solidFill>
                <a:latin typeface="Microsoft YaHei"/>
              </a:defRPr>
            </a:pPr>
            <a:r>
              <a:t>beta-binomial/logistic mixed model</a:t>
            </a:r>
          </a:p>
        </p:txBody>
      </p:sp>
      <p:sp>
        <p:nvSpPr>
          <p:cNvPr id="27" name="Rectangle 26"/>
          <p:cNvSpPr/>
          <p:nvPr/>
        </p:nvSpPr>
        <p:spPr>
          <a:xfrm>
            <a:off x="8321040" y="2176272"/>
            <a:ext cx="306324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57615" y="2226564"/>
            <a:ext cx="2990088" cy="457199"/>
          </a:xfrm>
          <a:prstGeom prst="rect">
            <a:avLst/>
          </a:prstGeom>
          <a:noFill/>
        </p:spPr>
        <p:txBody>
          <a:bodyPr wrap="none">
            <a:spAutoFit/>
          </a:bodyPr>
          <a:lstStyle/>
          <a:p>
            <a:pPr>
              <a:defRPr sz="780" b="0">
                <a:solidFill>
                  <a:srgbClr val="1F262E"/>
                </a:solidFill>
                <a:latin typeface="Microsoft YaHei"/>
              </a:defRPr>
            </a:pPr>
            <a:r>
              <a:t>coverage、RT enzyme、batch、neighbor sequence</a:t>
            </a:r>
          </a:p>
        </p:txBody>
      </p:sp>
      <p:sp>
        <p:nvSpPr>
          <p:cNvPr id="29" name="Rectangle 28"/>
          <p:cNvSpPr/>
          <p:nvPr/>
        </p:nvSpPr>
        <p:spPr>
          <a:xfrm>
            <a:off x="457200" y="2706624"/>
            <a:ext cx="182880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 y="2756916"/>
            <a:ext cx="1755648" cy="457199"/>
          </a:xfrm>
          <a:prstGeom prst="rect">
            <a:avLst/>
          </a:prstGeom>
          <a:noFill/>
        </p:spPr>
        <p:txBody>
          <a:bodyPr wrap="none">
            <a:spAutoFit/>
          </a:bodyPr>
          <a:lstStyle/>
          <a:p>
            <a:pPr>
              <a:defRPr sz="780" b="0">
                <a:solidFill>
                  <a:srgbClr val="1F262E"/>
                </a:solidFill>
                <a:latin typeface="Microsoft YaHei"/>
              </a:defRPr>
            </a:pPr>
            <a:r>
              <a:t>nanopore signal</a:t>
            </a:r>
          </a:p>
        </p:txBody>
      </p:sp>
      <p:sp>
        <p:nvSpPr>
          <p:cNvPr id="31" name="Rectangle 30"/>
          <p:cNvSpPr/>
          <p:nvPr/>
        </p:nvSpPr>
        <p:spPr>
          <a:xfrm>
            <a:off x="2286000" y="2706624"/>
            <a:ext cx="297180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22576" y="2756916"/>
            <a:ext cx="2898648" cy="457199"/>
          </a:xfrm>
          <a:prstGeom prst="rect">
            <a:avLst/>
          </a:prstGeom>
          <a:noFill/>
        </p:spPr>
        <p:txBody>
          <a:bodyPr wrap="none">
            <a:spAutoFit/>
          </a:bodyPr>
          <a:lstStyle/>
          <a:p>
            <a:pPr>
              <a:defRPr sz="780" b="0">
                <a:solidFill>
                  <a:srgbClr val="1F262E"/>
                </a:solidFill>
                <a:latin typeface="Microsoft YaHei"/>
              </a:defRPr>
            </a:pPr>
            <a:r>
              <a:t>event/site-level feature</a:t>
            </a:r>
          </a:p>
        </p:txBody>
      </p:sp>
      <p:sp>
        <p:nvSpPr>
          <p:cNvPr id="33" name="Rectangle 32"/>
          <p:cNvSpPr/>
          <p:nvPr/>
        </p:nvSpPr>
        <p:spPr>
          <a:xfrm>
            <a:off x="5257800" y="2706624"/>
            <a:ext cx="306324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94376" y="2756916"/>
            <a:ext cx="2990088" cy="457199"/>
          </a:xfrm>
          <a:prstGeom prst="rect">
            <a:avLst/>
          </a:prstGeom>
          <a:noFill/>
        </p:spPr>
        <p:txBody>
          <a:bodyPr wrap="none">
            <a:spAutoFit/>
          </a:bodyPr>
          <a:lstStyle/>
          <a:p>
            <a:pPr>
              <a:defRPr sz="780" b="0">
                <a:solidFill>
                  <a:srgbClr val="1F262E"/>
                </a:solidFill>
                <a:latin typeface="Microsoft YaHei"/>
              </a:defRPr>
            </a:pPr>
            <a:r>
              <a:t>supervised ML + calibration curve</a:t>
            </a:r>
          </a:p>
        </p:txBody>
      </p:sp>
      <p:sp>
        <p:nvSpPr>
          <p:cNvPr id="35" name="Rectangle 34"/>
          <p:cNvSpPr/>
          <p:nvPr/>
        </p:nvSpPr>
        <p:spPr>
          <a:xfrm>
            <a:off x="8321040" y="2706624"/>
            <a:ext cx="306324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57615" y="2756916"/>
            <a:ext cx="2990088" cy="457199"/>
          </a:xfrm>
          <a:prstGeom prst="rect">
            <a:avLst/>
          </a:prstGeom>
          <a:noFill/>
        </p:spPr>
        <p:txBody>
          <a:bodyPr wrap="none">
            <a:spAutoFit/>
          </a:bodyPr>
          <a:lstStyle/>
          <a:p>
            <a:pPr>
              <a:defRPr sz="780" b="0">
                <a:solidFill>
                  <a:srgbClr val="1F262E"/>
                </a:solidFill>
                <a:latin typeface="Microsoft YaHei"/>
              </a:defRPr>
            </a:pPr>
            <a:r>
              <a:t>basecaller、motor、adapter、training domain</a:t>
            </a:r>
          </a:p>
        </p:txBody>
      </p:sp>
      <p:sp>
        <p:nvSpPr>
          <p:cNvPr id="37" name="Rectangle 36"/>
          <p:cNvSpPr/>
          <p:nvPr/>
        </p:nvSpPr>
        <p:spPr>
          <a:xfrm>
            <a:off x="457200" y="3236976"/>
            <a:ext cx="182880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 y="3287268"/>
            <a:ext cx="1755648" cy="457199"/>
          </a:xfrm>
          <a:prstGeom prst="rect">
            <a:avLst/>
          </a:prstGeom>
          <a:noFill/>
        </p:spPr>
        <p:txBody>
          <a:bodyPr wrap="none">
            <a:spAutoFit/>
          </a:bodyPr>
          <a:lstStyle/>
          <a:p>
            <a:pPr>
              <a:defRPr sz="780" b="0">
                <a:solidFill>
                  <a:srgbClr val="1F262E"/>
                </a:solidFill>
                <a:latin typeface="Microsoft YaHei"/>
              </a:defRPr>
            </a:pPr>
            <a:r>
              <a:t>DMS reactivity</a:t>
            </a:r>
          </a:p>
        </p:txBody>
      </p:sp>
      <p:sp>
        <p:nvSpPr>
          <p:cNvPr id="39" name="Rectangle 38"/>
          <p:cNvSpPr/>
          <p:nvPr/>
        </p:nvSpPr>
        <p:spPr>
          <a:xfrm>
            <a:off x="2286000" y="3236976"/>
            <a:ext cx="297180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22576" y="3287268"/>
            <a:ext cx="2898648" cy="457199"/>
          </a:xfrm>
          <a:prstGeom prst="rect">
            <a:avLst/>
          </a:prstGeom>
          <a:noFill/>
        </p:spPr>
        <p:txBody>
          <a:bodyPr wrap="none">
            <a:spAutoFit/>
          </a:bodyPr>
          <a:lstStyle/>
          <a:p>
            <a:pPr>
              <a:defRPr sz="780" b="0">
                <a:solidFill>
                  <a:srgbClr val="1F262E"/>
                </a:solidFill>
                <a:latin typeface="Microsoft YaHei"/>
              </a:defRPr>
            </a:pPr>
            <a:r>
              <a:t>position-level reactivity</a:t>
            </a:r>
          </a:p>
        </p:txBody>
      </p:sp>
      <p:sp>
        <p:nvSpPr>
          <p:cNvPr id="41" name="Rectangle 40"/>
          <p:cNvSpPr/>
          <p:nvPr/>
        </p:nvSpPr>
        <p:spPr>
          <a:xfrm>
            <a:off x="5257800" y="3236976"/>
            <a:ext cx="306324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94376" y="3287268"/>
            <a:ext cx="2990088" cy="457199"/>
          </a:xfrm>
          <a:prstGeom prst="rect">
            <a:avLst/>
          </a:prstGeom>
          <a:noFill/>
        </p:spPr>
        <p:txBody>
          <a:bodyPr wrap="none">
            <a:spAutoFit/>
          </a:bodyPr>
          <a:lstStyle/>
          <a:p>
            <a:pPr>
              <a:defRPr sz="780" b="0">
                <a:solidFill>
                  <a:srgbClr val="1F262E"/>
                </a:solidFill>
                <a:latin typeface="Microsoft YaHei"/>
              </a:defRPr>
            </a:pPr>
            <a:r>
              <a:t>paired differential reactivity model</a:t>
            </a:r>
          </a:p>
        </p:txBody>
      </p:sp>
      <p:sp>
        <p:nvSpPr>
          <p:cNvPr id="43" name="Rectangle 42"/>
          <p:cNvSpPr/>
          <p:nvPr/>
        </p:nvSpPr>
        <p:spPr>
          <a:xfrm>
            <a:off x="8321040" y="3236976"/>
            <a:ext cx="306324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57615" y="3287268"/>
            <a:ext cx="2990088" cy="457199"/>
          </a:xfrm>
          <a:prstGeom prst="rect">
            <a:avLst/>
          </a:prstGeom>
          <a:noFill/>
        </p:spPr>
        <p:txBody>
          <a:bodyPr wrap="none">
            <a:spAutoFit/>
          </a:bodyPr>
          <a:lstStyle/>
          <a:p>
            <a:pPr>
              <a:defRPr sz="780" b="0">
                <a:solidFill>
                  <a:srgbClr val="1F262E"/>
                </a:solidFill>
                <a:latin typeface="Microsoft YaHei"/>
              </a:defRPr>
            </a:pPr>
            <a:r>
              <a:t>in vitro baseline、protein protection、structure context</a:t>
            </a:r>
          </a:p>
        </p:txBody>
      </p:sp>
      <p:sp>
        <p:nvSpPr>
          <p:cNvPr id="45" name="Rectangle 44"/>
          <p:cNvSpPr/>
          <p:nvPr/>
        </p:nvSpPr>
        <p:spPr>
          <a:xfrm>
            <a:off x="457200" y="3767328"/>
            <a:ext cx="182880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3776" y="3817620"/>
            <a:ext cx="1755648" cy="457199"/>
          </a:xfrm>
          <a:prstGeom prst="rect">
            <a:avLst/>
          </a:prstGeom>
          <a:noFill/>
        </p:spPr>
        <p:txBody>
          <a:bodyPr wrap="none">
            <a:spAutoFit/>
          </a:bodyPr>
          <a:lstStyle/>
          <a:p>
            <a:pPr>
              <a:defRPr sz="780" b="0">
                <a:solidFill>
                  <a:srgbClr val="1F262E"/>
                </a:solidFill>
                <a:latin typeface="Microsoft YaHei"/>
              </a:defRPr>
            </a:pPr>
            <a:r>
              <a:t>charging</a:t>
            </a:r>
          </a:p>
        </p:txBody>
      </p:sp>
      <p:sp>
        <p:nvSpPr>
          <p:cNvPr id="47" name="Rectangle 46"/>
          <p:cNvSpPr/>
          <p:nvPr/>
        </p:nvSpPr>
        <p:spPr>
          <a:xfrm>
            <a:off x="2286000" y="3767328"/>
            <a:ext cx="297180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22576" y="3817620"/>
            <a:ext cx="2898648" cy="457199"/>
          </a:xfrm>
          <a:prstGeom prst="rect">
            <a:avLst/>
          </a:prstGeom>
          <a:noFill/>
        </p:spPr>
        <p:txBody>
          <a:bodyPr wrap="none">
            <a:spAutoFit/>
          </a:bodyPr>
          <a:lstStyle/>
          <a:p>
            <a:pPr>
              <a:defRPr sz="780" b="0">
                <a:solidFill>
                  <a:srgbClr val="1F262E"/>
                </a:solidFill>
                <a:latin typeface="Microsoft YaHei"/>
              </a:defRPr>
            </a:pPr>
            <a:r>
              <a:t>amino acid identity/ratio</a:t>
            </a:r>
          </a:p>
        </p:txBody>
      </p:sp>
      <p:sp>
        <p:nvSpPr>
          <p:cNvPr id="49" name="Rectangle 48"/>
          <p:cNvSpPr/>
          <p:nvPr/>
        </p:nvSpPr>
        <p:spPr>
          <a:xfrm>
            <a:off x="5257800" y="3767328"/>
            <a:ext cx="306324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94376" y="3817620"/>
            <a:ext cx="2990088" cy="457199"/>
          </a:xfrm>
          <a:prstGeom prst="rect">
            <a:avLst/>
          </a:prstGeom>
          <a:noFill/>
        </p:spPr>
        <p:txBody>
          <a:bodyPr wrap="none">
            <a:spAutoFit/>
          </a:bodyPr>
          <a:lstStyle/>
          <a:p>
            <a:pPr>
              <a:defRPr sz="780" b="0">
                <a:solidFill>
                  <a:srgbClr val="1F262E"/>
                </a:solidFill>
                <a:latin typeface="Microsoft YaHei"/>
              </a:defRPr>
            </a:pPr>
            <a:r>
              <a:t>classifier probability + hierarchical model</a:t>
            </a:r>
          </a:p>
        </p:txBody>
      </p:sp>
      <p:sp>
        <p:nvSpPr>
          <p:cNvPr id="51" name="Rectangle 50"/>
          <p:cNvSpPr/>
          <p:nvPr/>
        </p:nvSpPr>
        <p:spPr>
          <a:xfrm>
            <a:off x="8321040" y="3767328"/>
            <a:ext cx="3063240" cy="530352"/>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57615" y="3817620"/>
            <a:ext cx="2990088" cy="457199"/>
          </a:xfrm>
          <a:prstGeom prst="rect">
            <a:avLst/>
          </a:prstGeom>
          <a:noFill/>
        </p:spPr>
        <p:txBody>
          <a:bodyPr wrap="none">
            <a:spAutoFit/>
          </a:bodyPr>
          <a:lstStyle/>
          <a:p>
            <a:pPr>
              <a:defRPr sz="780" b="0">
                <a:solidFill>
                  <a:srgbClr val="1F262E"/>
                </a:solidFill>
                <a:latin typeface="Microsoft YaHei"/>
              </a:defRPr>
            </a:pPr>
            <a:r>
              <a:t>chemical ligation efficiency、class imbalance</a:t>
            </a:r>
          </a:p>
        </p:txBody>
      </p:sp>
      <p:sp>
        <p:nvSpPr>
          <p:cNvPr id="53" name="Rectangle 52"/>
          <p:cNvSpPr/>
          <p:nvPr/>
        </p:nvSpPr>
        <p:spPr>
          <a:xfrm>
            <a:off x="457200" y="4297679"/>
            <a:ext cx="182880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93776" y="4347971"/>
            <a:ext cx="1755648" cy="457199"/>
          </a:xfrm>
          <a:prstGeom prst="rect">
            <a:avLst/>
          </a:prstGeom>
          <a:noFill/>
        </p:spPr>
        <p:txBody>
          <a:bodyPr wrap="none">
            <a:spAutoFit/>
          </a:bodyPr>
          <a:lstStyle/>
          <a:p>
            <a:pPr>
              <a:defRPr sz="780" b="0">
                <a:solidFill>
                  <a:srgbClr val="1F262E"/>
                </a:solidFill>
                <a:latin typeface="Microsoft YaHei"/>
              </a:defRPr>
            </a:pPr>
            <a:r>
              <a:t>tDR</a:t>
            </a:r>
          </a:p>
        </p:txBody>
      </p:sp>
      <p:sp>
        <p:nvSpPr>
          <p:cNvPr id="55" name="Rectangle 54"/>
          <p:cNvSpPr/>
          <p:nvPr/>
        </p:nvSpPr>
        <p:spPr>
          <a:xfrm>
            <a:off x="2286000" y="4297679"/>
            <a:ext cx="297180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322576" y="4347971"/>
            <a:ext cx="2898648" cy="457199"/>
          </a:xfrm>
          <a:prstGeom prst="rect">
            <a:avLst/>
          </a:prstGeom>
          <a:noFill/>
        </p:spPr>
        <p:txBody>
          <a:bodyPr wrap="none">
            <a:spAutoFit/>
          </a:bodyPr>
          <a:lstStyle/>
          <a:p>
            <a:pPr>
              <a:defRPr sz="780" b="0">
                <a:solidFill>
                  <a:srgbClr val="1F262E"/>
                </a:solidFill>
                <a:latin typeface="Microsoft YaHei"/>
              </a:defRPr>
            </a:pPr>
            <a:r>
              <a:t>fragment class/name</a:t>
            </a:r>
          </a:p>
        </p:txBody>
      </p:sp>
      <p:sp>
        <p:nvSpPr>
          <p:cNvPr id="57" name="Rectangle 56"/>
          <p:cNvSpPr/>
          <p:nvPr/>
        </p:nvSpPr>
        <p:spPr>
          <a:xfrm>
            <a:off x="5257800" y="4297679"/>
            <a:ext cx="306324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294376" y="4347971"/>
            <a:ext cx="2990088" cy="457199"/>
          </a:xfrm>
          <a:prstGeom prst="rect">
            <a:avLst/>
          </a:prstGeom>
          <a:noFill/>
        </p:spPr>
        <p:txBody>
          <a:bodyPr wrap="none">
            <a:spAutoFit/>
          </a:bodyPr>
          <a:lstStyle/>
          <a:p>
            <a:pPr>
              <a:defRPr sz="780" b="0">
                <a:solidFill>
                  <a:srgbClr val="1F262E"/>
                </a:solidFill>
                <a:latin typeface="Microsoft YaHei"/>
              </a:defRPr>
            </a:pPr>
            <a:r>
              <a:t>small RNA DE + origin uncertainty</a:t>
            </a:r>
          </a:p>
        </p:txBody>
      </p:sp>
      <p:sp>
        <p:nvSpPr>
          <p:cNvPr id="59" name="Rectangle 58"/>
          <p:cNvSpPr/>
          <p:nvPr/>
        </p:nvSpPr>
        <p:spPr>
          <a:xfrm>
            <a:off x="8321040" y="4297679"/>
            <a:ext cx="3063240" cy="530352"/>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357615" y="4347971"/>
            <a:ext cx="2990088" cy="457199"/>
          </a:xfrm>
          <a:prstGeom prst="rect">
            <a:avLst/>
          </a:prstGeom>
          <a:noFill/>
        </p:spPr>
        <p:txBody>
          <a:bodyPr wrap="none">
            <a:spAutoFit/>
          </a:bodyPr>
          <a:lstStyle/>
          <a:p>
            <a:pPr>
              <a:defRPr sz="780" b="0">
                <a:solidFill>
                  <a:srgbClr val="1F262E"/>
                </a:solidFill>
                <a:latin typeface="Microsoft YaHei"/>
              </a:defRPr>
            </a:pPr>
            <a:r>
              <a:t>length bias、3' block、multi-origin reads</a:t>
            </a:r>
          </a:p>
        </p:txBody>
      </p:sp>
      <p:sp>
        <p:nvSpPr>
          <p:cNvPr id="61" name="Rounded Rectangle 60"/>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把所有信号都塞进同一个 counts 表会掩盖机制；应按读出类型分层建模，再综合解释。</a:t>
            </a:r>
          </a:p>
        </p:txBody>
      </p:sp>
      <p:sp>
        <p:nvSpPr>
          <p:cNvPr id="63" name="TextBox 62"/>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32796835: Quantitative tRNA-sequencing uncovers metazoan tissue-specific tRNA regulation. | PMID 33581077: High-resolution quantitative profiling of tRNA abundance and modification status in eukaryotes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主线工具横向比较</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987552"/>
            <a:ext cx="1600200" cy="502920"/>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3" y="1037844"/>
            <a:ext cx="1527048" cy="429768"/>
          </a:xfrm>
          <a:prstGeom prst="rect">
            <a:avLst/>
          </a:prstGeom>
          <a:noFill/>
        </p:spPr>
        <p:txBody>
          <a:bodyPr wrap="none">
            <a:spAutoFit/>
          </a:bodyPr>
          <a:lstStyle/>
          <a:p>
            <a:pPr>
              <a:defRPr sz="730" b="1">
                <a:solidFill>
                  <a:srgbClr val="1F262E"/>
                </a:solidFill>
                <a:latin typeface="Microsoft YaHei"/>
              </a:defRPr>
            </a:pPr>
            <a:r>
              <a:t>工具/方法</a:t>
            </a:r>
          </a:p>
        </p:txBody>
      </p:sp>
      <p:sp>
        <p:nvSpPr>
          <p:cNvPr id="7" name="Rectangle 6"/>
          <p:cNvSpPr/>
          <p:nvPr/>
        </p:nvSpPr>
        <p:spPr>
          <a:xfrm>
            <a:off x="1984248" y="987552"/>
            <a:ext cx="1965960" cy="502920"/>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20824" y="1037844"/>
            <a:ext cx="1892807" cy="429768"/>
          </a:xfrm>
          <a:prstGeom prst="rect">
            <a:avLst/>
          </a:prstGeom>
          <a:noFill/>
        </p:spPr>
        <p:txBody>
          <a:bodyPr wrap="none">
            <a:spAutoFit/>
          </a:bodyPr>
          <a:lstStyle/>
          <a:p>
            <a:pPr>
              <a:defRPr sz="730" b="1">
                <a:solidFill>
                  <a:srgbClr val="1F262E"/>
                </a:solidFill>
                <a:latin typeface="Microsoft YaHei"/>
              </a:defRPr>
            </a:pPr>
            <a:r>
              <a:t>主要对象</a:t>
            </a:r>
          </a:p>
        </p:txBody>
      </p:sp>
      <p:sp>
        <p:nvSpPr>
          <p:cNvPr id="9" name="Rectangle 8"/>
          <p:cNvSpPr/>
          <p:nvPr/>
        </p:nvSpPr>
        <p:spPr>
          <a:xfrm>
            <a:off x="3950208" y="987552"/>
            <a:ext cx="2423160" cy="502920"/>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86784" y="1037844"/>
            <a:ext cx="2350008" cy="429768"/>
          </a:xfrm>
          <a:prstGeom prst="rect">
            <a:avLst/>
          </a:prstGeom>
          <a:noFill/>
        </p:spPr>
        <p:txBody>
          <a:bodyPr wrap="none">
            <a:spAutoFit/>
          </a:bodyPr>
          <a:lstStyle/>
          <a:p>
            <a:pPr>
              <a:defRPr sz="730" b="1">
                <a:solidFill>
                  <a:srgbClr val="1F262E"/>
                </a:solidFill>
                <a:latin typeface="Microsoft YaHei"/>
              </a:defRPr>
            </a:pPr>
            <a:r>
              <a:t>读出优势</a:t>
            </a:r>
          </a:p>
        </p:txBody>
      </p:sp>
      <p:sp>
        <p:nvSpPr>
          <p:cNvPr id="11" name="Rectangle 10"/>
          <p:cNvSpPr/>
          <p:nvPr/>
        </p:nvSpPr>
        <p:spPr>
          <a:xfrm>
            <a:off x="6373368" y="987552"/>
            <a:ext cx="2468880" cy="502920"/>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037844"/>
            <a:ext cx="2395728" cy="429768"/>
          </a:xfrm>
          <a:prstGeom prst="rect">
            <a:avLst/>
          </a:prstGeom>
          <a:noFill/>
        </p:spPr>
        <p:txBody>
          <a:bodyPr wrap="none">
            <a:spAutoFit/>
          </a:bodyPr>
          <a:lstStyle/>
          <a:p>
            <a:pPr>
              <a:defRPr sz="730" b="1">
                <a:solidFill>
                  <a:srgbClr val="1F262E"/>
                </a:solidFill>
                <a:latin typeface="Microsoft YaHei"/>
              </a:defRPr>
            </a:pPr>
            <a:r>
              <a:t>关键算法</a:t>
            </a:r>
          </a:p>
        </p:txBody>
      </p:sp>
      <p:sp>
        <p:nvSpPr>
          <p:cNvPr id="13" name="Rectangle 12"/>
          <p:cNvSpPr/>
          <p:nvPr/>
        </p:nvSpPr>
        <p:spPr>
          <a:xfrm>
            <a:off x="8842248" y="987552"/>
            <a:ext cx="2240280" cy="502920"/>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78824" y="1037844"/>
            <a:ext cx="2167128" cy="429768"/>
          </a:xfrm>
          <a:prstGeom prst="rect">
            <a:avLst/>
          </a:prstGeom>
          <a:noFill/>
        </p:spPr>
        <p:txBody>
          <a:bodyPr wrap="none">
            <a:spAutoFit/>
          </a:bodyPr>
          <a:lstStyle/>
          <a:p>
            <a:pPr>
              <a:defRPr sz="730" b="1">
                <a:solidFill>
                  <a:srgbClr val="1F262E"/>
                </a:solidFill>
                <a:latin typeface="Microsoft YaHei"/>
              </a:defRPr>
            </a:pPr>
            <a:r>
              <a:t>主要缺陷</a:t>
            </a:r>
          </a:p>
        </p:txBody>
      </p:sp>
      <p:sp>
        <p:nvSpPr>
          <p:cNvPr id="15" name="Rectangle 14"/>
          <p:cNvSpPr/>
          <p:nvPr/>
        </p:nvSpPr>
        <p:spPr>
          <a:xfrm>
            <a:off x="384048" y="1490472"/>
            <a:ext cx="160020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3" y="1540764"/>
            <a:ext cx="1527048" cy="429768"/>
          </a:xfrm>
          <a:prstGeom prst="rect">
            <a:avLst/>
          </a:prstGeom>
          <a:noFill/>
        </p:spPr>
        <p:txBody>
          <a:bodyPr wrap="none">
            <a:spAutoFit/>
          </a:bodyPr>
          <a:lstStyle/>
          <a:p>
            <a:pPr>
              <a:defRPr sz="710" b="0">
                <a:solidFill>
                  <a:srgbClr val="1F262E"/>
                </a:solidFill>
                <a:latin typeface="Microsoft YaHei"/>
              </a:defRPr>
            </a:pPr>
            <a:r>
              <a:t>tRNAscan-SE 2.0</a:t>
            </a:r>
          </a:p>
        </p:txBody>
      </p:sp>
      <p:sp>
        <p:nvSpPr>
          <p:cNvPr id="17" name="Rectangle 16"/>
          <p:cNvSpPr/>
          <p:nvPr/>
        </p:nvSpPr>
        <p:spPr>
          <a:xfrm>
            <a:off x="1984248" y="1490472"/>
            <a:ext cx="196596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20824" y="1540764"/>
            <a:ext cx="1892807" cy="429768"/>
          </a:xfrm>
          <a:prstGeom prst="rect">
            <a:avLst/>
          </a:prstGeom>
          <a:noFill/>
        </p:spPr>
        <p:txBody>
          <a:bodyPr wrap="none">
            <a:spAutoFit/>
          </a:bodyPr>
          <a:lstStyle/>
          <a:p>
            <a:pPr>
              <a:defRPr sz="710" b="0">
                <a:solidFill>
                  <a:srgbClr val="1F262E"/>
                </a:solidFill>
                <a:latin typeface="Microsoft YaHei"/>
              </a:defRPr>
            </a:pPr>
            <a:r>
              <a:t>tRNA genes</a:t>
            </a:r>
          </a:p>
        </p:txBody>
      </p:sp>
      <p:sp>
        <p:nvSpPr>
          <p:cNvPr id="19" name="Rectangle 18"/>
          <p:cNvSpPr/>
          <p:nvPr/>
        </p:nvSpPr>
        <p:spPr>
          <a:xfrm>
            <a:off x="3950208" y="1490472"/>
            <a:ext cx="242316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86784" y="1540764"/>
            <a:ext cx="2350008" cy="429768"/>
          </a:xfrm>
          <a:prstGeom prst="rect">
            <a:avLst/>
          </a:prstGeom>
          <a:noFill/>
        </p:spPr>
        <p:txBody>
          <a:bodyPr wrap="none">
            <a:spAutoFit/>
          </a:bodyPr>
          <a:lstStyle/>
          <a:p>
            <a:pPr>
              <a:defRPr sz="710" b="0">
                <a:solidFill>
                  <a:srgbClr val="1F262E"/>
                </a:solidFill>
                <a:latin typeface="Microsoft YaHei"/>
              </a:defRPr>
            </a:pPr>
            <a:r>
              <a:t>跨基因组 gene catalog</a:t>
            </a:r>
          </a:p>
        </p:txBody>
      </p:sp>
      <p:sp>
        <p:nvSpPr>
          <p:cNvPr id="21" name="Rectangle 20"/>
          <p:cNvSpPr/>
          <p:nvPr/>
        </p:nvSpPr>
        <p:spPr>
          <a:xfrm>
            <a:off x="6373368" y="1490472"/>
            <a:ext cx="246888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9944" y="1540764"/>
            <a:ext cx="2395728" cy="429768"/>
          </a:xfrm>
          <a:prstGeom prst="rect">
            <a:avLst/>
          </a:prstGeom>
          <a:noFill/>
        </p:spPr>
        <p:txBody>
          <a:bodyPr wrap="none">
            <a:spAutoFit/>
          </a:bodyPr>
          <a:lstStyle/>
          <a:p>
            <a:pPr>
              <a:defRPr sz="710" b="0">
                <a:solidFill>
                  <a:srgbClr val="1F262E"/>
                </a:solidFill>
                <a:latin typeface="Microsoft YaHei"/>
              </a:defRPr>
            </a:pPr>
            <a:r>
              <a:t>CM/结构模型 + 分类</a:t>
            </a:r>
          </a:p>
        </p:txBody>
      </p:sp>
      <p:sp>
        <p:nvSpPr>
          <p:cNvPr id="23" name="Rectangle 22"/>
          <p:cNvSpPr/>
          <p:nvPr/>
        </p:nvSpPr>
        <p:spPr>
          <a:xfrm>
            <a:off x="8842248" y="1490472"/>
            <a:ext cx="224028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78824" y="1540764"/>
            <a:ext cx="2167128" cy="429768"/>
          </a:xfrm>
          <a:prstGeom prst="rect">
            <a:avLst/>
          </a:prstGeom>
          <a:noFill/>
        </p:spPr>
        <p:txBody>
          <a:bodyPr wrap="none">
            <a:spAutoFit/>
          </a:bodyPr>
          <a:lstStyle/>
          <a:p>
            <a:pPr>
              <a:defRPr sz="710" b="0">
                <a:solidFill>
                  <a:srgbClr val="1F262E"/>
                </a:solidFill>
                <a:latin typeface="Microsoft YaHei"/>
              </a:defRPr>
            </a:pPr>
            <a:r>
              <a:t>不解决表达/修饰</a:t>
            </a:r>
          </a:p>
        </p:txBody>
      </p:sp>
      <p:sp>
        <p:nvSpPr>
          <p:cNvPr id="25" name="Rectangle 24"/>
          <p:cNvSpPr/>
          <p:nvPr/>
        </p:nvSpPr>
        <p:spPr>
          <a:xfrm>
            <a:off x="384048" y="1993392"/>
            <a:ext cx="160020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0623" y="2043684"/>
            <a:ext cx="1527048" cy="429768"/>
          </a:xfrm>
          <a:prstGeom prst="rect">
            <a:avLst/>
          </a:prstGeom>
          <a:noFill/>
        </p:spPr>
        <p:txBody>
          <a:bodyPr wrap="none">
            <a:spAutoFit/>
          </a:bodyPr>
          <a:lstStyle/>
          <a:p>
            <a:pPr>
              <a:defRPr sz="710" b="0">
                <a:solidFill>
                  <a:srgbClr val="1F262E"/>
                </a:solidFill>
                <a:latin typeface="Microsoft YaHei"/>
              </a:defRPr>
            </a:pPr>
            <a:r>
              <a:t>QuantM</a:t>
            </a:r>
          </a:p>
        </p:txBody>
      </p:sp>
      <p:sp>
        <p:nvSpPr>
          <p:cNvPr id="27" name="Rectangle 26"/>
          <p:cNvSpPr/>
          <p:nvPr/>
        </p:nvSpPr>
        <p:spPr>
          <a:xfrm>
            <a:off x="1984248" y="1993392"/>
            <a:ext cx="196596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20824" y="2043684"/>
            <a:ext cx="1892807" cy="429768"/>
          </a:xfrm>
          <a:prstGeom prst="rect">
            <a:avLst/>
          </a:prstGeom>
          <a:noFill/>
        </p:spPr>
        <p:txBody>
          <a:bodyPr wrap="none">
            <a:spAutoFit/>
          </a:bodyPr>
          <a:lstStyle/>
          <a:p>
            <a:pPr>
              <a:defRPr sz="710" b="0">
                <a:solidFill>
                  <a:srgbClr val="1F262E"/>
                </a:solidFill>
                <a:latin typeface="Microsoft YaHei"/>
              </a:defRPr>
            </a:pPr>
            <a:r>
              <a:t>mature tRNA abundance</a:t>
            </a:r>
          </a:p>
        </p:txBody>
      </p:sp>
      <p:sp>
        <p:nvSpPr>
          <p:cNvPr id="29" name="Rectangle 28"/>
          <p:cNvSpPr/>
          <p:nvPr/>
        </p:nvSpPr>
        <p:spPr>
          <a:xfrm>
            <a:off x="3950208" y="1993392"/>
            <a:ext cx="242316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86784" y="2043684"/>
            <a:ext cx="2350008" cy="429768"/>
          </a:xfrm>
          <a:prstGeom prst="rect">
            <a:avLst/>
          </a:prstGeom>
          <a:noFill/>
        </p:spPr>
        <p:txBody>
          <a:bodyPr wrap="none">
            <a:spAutoFit/>
          </a:bodyPr>
          <a:lstStyle/>
          <a:p>
            <a:pPr>
              <a:defRPr sz="710" b="0">
                <a:solidFill>
                  <a:srgbClr val="1F262E"/>
                </a:solidFill>
                <a:latin typeface="Microsoft YaHei"/>
              </a:defRPr>
            </a:pPr>
            <a:r>
              <a:t>组织/样本定量</a:t>
            </a:r>
          </a:p>
        </p:txBody>
      </p:sp>
      <p:sp>
        <p:nvSpPr>
          <p:cNvPr id="31" name="Rectangle 30"/>
          <p:cNvSpPr/>
          <p:nvPr/>
        </p:nvSpPr>
        <p:spPr>
          <a:xfrm>
            <a:off x="6373368" y="1993392"/>
            <a:ext cx="246888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2043684"/>
            <a:ext cx="2395728" cy="429768"/>
          </a:xfrm>
          <a:prstGeom prst="rect">
            <a:avLst/>
          </a:prstGeom>
          <a:noFill/>
        </p:spPr>
        <p:txBody>
          <a:bodyPr wrap="none">
            <a:spAutoFit/>
          </a:bodyPr>
          <a:lstStyle/>
          <a:p>
            <a:pPr>
              <a:defRPr sz="710" b="0">
                <a:solidFill>
                  <a:srgbClr val="1F262E"/>
                </a:solidFill>
                <a:latin typeface="Microsoft YaHei"/>
              </a:defRPr>
            </a:pPr>
            <a:r>
              <a:t>专用参考比对</a:t>
            </a:r>
          </a:p>
        </p:txBody>
      </p:sp>
      <p:sp>
        <p:nvSpPr>
          <p:cNvPr id="33" name="Rectangle 32"/>
          <p:cNvSpPr/>
          <p:nvPr/>
        </p:nvSpPr>
        <p:spPr>
          <a:xfrm>
            <a:off x="8842248" y="1993392"/>
            <a:ext cx="224028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78824" y="2043684"/>
            <a:ext cx="2167128" cy="429768"/>
          </a:xfrm>
          <a:prstGeom prst="rect">
            <a:avLst/>
          </a:prstGeom>
          <a:noFill/>
        </p:spPr>
        <p:txBody>
          <a:bodyPr wrap="none">
            <a:spAutoFit/>
          </a:bodyPr>
          <a:lstStyle/>
          <a:p>
            <a:pPr>
              <a:defRPr sz="710" b="0">
                <a:solidFill>
                  <a:srgbClr val="1F262E"/>
                </a:solidFill>
                <a:latin typeface="Microsoft YaHei"/>
              </a:defRPr>
            </a:pPr>
            <a:r>
              <a:t>短读长与 RT bias</a:t>
            </a:r>
          </a:p>
        </p:txBody>
      </p:sp>
      <p:sp>
        <p:nvSpPr>
          <p:cNvPr id="35" name="Rectangle 34"/>
          <p:cNvSpPr/>
          <p:nvPr/>
        </p:nvSpPr>
        <p:spPr>
          <a:xfrm>
            <a:off x="384048" y="2496312"/>
            <a:ext cx="160020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0623" y="2546604"/>
            <a:ext cx="1527048" cy="429768"/>
          </a:xfrm>
          <a:prstGeom prst="rect">
            <a:avLst/>
          </a:prstGeom>
          <a:noFill/>
        </p:spPr>
        <p:txBody>
          <a:bodyPr wrap="none">
            <a:spAutoFit/>
          </a:bodyPr>
          <a:lstStyle/>
          <a:p>
            <a:pPr>
              <a:defRPr sz="710" b="0">
                <a:solidFill>
                  <a:srgbClr val="1F262E"/>
                </a:solidFill>
                <a:latin typeface="Microsoft YaHei"/>
              </a:defRPr>
            </a:pPr>
            <a:r>
              <a:t>mim-tRNAseq</a:t>
            </a:r>
          </a:p>
        </p:txBody>
      </p:sp>
      <p:sp>
        <p:nvSpPr>
          <p:cNvPr id="37" name="Rectangle 36"/>
          <p:cNvSpPr/>
          <p:nvPr/>
        </p:nvSpPr>
        <p:spPr>
          <a:xfrm>
            <a:off x="1984248" y="2496312"/>
            <a:ext cx="196596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20824" y="2546604"/>
            <a:ext cx="1892807" cy="429768"/>
          </a:xfrm>
          <a:prstGeom prst="rect">
            <a:avLst/>
          </a:prstGeom>
          <a:noFill/>
        </p:spPr>
        <p:txBody>
          <a:bodyPr wrap="none">
            <a:spAutoFit/>
          </a:bodyPr>
          <a:lstStyle/>
          <a:p>
            <a:pPr>
              <a:defRPr sz="710" b="0">
                <a:solidFill>
                  <a:srgbClr val="1F262E"/>
                </a:solidFill>
                <a:latin typeface="Microsoft YaHei"/>
              </a:defRPr>
            </a:pPr>
            <a:r>
              <a:t>abundance + modification status</a:t>
            </a:r>
          </a:p>
        </p:txBody>
      </p:sp>
      <p:sp>
        <p:nvSpPr>
          <p:cNvPr id="39" name="Rectangle 38"/>
          <p:cNvSpPr/>
          <p:nvPr/>
        </p:nvSpPr>
        <p:spPr>
          <a:xfrm>
            <a:off x="3950208" y="2496312"/>
            <a:ext cx="242316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86784" y="2546604"/>
            <a:ext cx="2350008" cy="429768"/>
          </a:xfrm>
          <a:prstGeom prst="rect">
            <a:avLst/>
          </a:prstGeom>
          <a:noFill/>
        </p:spPr>
        <p:txBody>
          <a:bodyPr wrap="none">
            <a:spAutoFit/>
          </a:bodyPr>
          <a:lstStyle/>
          <a:p>
            <a:pPr>
              <a:defRPr sz="710" b="0">
                <a:solidFill>
                  <a:srgbClr val="1F262E"/>
                </a:solidFill>
                <a:latin typeface="Microsoft YaHei"/>
              </a:defRPr>
            </a:pPr>
            <a:r>
              <a:t>错配可转化为修饰指纹</a:t>
            </a:r>
          </a:p>
        </p:txBody>
      </p:sp>
      <p:sp>
        <p:nvSpPr>
          <p:cNvPr id="41" name="Rectangle 40"/>
          <p:cNvSpPr/>
          <p:nvPr/>
        </p:nvSpPr>
        <p:spPr>
          <a:xfrm>
            <a:off x="6373368" y="2496312"/>
            <a:ext cx="246888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9944" y="2546604"/>
            <a:ext cx="2395728" cy="429768"/>
          </a:xfrm>
          <a:prstGeom prst="rect">
            <a:avLst/>
          </a:prstGeom>
          <a:noFill/>
        </p:spPr>
        <p:txBody>
          <a:bodyPr wrap="none">
            <a:spAutoFit/>
          </a:bodyPr>
          <a:lstStyle/>
          <a:p>
            <a:pPr>
              <a:defRPr sz="710" b="0">
                <a:solidFill>
                  <a:srgbClr val="1F262E"/>
                </a:solidFill>
                <a:latin typeface="Microsoft YaHei"/>
              </a:defRPr>
            </a:pPr>
            <a:r>
              <a:t>misincorporation profiling</a:t>
            </a:r>
          </a:p>
        </p:txBody>
      </p:sp>
      <p:sp>
        <p:nvSpPr>
          <p:cNvPr id="43" name="Rectangle 42"/>
          <p:cNvSpPr/>
          <p:nvPr/>
        </p:nvSpPr>
        <p:spPr>
          <a:xfrm>
            <a:off x="8842248" y="2496312"/>
            <a:ext cx="224028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78824" y="2546604"/>
            <a:ext cx="2167128" cy="429768"/>
          </a:xfrm>
          <a:prstGeom prst="rect">
            <a:avLst/>
          </a:prstGeom>
          <a:noFill/>
        </p:spPr>
        <p:txBody>
          <a:bodyPr wrap="none">
            <a:spAutoFit/>
          </a:bodyPr>
          <a:lstStyle/>
          <a:p>
            <a:pPr>
              <a:defRPr sz="710" b="0">
                <a:solidFill>
                  <a:srgbClr val="1F262E"/>
                </a:solidFill>
                <a:latin typeface="Microsoft YaHei"/>
              </a:defRPr>
            </a:pPr>
            <a:r>
              <a:t>未知修饰归因难</a:t>
            </a:r>
          </a:p>
        </p:txBody>
      </p:sp>
      <p:sp>
        <p:nvSpPr>
          <p:cNvPr id="45" name="Rectangle 44"/>
          <p:cNvSpPr/>
          <p:nvPr/>
        </p:nvSpPr>
        <p:spPr>
          <a:xfrm>
            <a:off x="384048" y="2999232"/>
            <a:ext cx="160020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20623" y="3049524"/>
            <a:ext cx="1527048" cy="429768"/>
          </a:xfrm>
          <a:prstGeom prst="rect">
            <a:avLst/>
          </a:prstGeom>
          <a:noFill/>
        </p:spPr>
        <p:txBody>
          <a:bodyPr wrap="none">
            <a:spAutoFit/>
          </a:bodyPr>
          <a:lstStyle/>
          <a:p>
            <a:pPr>
              <a:defRPr sz="710" b="0">
                <a:solidFill>
                  <a:srgbClr val="1F262E"/>
                </a:solidFill>
                <a:latin typeface="Microsoft YaHei"/>
              </a:defRPr>
            </a:pPr>
            <a:r>
              <a:t>Nano-tRNAseq</a:t>
            </a:r>
          </a:p>
        </p:txBody>
      </p:sp>
      <p:sp>
        <p:nvSpPr>
          <p:cNvPr id="47" name="Rectangle 46"/>
          <p:cNvSpPr/>
          <p:nvPr/>
        </p:nvSpPr>
        <p:spPr>
          <a:xfrm>
            <a:off x="1984248" y="2999232"/>
            <a:ext cx="196596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020824" y="3049524"/>
            <a:ext cx="1892807" cy="429768"/>
          </a:xfrm>
          <a:prstGeom prst="rect">
            <a:avLst/>
          </a:prstGeom>
          <a:noFill/>
        </p:spPr>
        <p:txBody>
          <a:bodyPr wrap="none">
            <a:spAutoFit/>
          </a:bodyPr>
          <a:lstStyle/>
          <a:p>
            <a:pPr>
              <a:defRPr sz="710" b="0">
                <a:solidFill>
                  <a:srgbClr val="1F262E"/>
                </a:solidFill>
                <a:latin typeface="Microsoft YaHei"/>
              </a:defRPr>
            </a:pPr>
            <a:r>
              <a:t>native tRNA</a:t>
            </a:r>
          </a:p>
        </p:txBody>
      </p:sp>
      <p:sp>
        <p:nvSpPr>
          <p:cNvPr id="49" name="Rectangle 48"/>
          <p:cNvSpPr/>
          <p:nvPr/>
        </p:nvSpPr>
        <p:spPr>
          <a:xfrm>
            <a:off x="3950208" y="2999232"/>
            <a:ext cx="242316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986784" y="3049524"/>
            <a:ext cx="2350008" cy="429768"/>
          </a:xfrm>
          <a:prstGeom prst="rect">
            <a:avLst/>
          </a:prstGeom>
          <a:noFill/>
        </p:spPr>
        <p:txBody>
          <a:bodyPr wrap="none">
            <a:spAutoFit/>
          </a:bodyPr>
          <a:lstStyle/>
          <a:p>
            <a:pPr>
              <a:defRPr sz="710" b="0">
                <a:solidFill>
                  <a:srgbClr val="1F262E"/>
                </a:solidFill>
                <a:latin typeface="Microsoft YaHei"/>
              </a:defRPr>
            </a:pPr>
            <a:r>
              <a:t>单分子、全长、修饰联动</a:t>
            </a:r>
          </a:p>
        </p:txBody>
      </p:sp>
      <p:sp>
        <p:nvSpPr>
          <p:cNvPr id="51" name="Rectangle 50"/>
          <p:cNvSpPr/>
          <p:nvPr/>
        </p:nvSpPr>
        <p:spPr>
          <a:xfrm>
            <a:off x="6373368" y="2999232"/>
            <a:ext cx="246888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9944" y="3049524"/>
            <a:ext cx="2395728" cy="429768"/>
          </a:xfrm>
          <a:prstGeom prst="rect">
            <a:avLst/>
          </a:prstGeom>
          <a:noFill/>
        </p:spPr>
        <p:txBody>
          <a:bodyPr wrap="none">
            <a:spAutoFit/>
          </a:bodyPr>
          <a:lstStyle/>
          <a:p>
            <a:pPr>
              <a:defRPr sz="710" b="0">
                <a:solidFill>
                  <a:srgbClr val="1F262E"/>
                </a:solidFill>
                <a:latin typeface="Microsoft YaHei"/>
              </a:defRPr>
            </a:pPr>
            <a:r>
              <a:t>raw signal reprocessing</a:t>
            </a:r>
          </a:p>
        </p:txBody>
      </p:sp>
      <p:sp>
        <p:nvSpPr>
          <p:cNvPr id="53" name="Rectangle 52"/>
          <p:cNvSpPr/>
          <p:nvPr/>
        </p:nvSpPr>
        <p:spPr>
          <a:xfrm>
            <a:off x="8842248" y="2999232"/>
            <a:ext cx="224028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78824" y="3049524"/>
            <a:ext cx="2167128" cy="429768"/>
          </a:xfrm>
          <a:prstGeom prst="rect">
            <a:avLst/>
          </a:prstGeom>
          <a:noFill/>
        </p:spPr>
        <p:txBody>
          <a:bodyPr wrap="none">
            <a:spAutoFit/>
          </a:bodyPr>
          <a:lstStyle/>
          <a:p>
            <a:pPr>
              <a:defRPr sz="710" b="0">
                <a:solidFill>
                  <a:srgbClr val="1F262E"/>
                </a:solidFill>
                <a:latin typeface="Microsoft YaHei"/>
              </a:defRPr>
            </a:pPr>
            <a:r>
              <a:t>basecaller/短 RNA 偏差</a:t>
            </a:r>
          </a:p>
        </p:txBody>
      </p:sp>
      <p:sp>
        <p:nvSpPr>
          <p:cNvPr id="55" name="Rectangle 54"/>
          <p:cNvSpPr/>
          <p:nvPr/>
        </p:nvSpPr>
        <p:spPr>
          <a:xfrm>
            <a:off x="384048" y="3502152"/>
            <a:ext cx="160020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20623" y="3552444"/>
            <a:ext cx="1527048" cy="429768"/>
          </a:xfrm>
          <a:prstGeom prst="rect">
            <a:avLst/>
          </a:prstGeom>
          <a:noFill/>
        </p:spPr>
        <p:txBody>
          <a:bodyPr wrap="none">
            <a:spAutoFit/>
          </a:bodyPr>
          <a:lstStyle/>
          <a:p>
            <a:pPr>
              <a:defRPr sz="710" b="0">
                <a:solidFill>
                  <a:srgbClr val="1F262E"/>
                </a:solidFill>
                <a:latin typeface="Microsoft YaHei"/>
              </a:defRPr>
            </a:pPr>
            <a:r>
              <a:t>Induro-tRNAseq</a:t>
            </a:r>
          </a:p>
        </p:txBody>
      </p:sp>
      <p:sp>
        <p:nvSpPr>
          <p:cNvPr id="57" name="Rectangle 56"/>
          <p:cNvSpPr/>
          <p:nvPr/>
        </p:nvSpPr>
        <p:spPr>
          <a:xfrm>
            <a:off x="1984248" y="3502152"/>
            <a:ext cx="196596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20824" y="3552444"/>
            <a:ext cx="1892807" cy="429768"/>
          </a:xfrm>
          <a:prstGeom prst="rect">
            <a:avLst/>
          </a:prstGeom>
          <a:noFill/>
        </p:spPr>
        <p:txBody>
          <a:bodyPr wrap="none">
            <a:spAutoFit/>
          </a:bodyPr>
          <a:lstStyle/>
          <a:p>
            <a:pPr>
              <a:defRPr sz="710" b="0">
                <a:solidFill>
                  <a:srgbClr val="1F262E"/>
                </a:solidFill>
                <a:latin typeface="Microsoft YaHei"/>
              </a:defRPr>
            </a:pPr>
            <a:r>
              <a:t>genome-wide modifications</a:t>
            </a:r>
          </a:p>
        </p:txBody>
      </p:sp>
      <p:sp>
        <p:nvSpPr>
          <p:cNvPr id="59" name="Rectangle 58"/>
          <p:cNvSpPr/>
          <p:nvPr/>
        </p:nvSpPr>
        <p:spPr>
          <a:xfrm>
            <a:off x="3950208" y="3502152"/>
            <a:ext cx="242316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986784" y="3552444"/>
            <a:ext cx="2350008" cy="429768"/>
          </a:xfrm>
          <a:prstGeom prst="rect">
            <a:avLst/>
          </a:prstGeom>
          <a:noFill/>
        </p:spPr>
        <p:txBody>
          <a:bodyPr wrap="none">
            <a:spAutoFit/>
          </a:bodyPr>
          <a:lstStyle/>
          <a:p>
            <a:pPr>
              <a:defRPr sz="710" b="0">
                <a:solidFill>
                  <a:srgbClr val="1F262E"/>
                </a:solidFill>
                <a:latin typeface="Microsoft YaHei"/>
              </a:defRPr>
            </a:pPr>
            <a:r>
              <a:t>降低 RT stop 保留错配</a:t>
            </a:r>
          </a:p>
        </p:txBody>
      </p:sp>
      <p:sp>
        <p:nvSpPr>
          <p:cNvPr id="61" name="Rectangle 60"/>
          <p:cNvSpPr/>
          <p:nvPr/>
        </p:nvSpPr>
        <p:spPr>
          <a:xfrm>
            <a:off x="6373368" y="3502152"/>
            <a:ext cx="246888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09944" y="3552444"/>
            <a:ext cx="2395728" cy="429768"/>
          </a:xfrm>
          <a:prstGeom prst="rect">
            <a:avLst/>
          </a:prstGeom>
          <a:noFill/>
        </p:spPr>
        <p:txBody>
          <a:bodyPr wrap="none">
            <a:spAutoFit/>
          </a:bodyPr>
          <a:lstStyle/>
          <a:p>
            <a:pPr>
              <a:defRPr sz="710" b="0">
                <a:solidFill>
                  <a:srgbClr val="1F262E"/>
                </a:solidFill>
                <a:latin typeface="Microsoft YaHei"/>
              </a:defRPr>
            </a:pPr>
            <a:r>
              <a:t>enzyme-contrast signature</a:t>
            </a:r>
          </a:p>
        </p:txBody>
      </p:sp>
      <p:sp>
        <p:nvSpPr>
          <p:cNvPr id="63" name="Rectangle 62"/>
          <p:cNvSpPr/>
          <p:nvPr/>
        </p:nvSpPr>
        <p:spPr>
          <a:xfrm>
            <a:off x="8842248" y="3502152"/>
            <a:ext cx="224028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78824" y="3552444"/>
            <a:ext cx="2167128" cy="429768"/>
          </a:xfrm>
          <a:prstGeom prst="rect">
            <a:avLst/>
          </a:prstGeom>
          <a:noFill/>
        </p:spPr>
        <p:txBody>
          <a:bodyPr wrap="none">
            <a:spAutoFit/>
          </a:bodyPr>
          <a:lstStyle/>
          <a:p>
            <a:pPr>
              <a:defRPr sz="710" b="0">
                <a:solidFill>
                  <a:srgbClr val="1F262E"/>
                </a:solidFill>
                <a:latin typeface="Microsoft YaHei"/>
              </a:defRPr>
            </a:pPr>
            <a:r>
              <a:t>需要验证集</a:t>
            </a:r>
          </a:p>
        </p:txBody>
      </p:sp>
      <p:sp>
        <p:nvSpPr>
          <p:cNvPr id="65" name="Rectangle 64"/>
          <p:cNvSpPr/>
          <p:nvPr/>
        </p:nvSpPr>
        <p:spPr>
          <a:xfrm>
            <a:off x="384048" y="4005072"/>
            <a:ext cx="160020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20623" y="4055364"/>
            <a:ext cx="1527048" cy="429768"/>
          </a:xfrm>
          <a:prstGeom prst="rect">
            <a:avLst/>
          </a:prstGeom>
          <a:noFill/>
        </p:spPr>
        <p:txBody>
          <a:bodyPr wrap="none">
            <a:spAutoFit/>
          </a:bodyPr>
          <a:lstStyle/>
          <a:p>
            <a:pPr>
              <a:defRPr sz="710" b="0">
                <a:solidFill>
                  <a:srgbClr val="1F262E"/>
                </a:solidFill>
                <a:latin typeface="Microsoft YaHei"/>
              </a:defRPr>
            </a:pPr>
            <a:r>
              <a:t>DM-DMS-MaPseq</a:t>
            </a:r>
          </a:p>
        </p:txBody>
      </p:sp>
      <p:sp>
        <p:nvSpPr>
          <p:cNvPr id="67" name="Rectangle 66"/>
          <p:cNvSpPr/>
          <p:nvPr/>
        </p:nvSpPr>
        <p:spPr>
          <a:xfrm>
            <a:off x="1984248" y="4005072"/>
            <a:ext cx="196596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020824" y="4055364"/>
            <a:ext cx="1892807" cy="429768"/>
          </a:xfrm>
          <a:prstGeom prst="rect">
            <a:avLst/>
          </a:prstGeom>
          <a:noFill/>
        </p:spPr>
        <p:txBody>
          <a:bodyPr wrap="none">
            <a:spAutoFit/>
          </a:bodyPr>
          <a:lstStyle/>
          <a:p>
            <a:pPr>
              <a:defRPr sz="710" b="0">
                <a:solidFill>
                  <a:srgbClr val="1F262E"/>
                </a:solidFill>
                <a:latin typeface="Microsoft YaHei"/>
              </a:defRPr>
            </a:pPr>
            <a:r>
              <a:t>structure/interactome</a:t>
            </a:r>
          </a:p>
        </p:txBody>
      </p:sp>
      <p:sp>
        <p:nvSpPr>
          <p:cNvPr id="69" name="Rectangle 68"/>
          <p:cNvSpPr/>
          <p:nvPr/>
        </p:nvSpPr>
        <p:spPr>
          <a:xfrm>
            <a:off x="3950208" y="4005072"/>
            <a:ext cx="242316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986784" y="4055364"/>
            <a:ext cx="2350008" cy="429768"/>
          </a:xfrm>
          <a:prstGeom prst="rect">
            <a:avLst/>
          </a:prstGeom>
          <a:noFill/>
        </p:spPr>
        <p:txBody>
          <a:bodyPr wrap="none">
            <a:spAutoFit/>
          </a:bodyPr>
          <a:lstStyle/>
          <a:p>
            <a:pPr>
              <a:defRPr sz="710" b="0">
                <a:solidFill>
                  <a:srgbClr val="1F262E"/>
                </a:solidFill>
                <a:latin typeface="Microsoft YaHei"/>
              </a:defRPr>
            </a:pPr>
            <a:r>
              <a:t>体内结构与互作</a:t>
            </a:r>
          </a:p>
        </p:txBody>
      </p:sp>
      <p:sp>
        <p:nvSpPr>
          <p:cNvPr id="71" name="Rectangle 70"/>
          <p:cNvSpPr/>
          <p:nvPr/>
        </p:nvSpPr>
        <p:spPr>
          <a:xfrm>
            <a:off x="6373368" y="4005072"/>
            <a:ext cx="246888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09944" y="4055364"/>
            <a:ext cx="2395728" cy="429768"/>
          </a:xfrm>
          <a:prstGeom prst="rect">
            <a:avLst/>
          </a:prstGeom>
          <a:noFill/>
        </p:spPr>
        <p:txBody>
          <a:bodyPr wrap="none">
            <a:spAutoFit/>
          </a:bodyPr>
          <a:lstStyle/>
          <a:p>
            <a:pPr>
              <a:defRPr sz="710" b="0">
                <a:solidFill>
                  <a:srgbClr val="1F262E"/>
                </a:solidFill>
                <a:latin typeface="Microsoft YaHei"/>
              </a:defRPr>
            </a:pPr>
            <a:r>
              <a:t>DMS-MaP reactivity</a:t>
            </a:r>
          </a:p>
        </p:txBody>
      </p:sp>
      <p:sp>
        <p:nvSpPr>
          <p:cNvPr id="73" name="Rectangle 72"/>
          <p:cNvSpPr/>
          <p:nvPr/>
        </p:nvSpPr>
        <p:spPr>
          <a:xfrm>
            <a:off x="8842248" y="4005072"/>
            <a:ext cx="224028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878824" y="4055364"/>
            <a:ext cx="2167128" cy="429768"/>
          </a:xfrm>
          <a:prstGeom prst="rect">
            <a:avLst/>
          </a:prstGeom>
          <a:noFill/>
        </p:spPr>
        <p:txBody>
          <a:bodyPr wrap="none">
            <a:spAutoFit/>
          </a:bodyPr>
          <a:lstStyle/>
          <a:p>
            <a:pPr>
              <a:defRPr sz="710" b="0">
                <a:solidFill>
                  <a:srgbClr val="1F262E"/>
                </a:solidFill>
                <a:latin typeface="Microsoft YaHei"/>
              </a:defRPr>
            </a:pPr>
            <a:r>
              <a:t>结构/互作混杂</a:t>
            </a:r>
          </a:p>
        </p:txBody>
      </p:sp>
      <p:sp>
        <p:nvSpPr>
          <p:cNvPr id="75" name="Rectangle 74"/>
          <p:cNvSpPr/>
          <p:nvPr/>
        </p:nvSpPr>
        <p:spPr>
          <a:xfrm>
            <a:off x="384048" y="4507992"/>
            <a:ext cx="160020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20623" y="4558284"/>
            <a:ext cx="1527048" cy="429768"/>
          </a:xfrm>
          <a:prstGeom prst="rect">
            <a:avLst/>
          </a:prstGeom>
          <a:noFill/>
        </p:spPr>
        <p:txBody>
          <a:bodyPr wrap="none">
            <a:spAutoFit/>
          </a:bodyPr>
          <a:lstStyle/>
          <a:p>
            <a:pPr>
              <a:defRPr sz="710" b="0">
                <a:solidFill>
                  <a:srgbClr val="1F262E"/>
                </a:solidFill>
                <a:latin typeface="Microsoft YaHei"/>
              </a:defRPr>
            </a:pPr>
            <a:r>
              <a:t>aa-tRNA-seq</a:t>
            </a:r>
          </a:p>
        </p:txBody>
      </p:sp>
      <p:sp>
        <p:nvSpPr>
          <p:cNvPr id="77" name="Rectangle 76"/>
          <p:cNvSpPr/>
          <p:nvPr/>
        </p:nvSpPr>
        <p:spPr>
          <a:xfrm>
            <a:off x="1984248" y="4507992"/>
            <a:ext cx="196596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020824" y="4558284"/>
            <a:ext cx="1892807" cy="429768"/>
          </a:xfrm>
          <a:prstGeom prst="rect">
            <a:avLst/>
          </a:prstGeom>
          <a:noFill/>
        </p:spPr>
        <p:txBody>
          <a:bodyPr wrap="none">
            <a:spAutoFit/>
          </a:bodyPr>
          <a:lstStyle/>
          <a:p>
            <a:pPr>
              <a:defRPr sz="710" b="0">
                <a:solidFill>
                  <a:srgbClr val="1F262E"/>
                </a:solidFill>
                <a:latin typeface="Microsoft YaHei"/>
              </a:defRPr>
            </a:pPr>
            <a:r>
              <a:t>aminoacylation</a:t>
            </a:r>
          </a:p>
        </p:txBody>
      </p:sp>
      <p:sp>
        <p:nvSpPr>
          <p:cNvPr id="79" name="Rectangle 78"/>
          <p:cNvSpPr/>
          <p:nvPr/>
        </p:nvSpPr>
        <p:spPr>
          <a:xfrm>
            <a:off x="3950208" y="4507992"/>
            <a:ext cx="242316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986784" y="4558284"/>
            <a:ext cx="2350008" cy="429768"/>
          </a:xfrm>
          <a:prstGeom prst="rect">
            <a:avLst/>
          </a:prstGeom>
          <a:noFill/>
        </p:spPr>
        <p:txBody>
          <a:bodyPr wrap="none">
            <a:spAutoFit/>
          </a:bodyPr>
          <a:lstStyle/>
          <a:p>
            <a:pPr>
              <a:defRPr sz="710" b="0">
                <a:solidFill>
                  <a:srgbClr val="1F262E"/>
                </a:solidFill>
                <a:latin typeface="Microsoft YaHei"/>
              </a:defRPr>
            </a:pPr>
            <a:r>
              <a:t>单分子 amino acid identity</a:t>
            </a:r>
          </a:p>
        </p:txBody>
      </p:sp>
      <p:sp>
        <p:nvSpPr>
          <p:cNvPr id="81" name="Rectangle 80"/>
          <p:cNvSpPr/>
          <p:nvPr/>
        </p:nvSpPr>
        <p:spPr>
          <a:xfrm>
            <a:off x="6373368" y="4507992"/>
            <a:ext cx="246888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409944" y="4558284"/>
            <a:ext cx="2395728" cy="429768"/>
          </a:xfrm>
          <a:prstGeom prst="rect">
            <a:avLst/>
          </a:prstGeom>
          <a:noFill/>
        </p:spPr>
        <p:txBody>
          <a:bodyPr wrap="none">
            <a:spAutoFit/>
          </a:bodyPr>
          <a:lstStyle/>
          <a:p>
            <a:pPr>
              <a:defRPr sz="710" b="0">
                <a:solidFill>
                  <a:srgbClr val="1F262E"/>
                </a:solidFill>
                <a:latin typeface="Microsoft YaHei"/>
              </a:defRPr>
            </a:pPr>
            <a:r>
              <a:t>nanopore ML classifier</a:t>
            </a:r>
          </a:p>
        </p:txBody>
      </p:sp>
      <p:sp>
        <p:nvSpPr>
          <p:cNvPr id="83" name="Rectangle 82"/>
          <p:cNvSpPr/>
          <p:nvPr/>
        </p:nvSpPr>
        <p:spPr>
          <a:xfrm>
            <a:off x="8842248" y="4507992"/>
            <a:ext cx="2240280" cy="502920"/>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878824" y="4558284"/>
            <a:ext cx="2167128" cy="429768"/>
          </a:xfrm>
          <a:prstGeom prst="rect">
            <a:avLst/>
          </a:prstGeom>
          <a:noFill/>
        </p:spPr>
        <p:txBody>
          <a:bodyPr wrap="none">
            <a:spAutoFit/>
          </a:bodyPr>
          <a:lstStyle/>
          <a:p>
            <a:pPr>
              <a:defRPr sz="710" b="0">
                <a:solidFill>
                  <a:srgbClr val="1F262E"/>
                </a:solidFill>
                <a:latin typeface="Microsoft YaHei"/>
              </a:defRPr>
            </a:pPr>
            <a:r>
              <a:t>训练泛化与化学效率</a:t>
            </a:r>
          </a:p>
        </p:txBody>
      </p:sp>
      <p:sp>
        <p:nvSpPr>
          <p:cNvPr id="85" name="Rectangle 84"/>
          <p:cNvSpPr/>
          <p:nvPr/>
        </p:nvSpPr>
        <p:spPr>
          <a:xfrm>
            <a:off x="384048" y="5010912"/>
            <a:ext cx="160020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20623" y="5061204"/>
            <a:ext cx="1527048" cy="429768"/>
          </a:xfrm>
          <a:prstGeom prst="rect">
            <a:avLst/>
          </a:prstGeom>
          <a:noFill/>
        </p:spPr>
        <p:txBody>
          <a:bodyPr wrap="none">
            <a:spAutoFit/>
          </a:bodyPr>
          <a:lstStyle/>
          <a:p>
            <a:pPr>
              <a:defRPr sz="710" b="0">
                <a:solidFill>
                  <a:srgbClr val="1F262E"/>
                </a:solidFill>
                <a:latin typeface="Microsoft YaHei"/>
              </a:defRPr>
            </a:pPr>
            <a:r>
              <a:t>LIDAR/tDRnamer/tRAX</a:t>
            </a:r>
          </a:p>
        </p:txBody>
      </p:sp>
      <p:sp>
        <p:nvSpPr>
          <p:cNvPr id="87" name="Rectangle 86"/>
          <p:cNvSpPr/>
          <p:nvPr/>
        </p:nvSpPr>
        <p:spPr>
          <a:xfrm>
            <a:off x="1984248" y="5010912"/>
            <a:ext cx="196596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020824" y="5061204"/>
            <a:ext cx="1892807" cy="429768"/>
          </a:xfrm>
          <a:prstGeom prst="rect">
            <a:avLst/>
          </a:prstGeom>
          <a:noFill/>
        </p:spPr>
        <p:txBody>
          <a:bodyPr wrap="none">
            <a:spAutoFit/>
          </a:bodyPr>
          <a:lstStyle/>
          <a:p>
            <a:pPr>
              <a:defRPr sz="710" b="0">
                <a:solidFill>
                  <a:srgbClr val="1F262E"/>
                </a:solidFill>
                <a:latin typeface="Microsoft YaHei"/>
              </a:defRPr>
            </a:pPr>
            <a:r>
              <a:t>tDR/tsRNA</a:t>
            </a:r>
          </a:p>
        </p:txBody>
      </p:sp>
      <p:sp>
        <p:nvSpPr>
          <p:cNvPr id="89" name="Rectangle 88"/>
          <p:cNvSpPr/>
          <p:nvPr/>
        </p:nvSpPr>
        <p:spPr>
          <a:xfrm>
            <a:off x="3950208" y="5010912"/>
            <a:ext cx="242316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986784" y="5061204"/>
            <a:ext cx="2350008" cy="429768"/>
          </a:xfrm>
          <a:prstGeom prst="rect">
            <a:avLst/>
          </a:prstGeom>
          <a:noFill/>
        </p:spPr>
        <p:txBody>
          <a:bodyPr wrap="none">
            <a:spAutoFit/>
          </a:bodyPr>
          <a:lstStyle/>
          <a:p>
            <a:pPr>
              <a:defRPr sz="710" b="0">
                <a:solidFill>
                  <a:srgbClr val="1F262E"/>
                </a:solidFill>
                <a:latin typeface="Microsoft YaHei"/>
              </a:defRPr>
            </a:pPr>
            <a:r>
              <a:t>blocked-end capture + 标准命名</a:t>
            </a:r>
          </a:p>
        </p:txBody>
      </p:sp>
      <p:sp>
        <p:nvSpPr>
          <p:cNvPr id="91" name="Rectangle 90"/>
          <p:cNvSpPr/>
          <p:nvPr/>
        </p:nvSpPr>
        <p:spPr>
          <a:xfrm>
            <a:off x="6373368" y="5010912"/>
            <a:ext cx="246888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409944" y="5061204"/>
            <a:ext cx="2395728" cy="429768"/>
          </a:xfrm>
          <a:prstGeom prst="rect">
            <a:avLst/>
          </a:prstGeom>
          <a:noFill/>
        </p:spPr>
        <p:txBody>
          <a:bodyPr wrap="none">
            <a:spAutoFit/>
          </a:bodyPr>
          <a:lstStyle/>
          <a:p>
            <a:pPr>
              <a:defRPr sz="710" b="0">
                <a:solidFill>
                  <a:srgbClr val="1F262E"/>
                </a:solidFill>
                <a:latin typeface="Microsoft YaHei"/>
              </a:defRPr>
            </a:pPr>
            <a:r>
              <a:t>origin naming/visualization</a:t>
            </a:r>
          </a:p>
        </p:txBody>
      </p:sp>
      <p:sp>
        <p:nvSpPr>
          <p:cNvPr id="93" name="Rectangle 92"/>
          <p:cNvSpPr/>
          <p:nvPr/>
        </p:nvSpPr>
        <p:spPr>
          <a:xfrm>
            <a:off x="8842248" y="5010912"/>
            <a:ext cx="2240280" cy="502920"/>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878824" y="5061204"/>
            <a:ext cx="2167128" cy="429768"/>
          </a:xfrm>
          <a:prstGeom prst="rect">
            <a:avLst/>
          </a:prstGeom>
          <a:noFill/>
        </p:spPr>
        <p:txBody>
          <a:bodyPr wrap="none">
            <a:spAutoFit/>
          </a:bodyPr>
          <a:lstStyle/>
          <a:p>
            <a:pPr>
              <a:defRPr sz="710" b="0">
                <a:solidFill>
                  <a:srgbClr val="1F262E"/>
                </a:solidFill>
                <a:latin typeface="Microsoft YaHei"/>
              </a:defRPr>
            </a:pPr>
            <a:r>
              <a:t>来源不确定性</a:t>
            </a:r>
          </a:p>
        </p:txBody>
      </p:sp>
      <p:sp>
        <p:nvSpPr>
          <p:cNvPr id="95" name="Rounded Rectangle 94"/>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没有一个工具覆盖所有层级；汇报和项目设计应按研究问题组合工具，而不是寻找唯一最佳工具。</a:t>
            </a:r>
          </a:p>
        </p:txBody>
      </p:sp>
      <p:sp>
        <p:nvSpPr>
          <p:cNvPr id="97" name="TextBox 96"/>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34417604: tRNAscan-SE 2.0: improved detection and functional classification of transfer RNA genes | PMID 32796835: Quantitative tRNA-sequencing uncovers metazoan tissue-specific tRNA regulation. | PMID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工具缺陷与可改动方向</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5488" y="1051560"/>
            <a:ext cx="1508760" cy="658368"/>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12064" y="1101851"/>
            <a:ext cx="1435607" cy="585216"/>
          </a:xfrm>
          <a:prstGeom prst="rect">
            <a:avLst/>
          </a:prstGeom>
          <a:noFill/>
        </p:spPr>
        <p:txBody>
          <a:bodyPr wrap="none">
            <a:spAutoFit/>
          </a:bodyPr>
          <a:lstStyle/>
          <a:p>
            <a:pPr>
              <a:defRPr sz="860" b="1">
                <a:solidFill>
                  <a:srgbClr val="1F262E"/>
                </a:solidFill>
                <a:latin typeface="Microsoft YaHei"/>
              </a:defRPr>
            </a:pPr>
            <a:r>
              <a:t>模块</a:t>
            </a:r>
          </a:p>
        </p:txBody>
      </p:sp>
      <p:sp>
        <p:nvSpPr>
          <p:cNvPr id="7" name="Rectangle 6"/>
          <p:cNvSpPr/>
          <p:nvPr/>
        </p:nvSpPr>
        <p:spPr>
          <a:xfrm>
            <a:off x="1984248" y="1051560"/>
            <a:ext cx="4617720" cy="658368"/>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20824" y="1101851"/>
            <a:ext cx="4544568" cy="585216"/>
          </a:xfrm>
          <a:prstGeom prst="rect">
            <a:avLst/>
          </a:prstGeom>
          <a:noFill/>
        </p:spPr>
        <p:txBody>
          <a:bodyPr wrap="none">
            <a:spAutoFit/>
          </a:bodyPr>
          <a:lstStyle/>
          <a:p>
            <a:pPr>
              <a:defRPr sz="860" b="1">
                <a:solidFill>
                  <a:srgbClr val="1F262E"/>
                </a:solidFill>
                <a:latin typeface="Microsoft YaHei"/>
              </a:defRPr>
            </a:pPr>
            <a:r>
              <a:t>现有缺陷</a:t>
            </a:r>
          </a:p>
        </p:txBody>
      </p:sp>
      <p:sp>
        <p:nvSpPr>
          <p:cNvPr id="9" name="Rectangle 8"/>
          <p:cNvSpPr/>
          <p:nvPr/>
        </p:nvSpPr>
        <p:spPr>
          <a:xfrm>
            <a:off x="6601968" y="1051560"/>
            <a:ext cx="4983480" cy="658368"/>
          </a:xfrm>
          <a:prstGeom prst="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38544" y="1101851"/>
            <a:ext cx="4910328" cy="585216"/>
          </a:xfrm>
          <a:prstGeom prst="rect">
            <a:avLst/>
          </a:prstGeom>
          <a:noFill/>
        </p:spPr>
        <p:txBody>
          <a:bodyPr wrap="none">
            <a:spAutoFit/>
          </a:bodyPr>
          <a:lstStyle/>
          <a:p>
            <a:pPr>
              <a:defRPr sz="860" b="1">
                <a:solidFill>
                  <a:srgbClr val="1F262E"/>
                </a:solidFill>
                <a:latin typeface="Microsoft YaHei"/>
              </a:defRPr>
            </a:pPr>
            <a:r>
              <a:t>可落地改动方向</a:t>
            </a:r>
          </a:p>
        </p:txBody>
      </p:sp>
      <p:sp>
        <p:nvSpPr>
          <p:cNvPr id="11" name="Rectangle 10"/>
          <p:cNvSpPr/>
          <p:nvPr/>
        </p:nvSpPr>
        <p:spPr>
          <a:xfrm>
            <a:off x="475488" y="1709928"/>
            <a:ext cx="1508760" cy="658368"/>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 y="1760219"/>
            <a:ext cx="1435607" cy="585216"/>
          </a:xfrm>
          <a:prstGeom prst="rect">
            <a:avLst/>
          </a:prstGeom>
          <a:noFill/>
        </p:spPr>
        <p:txBody>
          <a:bodyPr wrap="none">
            <a:spAutoFit/>
          </a:bodyPr>
          <a:lstStyle/>
          <a:p>
            <a:pPr>
              <a:defRPr sz="840" b="0">
                <a:solidFill>
                  <a:srgbClr val="1F262E"/>
                </a:solidFill>
                <a:latin typeface="Microsoft YaHei"/>
              </a:defRPr>
            </a:pPr>
            <a:r>
              <a:t>参考构建</a:t>
            </a:r>
          </a:p>
        </p:txBody>
      </p:sp>
      <p:sp>
        <p:nvSpPr>
          <p:cNvPr id="13" name="Rectangle 12"/>
          <p:cNvSpPr/>
          <p:nvPr/>
        </p:nvSpPr>
        <p:spPr>
          <a:xfrm>
            <a:off x="1984248" y="1709928"/>
            <a:ext cx="4617720" cy="658368"/>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20824" y="1760219"/>
            <a:ext cx="4544568" cy="585216"/>
          </a:xfrm>
          <a:prstGeom prst="rect">
            <a:avLst/>
          </a:prstGeom>
          <a:noFill/>
        </p:spPr>
        <p:txBody>
          <a:bodyPr wrap="none">
            <a:spAutoFit/>
          </a:bodyPr>
          <a:lstStyle/>
          <a:p>
            <a:pPr>
              <a:defRPr sz="840" b="0">
                <a:solidFill>
                  <a:srgbClr val="1F262E"/>
                </a:solidFill>
                <a:latin typeface="Microsoft YaHei"/>
              </a:defRPr>
            </a:pPr>
            <a:r>
              <a:t>基因组 tRNA、成熟 tRNA、线粒体 tRNA 和 tDR 坐标割裂</a:t>
            </a:r>
          </a:p>
        </p:txBody>
      </p:sp>
      <p:sp>
        <p:nvSpPr>
          <p:cNvPr id="15" name="Rectangle 14"/>
          <p:cNvSpPr/>
          <p:nvPr/>
        </p:nvSpPr>
        <p:spPr>
          <a:xfrm>
            <a:off x="6601968" y="1709928"/>
            <a:ext cx="4983480" cy="658368"/>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38544" y="1760219"/>
            <a:ext cx="4910328" cy="585216"/>
          </a:xfrm>
          <a:prstGeom prst="rect">
            <a:avLst/>
          </a:prstGeom>
          <a:noFill/>
        </p:spPr>
        <p:txBody>
          <a:bodyPr wrap="none">
            <a:spAutoFit/>
          </a:bodyPr>
          <a:lstStyle/>
          <a:p>
            <a:pPr>
              <a:defRPr sz="840" b="0">
                <a:solidFill>
                  <a:srgbClr val="1F262E"/>
                </a:solidFill>
                <a:latin typeface="Microsoft YaHei"/>
              </a:defRPr>
            </a:pPr>
            <a:r>
              <a:t>构建 mature/reference graph；保留 gene-isodecoder-isotype 层级</a:t>
            </a:r>
          </a:p>
        </p:txBody>
      </p:sp>
      <p:sp>
        <p:nvSpPr>
          <p:cNvPr id="17" name="Rectangle 16"/>
          <p:cNvSpPr/>
          <p:nvPr/>
        </p:nvSpPr>
        <p:spPr>
          <a:xfrm>
            <a:off x="475488" y="2368296"/>
            <a:ext cx="1508760" cy="658368"/>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2418588"/>
            <a:ext cx="1435607" cy="585216"/>
          </a:xfrm>
          <a:prstGeom prst="rect">
            <a:avLst/>
          </a:prstGeom>
          <a:noFill/>
        </p:spPr>
        <p:txBody>
          <a:bodyPr wrap="none">
            <a:spAutoFit/>
          </a:bodyPr>
          <a:lstStyle/>
          <a:p>
            <a:pPr>
              <a:defRPr sz="840" b="0">
                <a:solidFill>
                  <a:srgbClr val="1F262E"/>
                </a:solidFill>
                <a:latin typeface="Microsoft YaHei"/>
              </a:defRPr>
            </a:pPr>
            <a:r>
              <a:t>比对计数</a:t>
            </a:r>
          </a:p>
        </p:txBody>
      </p:sp>
      <p:sp>
        <p:nvSpPr>
          <p:cNvPr id="19" name="Rectangle 18"/>
          <p:cNvSpPr/>
          <p:nvPr/>
        </p:nvSpPr>
        <p:spPr>
          <a:xfrm>
            <a:off x="1984248" y="2368296"/>
            <a:ext cx="4617720" cy="658368"/>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20824" y="2418588"/>
            <a:ext cx="4544568" cy="585216"/>
          </a:xfrm>
          <a:prstGeom prst="rect">
            <a:avLst/>
          </a:prstGeom>
          <a:noFill/>
        </p:spPr>
        <p:txBody>
          <a:bodyPr wrap="none">
            <a:spAutoFit/>
          </a:bodyPr>
          <a:lstStyle/>
          <a:p>
            <a:pPr>
              <a:defRPr sz="840" b="0">
                <a:solidFill>
                  <a:srgbClr val="1F262E"/>
                </a:solidFill>
                <a:latin typeface="Microsoft YaHei"/>
              </a:defRPr>
            </a:pPr>
            <a:r>
              <a:t>重复序列和短 reads 导致硬分配偏差</a:t>
            </a:r>
          </a:p>
        </p:txBody>
      </p:sp>
      <p:sp>
        <p:nvSpPr>
          <p:cNvPr id="21" name="Rectangle 20"/>
          <p:cNvSpPr/>
          <p:nvPr/>
        </p:nvSpPr>
        <p:spPr>
          <a:xfrm>
            <a:off x="6601968" y="2368296"/>
            <a:ext cx="4983480" cy="658368"/>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38544" y="2418588"/>
            <a:ext cx="4910328" cy="585216"/>
          </a:xfrm>
          <a:prstGeom prst="rect">
            <a:avLst/>
          </a:prstGeom>
          <a:noFill/>
        </p:spPr>
        <p:txBody>
          <a:bodyPr wrap="none">
            <a:spAutoFit/>
          </a:bodyPr>
          <a:lstStyle/>
          <a:p>
            <a:pPr>
              <a:defRPr sz="840" b="0">
                <a:solidFill>
                  <a:srgbClr val="1F262E"/>
                </a:solidFill>
                <a:latin typeface="Microsoft YaHei"/>
              </a:defRPr>
            </a:pPr>
            <a:r>
              <a:t>EM/Bayesian multi-mapping；UMI 去重；spike-in 绝对定量</a:t>
            </a:r>
          </a:p>
        </p:txBody>
      </p:sp>
      <p:sp>
        <p:nvSpPr>
          <p:cNvPr id="23" name="Rectangle 22"/>
          <p:cNvSpPr/>
          <p:nvPr/>
        </p:nvSpPr>
        <p:spPr>
          <a:xfrm>
            <a:off x="475488" y="3026664"/>
            <a:ext cx="1508760" cy="658368"/>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 y="3076956"/>
            <a:ext cx="1435607" cy="585216"/>
          </a:xfrm>
          <a:prstGeom prst="rect">
            <a:avLst/>
          </a:prstGeom>
          <a:noFill/>
        </p:spPr>
        <p:txBody>
          <a:bodyPr wrap="none">
            <a:spAutoFit/>
          </a:bodyPr>
          <a:lstStyle/>
          <a:p>
            <a:pPr>
              <a:defRPr sz="840" b="0">
                <a:solidFill>
                  <a:srgbClr val="1F262E"/>
                </a:solidFill>
                <a:latin typeface="Microsoft YaHei"/>
              </a:defRPr>
            </a:pPr>
            <a:r>
              <a:t>修饰识别</a:t>
            </a:r>
          </a:p>
        </p:txBody>
      </p:sp>
      <p:sp>
        <p:nvSpPr>
          <p:cNvPr id="25" name="Rectangle 24"/>
          <p:cNvSpPr/>
          <p:nvPr/>
        </p:nvSpPr>
        <p:spPr>
          <a:xfrm>
            <a:off x="1984248" y="3026664"/>
            <a:ext cx="4617720" cy="658368"/>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20824" y="3076956"/>
            <a:ext cx="4544568" cy="585216"/>
          </a:xfrm>
          <a:prstGeom prst="rect">
            <a:avLst/>
          </a:prstGeom>
          <a:noFill/>
        </p:spPr>
        <p:txBody>
          <a:bodyPr wrap="none">
            <a:spAutoFit/>
          </a:bodyPr>
          <a:lstStyle/>
          <a:p>
            <a:pPr>
              <a:defRPr sz="840" b="0">
                <a:solidFill>
                  <a:srgbClr val="1F262E"/>
                </a:solidFill>
                <a:latin typeface="Microsoft YaHei"/>
              </a:defRPr>
            </a:pPr>
            <a:r>
              <a:t>RT stop、mismatch 和 nanopore signal 分散在不同工具</a:t>
            </a:r>
          </a:p>
        </p:txBody>
      </p:sp>
      <p:sp>
        <p:nvSpPr>
          <p:cNvPr id="27" name="Rectangle 26"/>
          <p:cNvSpPr/>
          <p:nvPr/>
        </p:nvSpPr>
        <p:spPr>
          <a:xfrm>
            <a:off x="6601968" y="3026664"/>
            <a:ext cx="4983480" cy="658368"/>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8544" y="3076956"/>
            <a:ext cx="4910328" cy="585216"/>
          </a:xfrm>
          <a:prstGeom prst="rect">
            <a:avLst/>
          </a:prstGeom>
          <a:noFill/>
        </p:spPr>
        <p:txBody>
          <a:bodyPr wrap="none">
            <a:spAutoFit/>
          </a:bodyPr>
          <a:lstStyle/>
          <a:p>
            <a:pPr>
              <a:defRPr sz="840" b="0">
                <a:solidFill>
                  <a:srgbClr val="1F262E"/>
                </a:solidFill>
                <a:latin typeface="Microsoft YaHei"/>
              </a:defRPr>
            </a:pPr>
            <a:r>
              <a:t>联合 evidence matrix；用 knockout/标准品训练 site-level caller</a:t>
            </a:r>
          </a:p>
        </p:txBody>
      </p:sp>
      <p:sp>
        <p:nvSpPr>
          <p:cNvPr id="29" name="Rectangle 28"/>
          <p:cNvSpPr/>
          <p:nvPr/>
        </p:nvSpPr>
        <p:spPr>
          <a:xfrm>
            <a:off x="475488" y="3685031"/>
            <a:ext cx="1508760" cy="658368"/>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064" y="3735323"/>
            <a:ext cx="1435607" cy="585216"/>
          </a:xfrm>
          <a:prstGeom prst="rect">
            <a:avLst/>
          </a:prstGeom>
          <a:noFill/>
        </p:spPr>
        <p:txBody>
          <a:bodyPr wrap="none">
            <a:spAutoFit/>
          </a:bodyPr>
          <a:lstStyle/>
          <a:p>
            <a:pPr>
              <a:defRPr sz="840" b="0">
                <a:solidFill>
                  <a:srgbClr val="1F262E"/>
                </a:solidFill>
                <a:latin typeface="Microsoft YaHei"/>
              </a:defRPr>
            </a:pPr>
            <a:r>
              <a:t>差异分析</a:t>
            </a:r>
          </a:p>
        </p:txBody>
      </p:sp>
      <p:sp>
        <p:nvSpPr>
          <p:cNvPr id="31" name="Rectangle 30"/>
          <p:cNvSpPr/>
          <p:nvPr/>
        </p:nvSpPr>
        <p:spPr>
          <a:xfrm>
            <a:off x="1984248" y="3685031"/>
            <a:ext cx="4617720" cy="658368"/>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20824" y="3735323"/>
            <a:ext cx="4544568" cy="585216"/>
          </a:xfrm>
          <a:prstGeom prst="rect">
            <a:avLst/>
          </a:prstGeom>
          <a:noFill/>
        </p:spPr>
        <p:txBody>
          <a:bodyPr wrap="none">
            <a:spAutoFit/>
          </a:bodyPr>
          <a:lstStyle/>
          <a:p>
            <a:pPr>
              <a:defRPr sz="840" b="0">
                <a:solidFill>
                  <a:srgbClr val="1F262E"/>
                </a:solidFill>
                <a:latin typeface="Microsoft YaHei"/>
              </a:defRPr>
            </a:pPr>
            <a:r>
              <a:t>常把 abundance、modification、structure 统一当 counts</a:t>
            </a:r>
          </a:p>
        </p:txBody>
      </p:sp>
      <p:sp>
        <p:nvSpPr>
          <p:cNvPr id="33" name="Rectangle 32"/>
          <p:cNvSpPr/>
          <p:nvPr/>
        </p:nvSpPr>
        <p:spPr>
          <a:xfrm>
            <a:off x="6601968" y="3685031"/>
            <a:ext cx="4983480" cy="658368"/>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38544" y="3735323"/>
            <a:ext cx="4910328" cy="585216"/>
          </a:xfrm>
          <a:prstGeom prst="rect">
            <a:avLst/>
          </a:prstGeom>
          <a:noFill/>
        </p:spPr>
        <p:txBody>
          <a:bodyPr wrap="none">
            <a:spAutoFit/>
          </a:bodyPr>
          <a:lstStyle/>
          <a:p>
            <a:pPr>
              <a:defRPr sz="840" b="0">
                <a:solidFill>
                  <a:srgbClr val="1F262E"/>
                </a:solidFill>
                <a:latin typeface="Microsoft YaHei"/>
              </a:defRPr>
            </a:pPr>
            <a:r>
              <a:t>按读出建模：NB、beta-binomial、mixed model、classifier probability</a:t>
            </a:r>
          </a:p>
        </p:txBody>
      </p:sp>
      <p:sp>
        <p:nvSpPr>
          <p:cNvPr id="35" name="Rectangle 34"/>
          <p:cNvSpPr/>
          <p:nvPr/>
        </p:nvSpPr>
        <p:spPr>
          <a:xfrm>
            <a:off x="475488" y="4343400"/>
            <a:ext cx="1508760" cy="658368"/>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2064" y="4393692"/>
            <a:ext cx="1435607" cy="585216"/>
          </a:xfrm>
          <a:prstGeom prst="rect">
            <a:avLst/>
          </a:prstGeom>
          <a:noFill/>
        </p:spPr>
        <p:txBody>
          <a:bodyPr wrap="none">
            <a:spAutoFit/>
          </a:bodyPr>
          <a:lstStyle/>
          <a:p>
            <a:pPr>
              <a:defRPr sz="840" b="0">
                <a:solidFill>
                  <a:srgbClr val="1F262E"/>
                </a:solidFill>
                <a:latin typeface="Microsoft YaHei"/>
              </a:defRPr>
            </a:pPr>
            <a:r>
              <a:t>tDR 注释</a:t>
            </a:r>
          </a:p>
        </p:txBody>
      </p:sp>
      <p:sp>
        <p:nvSpPr>
          <p:cNvPr id="37" name="Rectangle 36"/>
          <p:cNvSpPr/>
          <p:nvPr/>
        </p:nvSpPr>
        <p:spPr>
          <a:xfrm>
            <a:off x="1984248" y="4343400"/>
            <a:ext cx="4617720" cy="658368"/>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20824" y="4393692"/>
            <a:ext cx="4544568" cy="585216"/>
          </a:xfrm>
          <a:prstGeom prst="rect">
            <a:avLst/>
          </a:prstGeom>
          <a:noFill/>
        </p:spPr>
        <p:txBody>
          <a:bodyPr wrap="none">
            <a:spAutoFit/>
          </a:bodyPr>
          <a:lstStyle/>
          <a:p>
            <a:pPr>
              <a:defRPr sz="840" b="0">
                <a:solidFill>
                  <a:srgbClr val="1F262E"/>
                </a:solidFill>
                <a:latin typeface="Microsoft YaHei"/>
              </a:defRPr>
            </a:pPr>
            <a:r>
              <a:t>fragment name 标准化不足，功能分析跨研究不可比</a:t>
            </a:r>
          </a:p>
        </p:txBody>
      </p:sp>
      <p:sp>
        <p:nvSpPr>
          <p:cNvPr id="39" name="Rectangle 38"/>
          <p:cNvSpPr/>
          <p:nvPr/>
        </p:nvSpPr>
        <p:spPr>
          <a:xfrm>
            <a:off x="6601968" y="4343400"/>
            <a:ext cx="4983480" cy="658368"/>
          </a:xfrm>
          <a:prstGeom prst="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38544" y="4393692"/>
            <a:ext cx="4910328" cy="585216"/>
          </a:xfrm>
          <a:prstGeom prst="rect">
            <a:avLst/>
          </a:prstGeom>
          <a:noFill/>
        </p:spPr>
        <p:txBody>
          <a:bodyPr wrap="none">
            <a:spAutoFit/>
          </a:bodyPr>
          <a:lstStyle/>
          <a:p>
            <a:pPr>
              <a:defRPr sz="840" b="0">
                <a:solidFill>
                  <a:srgbClr val="1F262E"/>
                </a:solidFill>
                <a:latin typeface="Microsoft YaHei"/>
              </a:defRPr>
            </a:pPr>
            <a:r>
              <a:t>强制输出 tDRnamer-compatible name 和 origin uncertainty</a:t>
            </a:r>
          </a:p>
        </p:txBody>
      </p:sp>
      <p:sp>
        <p:nvSpPr>
          <p:cNvPr id="41" name="Rectangle 40"/>
          <p:cNvSpPr/>
          <p:nvPr/>
        </p:nvSpPr>
        <p:spPr>
          <a:xfrm>
            <a:off x="475488" y="5001768"/>
            <a:ext cx="1508760" cy="658368"/>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2064" y="5052060"/>
            <a:ext cx="1435607" cy="585216"/>
          </a:xfrm>
          <a:prstGeom prst="rect">
            <a:avLst/>
          </a:prstGeom>
          <a:noFill/>
        </p:spPr>
        <p:txBody>
          <a:bodyPr wrap="none">
            <a:spAutoFit/>
          </a:bodyPr>
          <a:lstStyle/>
          <a:p>
            <a:pPr>
              <a:defRPr sz="840" b="0">
                <a:solidFill>
                  <a:srgbClr val="1F262E"/>
                </a:solidFill>
                <a:latin typeface="Microsoft YaHei"/>
              </a:defRPr>
            </a:pPr>
            <a:r>
              <a:t>软件工程</a:t>
            </a:r>
          </a:p>
        </p:txBody>
      </p:sp>
      <p:sp>
        <p:nvSpPr>
          <p:cNvPr id="43" name="Rectangle 42"/>
          <p:cNvSpPr/>
          <p:nvPr/>
        </p:nvSpPr>
        <p:spPr>
          <a:xfrm>
            <a:off x="1984248" y="5001768"/>
            <a:ext cx="4617720" cy="658368"/>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020824" y="5052060"/>
            <a:ext cx="4544568" cy="585216"/>
          </a:xfrm>
          <a:prstGeom prst="rect">
            <a:avLst/>
          </a:prstGeom>
          <a:noFill/>
        </p:spPr>
        <p:txBody>
          <a:bodyPr wrap="none">
            <a:spAutoFit/>
          </a:bodyPr>
          <a:lstStyle/>
          <a:p>
            <a:pPr>
              <a:defRPr sz="840" b="0">
                <a:solidFill>
                  <a:srgbClr val="1F262E"/>
                </a:solidFill>
                <a:latin typeface="Microsoft YaHei"/>
              </a:defRPr>
            </a:pPr>
            <a:r>
              <a:t>流程依赖手工参数和私有 reference</a:t>
            </a:r>
          </a:p>
        </p:txBody>
      </p:sp>
      <p:sp>
        <p:nvSpPr>
          <p:cNvPr id="45" name="Rectangle 44"/>
          <p:cNvSpPr/>
          <p:nvPr/>
        </p:nvSpPr>
        <p:spPr>
          <a:xfrm>
            <a:off x="6601968" y="5001768"/>
            <a:ext cx="4983480" cy="658368"/>
          </a:xfrm>
          <a:prstGeom prst="rect">
            <a:avLst/>
          </a:prstGeom>
          <a:solidFill>
            <a:srgbClr val="F8F9F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38544" y="5052060"/>
            <a:ext cx="4910328" cy="585216"/>
          </a:xfrm>
          <a:prstGeom prst="rect">
            <a:avLst/>
          </a:prstGeom>
          <a:noFill/>
        </p:spPr>
        <p:txBody>
          <a:bodyPr wrap="none">
            <a:spAutoFit/>
          </a:bodyPr>
          <a:lstStyle/>
          <a:p>
            <a:pPr>
              <a:defRPr sz="840" b="0">
                <a:solidFill>
                  <a:srgbClr val="1F262E"/>
                </a:solidFill>
                <a:latin typeface="Microsoft YaHei"/>
              </a:defRPr>
            </a:pPr>
            <a:r>
              <a:t>Nextflow/Snakemake + container + benchmark dataset + report template</a:t>
            </a:r>
          </a:p>
        </p:txBody>
      </p:sp>
      <p:sp>
        <p:nvSpPr>
          <p:cNvPr id="47" name="Rounded Rectangle 46"/>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最值得做的改动不是重写一个新工具，而是把参考、比对、修饰证据和统计层统一成可复现工作流。</a:t>
            </a:r>
          </a:p>
        </p:txBody>
      </p:sp>
      <p:sp>
        <p:nvSpPr>
          <p:cNvPr id="49" name="TextBox 48"/>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34417604: tRNAscan-SE 2.0: improved detection and functional classification of transfer RNA genes | PMID 32796835: Quantitative tRNA-sequencing uncovers metazoan tissue-specific tRNA regulation. | PMID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建议方向一：统一 reference graph 与不确定性传递</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2033625"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527048"/>
            <a:ext cx="1923897" cy="256032"/>
          </a:xfrm>
          <a:prstGeom prst="rect">
            <a:avLst/>
          </a:prstGeom>
          <a:noFill/>
        </p:spPr>
        <p:txBody>
          <a:bodyPr wrap="none">
            <a:spAutoFit/>
          </a:bodyPr>
          <a:lstStyle/>
          <a:p>
            <a:pPr algn="ctr">
              <a:defRPr sz="840" b="1">
                <a:solidFill>
                  <a:srgbClr val="2D5D7B"/>
                </a:solidFill>
                <a:latin typeface="Microsoft YaHei"/>
              </a:defRPr>
            </a:pPr>
            <a:r>
              <a:t>tRNAscan-SE gene catalog</a:t>
            </a:r>
          </a:p>
        </p:txBody>
      </p:sp>
      <p:sp>
        <p:nvSpPr>
          <p:cNvPr id="7" name="TextBox 6"/>
          <p:cNvSpPr txBox="1"/>
          <p:nvPr/>
        </p:nvSpPr>
        <p:spPr>
          <a:xfrm>
            <a:off x="2778861" y="15636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8" name="Rounded Rectangle 7"/>
          <p:cNvSpPr/>
          <p:nvPr/>
        </p:nvSpPr>
        <p:spPr>
          <a:xfrm>
            <a:off x="2874873" y="1417320"/>
            <a:ext cx="2033625"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9737" y="1527048"/>
            <a:ext cx="1923897" cy="256032"/>
          </a:xfrm>
          <a:prstGeom prst="rect">
            <a:avLst/>
          </a:prstGeom>
          <a:noFill/>
        </p:spPr>
        <p:txBody>
          <a:bodyPr wrap="none">
            <a:spAutoFit/>
          </a:bodyPr>
          <a:lstStyle/>
          <a:p>
            <a:pPr algn="ctr">
              <a:defRPr sz="840" b="1">
                <a:solidFill>
                  <a:srgbClr val="2D5D7B"/>
                </a:solidFill>
                <a:latin typeface="Microsoft YaHei"/>
              </a:defRPr>
            </a:pPr>
            <a:r>
              <a:t>mature tRNA transcriptome</a:t>
            </a:r>
          </a:p>
        </p:txBody>
      </p:sp>
      <p:sp>
        <p:nvSpPr>
          <p:cNvPr id="10" name="TextBox 9"/>
          <p:cNvSpPr txBox="1"/>
          <p:nvPr/>
        </p:nvSpPr>
        <p:spPr>
          <a:xfrm>
            <a:off x="4922215" y="15636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5018227" y="1417320"/>
            <a:ext cx="2033625"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73091" y="1527048"/>
            <a:ext cx="1923897" cy="256032"/>
          </a:xfrm>
          <a:prstGeom prst="rect">
            <a:avLst/>
          </a:prstGeom>
          <a:noFill/>
        </p:spPr>
        <p:txBody>
          <a:bodyPr wrap="none">
            <a:spAutoFit/>
          </a:bodyPr>
          <a:lstStyle/>
          <a:p>
            <a:pPr algn="ctr">
              <a:defRPr sz="840" b="1">
                <a:solidFill>
                  <a:srgbClr val="2D5D7B"/>
                </a:solidFill>
                <a:latin typeface="Microsoft YaHei"/>
              </a:defRPr>
            </a:pPr>
            <a:r>
              <a:t>CCA/intron/edit rules</a:t>
            </a:r>
          </a:p>
        </p:txBody>
      </p:sp>
      <p:sp>
        <p:nvSpPr>
          <p:cNvPr id="13" name="TextBox 12"/>
          <p:cNvSpPr txBox="1"/>
          <p:nvPr/>
        </p:nvSpPr>
        <p:spPr>
          <a:xfrm>
            <a:off x="7065568" y="15636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7161580" y="1417320"/>
            <a:ext cx="2033625"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16444" y="1527048"/>
            <a:ext cx="1923897" cy="256032"/>
          </a:xfrm>
          <a:prstGeom prst="rect">
            <a:avLst/>
          </a:prstGeom>
          <a:noFill/>
        </p:spPr>
        <p:txBody>
          <a:bodyPr wrap="none">
            <a:spAutoFit/>
          </a:bodyPr>
          <a:lstStyle/>
          <a:p>
            <a:pPr algn="ctr">
              <a:defRPr sz="840" b="1">
                <a:solidFill>
                  <a:srgbClr val="2D5D7B"/>
                </a:solidFill>
                <a:latin typeface="Microsoft YaHei"/>
              </a:defRPr>
            </a:pPr>
            <a:r>
              <a:t>tDR coordinate system</a:t>
            </a:r>
          </a:p>
        </p:txBody>
      </p:sp>
      <p:sp>
        <p:nvSpPr>
          <p:cNvPr id="16" name="TextBox 15"/>
          <p:cNvSpPr txBox="1"/>
          <p:nvPr/>
        </p:nvSpPr>
        <p:spPr>
          <a:xfrm>
            <a:off x="9208922" y="15636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9304934" y="1417320"/>
            <a:ext cx="2033625" cy="502920"/>
          </a:xfrm>
          <a:prstGeom prst="roundRect">
            <a:avLst/>
          </a:prstGeom>
          <a:solidFill>
            <a:srgbClr val="E7EFF4"/>
          </a:solidFill>
          <a:ln>
            <a:solidFill>
              <a:srgbClr val="2D5D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59798" y="1527048"/>
            <a:ext cx="1923897" cy="256032"/>
          </a:xfrm>
          <a:prstGeom prst="rect">
            <a:avLst/>
          </a:prstGeom>
          <a:noFill/>
        </p:spPr>
        <p:txBody>
          <a:bodyPr wrap="none">
            <a:spAutoFit/>
          </a:bodyPr>
          <a:lstStyle/>
          <a:p>
            <a:pPr algn="ctr">
              <a:defRPr sz="840" b="1">
                <a:solidFill>
                  <a:srgbClr val="2D5D7B"/>
                </a:solidFill>
                <a:latin typeface="Microsoft YaHei"/>
              </a:defRPr>
            </a:pPr>
            <a:r>
              <a:t>probabilistic read assignment</a:t>
            </a:r>
          </a:p>
        </p:txBody>
      </p:sp>
      <p:sp>
        <p:nvSpPr>
          <p:cNvPr id="19" name="Rounded Rectangle 18"/>
          <p:cNvSpPr/>
          <p:nvPr/>
        </p:nvSpPr>
        <p:spPr>
          <a:xfrm>
            <a:off x="822960" y="2514600"/>
            <a:ext cx="3200400" cy="2377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2642616"/>
            <a:ext cx="2871216" cy="237744"/>
          </a:xfrm>
          <a:prstGeom prst="rect">
            <a:avLst/>
          </a:prstGeom>
          <a:noFill/>
        </p:spPr>
        <p:txBody>
          <a:bodyPr wrap="square" anchor="t">
            <a:spAutoFit/>
          </a:bodyPr>
          <a:lstStyle/>
          <a:p>
            <a:pPr>
              <a:defRPr sz="1050" b="1">
                <a:solidFill>
                  <a:srgbClr val="2D5D7B"/>
                </a:solidFill>
                <a:latin typeface="Microsoft YaHei"/>
              </a:defRPr>
            </a:pPr>
            <a:r>
              <a:t>为什么需要</a:t>
            </a:r>
          </a:p>
        </p:txBody>
      </p:sp>
      <p:sp>
        <p:nvSpPr>
          <p:cNvPr id="21" name="TextBox 20"/>
          <p:cNvSpPr txBox="1"/>
          <p:nvPr/>
        </p:nvSpPr>
        <p:spPr>
          <a:xfrm>
            <a:off x="987552" y="2953512"/>
            <a:ext cx="2871216" cy="1874519"/>
          </a:xfrm>
          <a:prstGeom prst="rect">
            <a:avLst/>
          </a:prstGeom>
          <a:noFill/>
        </p:spPr>
        <p:txBody>
          <a:bodyPr wrap="square">
            <a:spAutoFit/>
          </a:bodyPr>
          <a:lstStyle/>
          <a:p>
            <a:pPr>
              <a:spcAft>
                <a:spcPts val="400"/>
              </a:spcAft>
              <a:defRPr sz="919">
                <a:solidFill>
                  <a:srgbClr val="1F262E"/>
                </a:solidFill>
                <a:latin typeface="Microsoft YaHei"/>
              </a:defRPr>
            </a:pPr>
            <a:r>
              <a:t>tRNA 多拷贝导致 gene-level 唯一定位经常不成立。</a:t>
            </a:r>
          </a:p>
          <a:p>
            <a:pPr>
              <a:spcAft>
                <a:spcPts val="400"/>
              </a:spcAft>
              <a:defRPr sz="919">
                <a:solidFill>
                  <a:srgbClr val="1F262E"/>
                </a:solidFill>
                <a:latin typeface="Microsoft YaHei"/>
              </a:defRPr>
            </a:pPr>
            <a:r>
              <a:t>不同工具的 reference 坐标不统一，结果难以合并。</a:t>
            </a:r>
          </a:p>
          <a:p>
            <a:pPr>
              <a:spcAft>
                <a:spcPts val="400"/>
              </a:spcAft>
              <a:defRPr sz="919">
                <a:solidFill>
                  <a:srgbClr val="1F262E"/>
                </a:solidFill>
                <a:latin typeface="Microsoft YaHei"/>
              </a:defRPr>
            </a:pPr>
            <a:r>
              <a:t>硬分配会把上游不确定性伪装成下游显著性。</a:t>
            </a:r>
          </a:p>
        </p:txBody>
      </p:sp>
      <p:sp>
        <p:nvSpPr>
          <p:cNvPr id="22" name="Rounded Rectangle 21"/>
          <p:cNvSpPr/>
          <p:nvPr/>
        </p:nvSpPr>
        <p:spPr>
          <a:xfrm>
            <a:off x="4434840" y="2514600"/>
            <a:ext cx="3200400" cy="2377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9431" y="2642616"/>
            <a:ext cx="2871216" cy="237744"/>
          </a:xfrm>
          <a:prstGeom prst="rect">
            <a:avLst/>
          </a:prstGeom>
          <a:noFill/>
        </p:spPr>
        <p:txBody>
          <a:bodyPr wrap="square" anchor="t">
            <a:spAutoFit/>
          </a:bodyPr>
          <a:lstStyle/>
          <a:p>
            <a:pPr>
              <a:defRPr sz="1050" b="1">
                <a:solidFill>
                  <a:srgbClr val="2D5D7B"/>
                </a:solidFill>
                <a:latin typeface="Microsoft YaHei"/>
              </a:defRPr>
            </a:pPr>
            <a:r>
              <a:t>实现方式</a:t>
            </a:r>
          </a:p>
        </p:txBody>
      </p:sp>
      <p:sp>
        <p:nvSpPr>
          <p:cNvPr id="24" name="TextBox 23"/>
          <p:cNvSpPr txBox="1"/>
          <p:nvPr/>
        </p:nvSpPr>
        <p:spPr>
          <a:xfrm>
            <a:off x="4599431" y="2953512"/>
            <a:ext cx="2871216" cy="1874519"/>
          </a:xfrm>
          <a:prstGeom prst="rect">
            <a:avLst/>
          </a:prstGeom>
          <a:noFill/>
        </p:spPr>
        <p:txBody>
          <a:bodyPr wrap="square">
            <a:spAutoFit/>
          </a:bodyPr>
          <a:lstStyle/>
          <a:p>
            <a:pPr>
              <a:spcAft>
                <a:spcPts val="400"/>
              </a:spcAft>
              <a:defRPr sz="919">
                <a:solidFill>
                  <a:srgbClr val="1F262E"/>
                </a:solidFill>
                <a:latin typeface="Microsoft YaHei"/>
              </a:defRPr>
            </a:pPr>
            <a:r>
              <a:t>用 tRNAscan-SE 构建候选 gene 层。</a:t>
            </a:r>
          </a:p>
          <a:p>
            <a:pPr>
              <a:spcAft>
                <a:spcPts val="400"/>
              </a:spcAft>
              <a:defRPr sz="919">
                <a:solidFill>
                  <a:srgbClr val="1F262E"/>
                </a:solidFill>
                <a:latin typeface="Microsoft YaHei"/>
              </a:defRPr>
            </a:pPr>
            <a:r>
              <a:t>生成 mature transcript 与 tDR fragment graph。</a:t>
            </a:r>
          </a:p>
          <a:p>
            <a:pPr>
              <a:spcAft>
                <a:spcPts val="400"/>
              </a:spcAft>
              <a:defRPr sz="919">
                <a:solidFill>
                  <a:srgbClr val="1F262E"/>
                </a:solidFill>
                <a:latin typeface="Microsoft YaHei"/>
              </a:defRPr>
            </a:pPr>
            <a:r>
              <a:t>用 EM/Bayesian 模型输出层级 counts 和 posterior。</a:t>
            </a:r>
          </a:p>
        </p:txBody>
      </p:sp>
      <p:sp>
        <p:nvSpPr>
          <p:cNvPr id="25" name="Rounded Rectangle 24"/>
          <p:cNvSpPr/>
          <p:nvPr/>
        </p:nvSpPr>
        <p:spPr>
          <a:xfrm>
            <a:off x="8046720" y="2514600"/>
            <a:ext cx="3200400" cy="2377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11312" y="2642616"/>
            <a:ext cx="2871216" cy="237744"/>
          </a:xfrm>
          <a:prstGeom prst="rect">
            <a:avLst/>
          </a:prstGeom>
          <a:noFill/>
        </p:spPr>
        <p:txBody>
          <a:bodyPr wrap="square" anchor="t">
            <a:spAutoFit/>
          </a:bodyPr>
          <a:lstStyle/>
          <a:p>
            <a:pPr>
              <a:defRPr sz="1050" b="1">
                <a:solidFill>
                  <a:srgbClr val="2D5D7B"/>
                </a:solidFill>
                <a:latin typeface="Microsoft YaHei"/>
              </a:defRPr>
            </a:pPr>
            <a:r>
              <a:t>预期收益</a:t>
            </a:r>
          </a:p>
        </p:txBody>
      </p:sp>
      <p:sp>
        <p:nvSpPr>
          <p:cNvPr id="27" name="TextBox 26"/>
          <p:cNvSpPr txBox="1"/>
          <p:nvPr/>
        </p:nvSpPr>
        <p:spPr>
          <a:xfrm>
            <a:off x="8211312" y="2953512"/>
            <a:ext cx="2871216" cy="1874519"/>
          </a:xfrm>
          <a:prstGeom prst="rect">
            <a:avLst/>
          </a:prstGeom>
          <a:noFill/>
        </p:spPr>
        <p:txBody>
          <a:bodyPr wrap="square">
            <a:spAutoFit/>
          </a:bodyPr>
          <a:lstStyle/>
          <a:p>
            <a:pPr>
              <a:spcAft>
                <a:spcPts val="400"/>
              </a:spcAft>
              <a:defRPr sz="919">
                <a:solidFill>
                  <a:srgbClr val="1F262E"/>
                </a:solidFill>
                <a:latin typeface="Microsoft YaHei"/>
              </a:defRPr>
            </a:pPr>
            <a:r>
              <a:t>跨样本差异更稳健。</a:t>
            </a:r>
          </a:p>
          <a:p>
            <a:pPr>
              <a:spcAft>
                <a:spcPts val="400"/>
              </a:spcAft>
              <a:defRPr sz="919">
                <a:solidFill>
                  <a:srgbClr val="1F262E"/>
                </a:solidFill>
                <a:latin typeface="Microsoft YaHei"/>
              </a:defRPr>
            </a:pPr>
            <a:r>
              <a:t>tDR 命名和 abundance 可追溯。</a:t>
            </a:r>
          </a:p>
          <a:p>
            <a:pPr>
              <a:spcAft>
                <a:spcPts val="400"/>
              </a:spcAft>
              <a:defRPr sz="919">
                <a:solidFill>
                  <a:srgbClr val="1F262E"/>
                </a:solidFill>
                <a:latin typeface="Microsoft YaHei"/>
              </a:defRPr>
            </a:pPr>
            <a:r>
              <a:t>更容易接入 spike-in、UMI 和多组学证据。</a:t>
            </a:r>
          </a:p>
        </p:txBody>
      </p:sp>
      <p:sp>
        <p:nvSpPr>
          <p:cNvPr id="28" name="Rounded Rectangle 27"/>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先统一“对象是什么”，再讨论“差异是否显著”。</a:t>
            </a:r>
          </a:p>
        </p:txBody>
      </p:sp>
      <p:sp>
        <p:nvSpPr>
          <p:cNvPr id="30" name="TextBox 29"/>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34417604: tRNAscan-SE 2.0: improved detection and functional classification of transfer RNA genes | PMID 32796835: Quantitative tRNA-sequencing uncovers metazoan tissue-specific tRNA regulation. | PMID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建议方向二：修饰识别应从单一 signature 走向联合 caller</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527048"/>
            <a:ext cx="1566672" cy="256032"/>
          </a:xfrm>
          <a:prstGeom prst="rect">
            <a:avLst/>
          </a:prstGeom>
          <a:noFill/>
        </p:spPr>
        <p:txBody>
          <a:bodyPr wrap="none">
            <a:spAutoFit/>
          </a:bodyPr>
          <a:lstStyle/>
          <a:p>
            <a:pPr algn="ctr">
              <a:defRPr sz="840" b="1">
                <a:solidFill>
                  <a:srgbClr val="587C5D"/>
                </a:solidFill>
                <a:latin typeface="Microsoft YaHei"/>
              </a:defRPr>
            </a:pPr>
            <a:r>
              <a:t>RT-stop</a:t>
            </a:r>
          </a:p>
        </p:txBody>
      </p:sp>
      <p:sp>
        <p:nvSpPr>
          <p:cNvPr id="7" name="TextBox 6"/>
          <p:cNvSpPr txBox="1"/>
          <p:nvPr/>
        </p:nvSpPr>
        <p:spPr>
          <a:xfrm>
            <a:off x="2421636" y="15636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8" name="Rounded Rectangle 7"/>
          <p:cNvSpPr/>
          <p:nvPr/>
        </p:nvSpPr>
        <p:spPr>
          <a:xfrm>
            <a:off x="2517647" y="1417320"/>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72511" y="1527048"/>
            <a:ext cx="1566672" cy="256032"/>
          </a:xfrm>
          <a:prstGeom prst="rect">
            <a:avLst/>
          </a:prstGeom>
          <a:noFill/>
        </p:spPr>
        <p:txBody>
          <a:bodyPr wrap="none">
            <a:spAutoFit/>
          </a:bodyPr>
          <a:lstStyle/>
          <a:p>
            <a:pPr algn="ctr">
              <a:defRPr sz="840" b="1">
                <a:solidFill>
                  <a:srgbClr val="587C5D"/>
                </a:solidFill>
                <a:latin typeface="Microsoft YaHei"/>
              </a:defRPr>
            </a:pPr>
            <a:r>
              <a:t>Mismatch</a:t>
            </a:r>
          </a:p>
        </p:txBody>
      </p:sp>
      <p:sp>
        <p:nvSpPr>
          <p:cNvPr id="10" name="TextBox 9"/>
          <p:cNvSpPr txBox="1"/>
          <p:nvPr/>
        </p:nvSpPr>
        <p:spPr>
          <a:xfrm>
            <a:off x="4207763" y="15636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1" name="Rounded Rectangle 10"/>
          <p:cNvSpPr/>
          <p:nvPr/>
        </p:nvSpPr>
        <p:spPr>
          <a:xfrm>
            <a:off x="4303775" y="1417320"/>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8639" y="1527048"/>
            <a:ext cx="1566672" cy="256032"/>
          </a:xfrm>
          <a:prstGeom prst="rect">
            <a:avLst/>
          </a:prstGeom>
          <a:noFill/>
        </p:spPr>
        <p:txBody>
          <a:bodyPr wrap="none">
            <a:spAutoFit/>
          </a:bodyPr>
          <a:lstStyle/>
          <a:p>
            <a:pPr algn="ctr">
              <a:defRPr sz="840" b="1">
                <a:solidFill>
                  <a:srgbClr val="587C5D"/>
                </a:solidFill>
                <a:latin typeface="Microsoft YaHei"/>
              </a:defRPr>
            </a:pPr>
            <a:r>
              <a:t>Induro/readthrough</a:t>
            </a:r>
          </a:p>
        </p:txBody>
      </p:sp>
      <p:sp>
        <p:nvSpPr>
          <p:cNvPr id="13" name="TextBox 12"/>
          <p:cNvSpPr txBox="1"/>
          <p:nvPr/>
        </p:nvSpPr>
        <p:spPr>
          <a:xfrm>
            <a:off x="5993891" y="15636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4" name="Rounded Rectangle 13"/>
          <p:cNvSpPr/>
          <p:nvPr/>
        </p:nvSpPr>
        <p:spPr>
          <a:xfrm>
            <a:off x="6089903" y="1417320"/>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44767" y="1527048"/>
            <a:ext cx="1566672" cy="256032"/>
          </a:xfrm>
          <a:prstGeom prst="rect">
            <a:avLst/>
          </a:prstGeom>
          <a:noFill/>
        </p:spPr>
        <p:txBody>
          <a:bodyPr wrap="none">
            <a:spAutoFit/>
          </a:bodyPr>
          <a:lstStyle/>
          <a:p>
            <a:pPr algn="ctr">
              <a:defRPr sz="840" b="1">
                <a:solidFill>
                  <a:srgbClr val="587C5D"/>
                </a:solidFill>
                <a:latin typeface="Microsoft YaHei"/>
              </a:defRPr>
            </a:pPr>
            <a:r>
              <a:t>Nanopore signal</a:t>
            </a:r>
          </a:p>
        </p:txBody>
      </p:sp>
      <p:sp>
        <p:nvSpPr>
          <p:cNvPr id="16" name="TextBox 15"/>
          <p:cNvSpPr txBox="1"/>
          <p:nvPr/>
        </p:nvSpPr>
        <p:spPr>
          <a:xfrm>
            <a:off x="7780020" y="15636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17" name="Rounded Rectangle 16"/>
          <p:cNvSpPr/>
          <p:nvPr/>
        </p:nvSpPr>
        <p:spPr>
          <a:xfrm>
            <a:off x="7876032" y="1417320"/>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0896" y="1527048"/>
            <a:ext cx="1566672" cy="256032"/>
          </a:xfrm>
          <a:prstGeom prst="rect">
            <a:avLst/>
          </a:prstGeom>
          <a:noFill/>
        </p:spPr>
        <p:txBody>
          <a:bodyPr wrap="none">
            <a:spAutoFit/>
          </a:bodyPr>
          <a:lstStyle/>
          <a:p>
            <a:pPr algn="ctr">
              <a:defRPr sz="840" b="1">
                <a:solidFill>
                  <a:srgbClr val="587C5D"/>
                </a:solidFill>
                <a:latin typeface="Microsoft YaHei"/>
              </a:defRPr>
            </a:pPr>
            <a:r>
              <a:t>DMS reactivity</a:t>
            </a:r>
          </a:p>
        </p:txBody>
      </p:sp>
      <p:sp>
        <p:nvSpPr>
          <p:cNvPr id="19" name="TextBox 18"/>
          <p:cNvSpPr txBox="1"/>
          <p:nvPr/>
        </p:nvSpPr>
        <p:spPr>
          <a:xfrm>
            <a:off x="9566148" y="1563624"/>
            <a:ext cx="82296" cy="182880"/>
          </a:xfrm>
          <a:prstGeom prst="rect">
            <a:avLst/>
          </a:prstGeom>
          <a:noFill/>
        </p:spPr>
        <p:txBody>
          <a:bodyPr wrap="square" anchor="t">
            <a:spAutoFit/>
          </a:bodyPr>
          <a:lstStyle/>
          <a:p>
            <a:pPr>
              <a:defRPr sz="1000" b="1">
                <a:solidFill>
                  <a:srgbClr val="5C6670"/>
                </a:solidFill>
                <a:latin typeface="Microsoft YaHei"/>
              </a:defRPr>
            </a:pPr>
            <a:r>
              <a:t>&gt;</a:t>
            </a:r>
          </a:p>
        </p:txBody>
      </p:sp>
      <p:sp>
        <p:nvSpPr>
          <p:cNvPr id="20" name="Rounded Rectangle 19"/>
          <p:cNvSpPr/>
          <p:nvPr/>
        </p:nvSpPr>
        <p:spPr>
          <a:xfrm>
            <a:off x="9662160" y="1417320"/>
            <a:ext cx="1676400" cy="502920"/>
          </a:xfrm>
          <a:prstGeom prst="roundRect">
            <a:avLst/>
          </a:prstGeom>
          <a:solidFill>
            <a:srgbClr val="E8F1EA"/>
          </a:solidFill>
          <a:ln>
            <a:solidFill>
              <a:srgbClr val="587C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17024" y="1527048"/>
            <a:ext cx="1566672" cy="256032"/>
          </a:xfrm>
          <a:prstGeom prst="rect">
            <a:avLst/>
          </a:prstGeom>
          <a:noFill/>
        </p:spPr>
        <p:txBody>
          <a:bodyPr wrap="none">
            <a:spAutoFit/>
          </a:bodyPr>
          <a:lstStyle/>
          <a:p>
            <a:pPr algn="ctr">
              <a:defRPr sz="840" b="1">
                <a:solidFill>
                  <a:srgbClr val="587C5D"/>
                </a:solidFill>
                <a:latin typeface="Microsoft YaHei"/>
              </a:defRPr>
            </a:pPr>
            <a:r>
              <a:t>Joint modification caller</a:t>
            </a:r>
          </a:p>
        </p:txBody>
      </p:sp>
      <p:sp>
        <p:nvSpPr>
          <p:cNvPr id="22" name="Rounded Rectangle 21"/>
          <p:cNvSpPr/>
          <p:nvPr/>
        </p:nvSpPr>
        <p:spPr>
          <a:xfrm>
            <a:off x="822960" y="2514600"/>
            <a:ext cx="3246120" cy="2487168"/>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2642616"/>
            <a:ext cx="2916936" cy="237744"/>
          </a:xfrm>
          <a:prstGeom prst="rect">
            <a:avLst/>
          </a:prstGeom>
          <a:noFill/>
        </p:spPr>
        <p:txBody>
          <a:bodyPr wrap="square" anchor="t">
            <a:spAutoFit/>
          </a:bodyPr>
          <a:lstStyle/>
          <a:p>
            <a:pPr>
              <a:defRPr sz="1050" b="1">
                <a:solidFill>
                  <a:srgbClr val="2D5D7B"/>
                </a:solidFill>
                <a:latin typeface="Microsoft YaHei"/>
              </a:defRPr>
            </a:pPr>
            <a:r>
              <a:t>输入证据</a:t>
            </a:r>
          </a:p>
        </p:txBody>
      </p:sp>
      <p:sp>
        <p:nvSpPr>
          <p:cNvPr id="24" name="TextBox 23"/>
          <p:cNvSpPr txBox="1"/>
          <p:nvPr/>
        </p:nvSpPr>
        <p:spPr>
          <a:xfrm>
            <a:off x="987552" y="2953512"/>
            <a:ext cx="2916936" cy="1984248"/>
          </a:xfrm>
          <a:prstGeom prst="rect">
            <a:avLst/>
          </a:prstGeom>
          <a:noFill/>
        </p:spPr>
        <p:txBody>
          <a:bodyPr wrap="square">
            <a:spAutoFit/>
          </a:bodyPr>
          <a:lstStyle/>
          <a:p>
            <a:pPr>
              <a:spcAft>
                <a:spcPts val="400"/>
              </a:spcAft>
              <a:defRPr sz="919">
                <a:solidFill>
                  <a:srgbClr val="1F262E"/>
                </a:solidFill>
                <a:latin typeface="Microsoft YaHei"/>
              </a:defRPr>
            </a:pPr>
            <a:r>
              <a:t>mim/Induro 的错配矩阵。</a:t>
            </a:r>
          </a:p>
          <a:p>
            <a:pPr>
              <a:spcAft>
                <a:spcPts val="400"/>
              </a:spcAft>
              <a:defRPr sz="919">
                <a:solidFill>
                  <a:srgbClr val="1F262E"/>
                </a:solidFill>
                <a:latin typeface="Microsoft YaHei"/>
              </a:defRPr>
            </a:pPr>
            <a:r>
              <a:t>Nano-tRNAseq 的 event/signal 偏移。</a:t>
            </a:r>
          </a:p>
          <a:p>
            <a:pPr>
              <a:spcAft>
                <a:spcPts val="400"/>
              </a:spcAft>
              <a:defRPr sz="919">
                <a:solidFill>
                  <a:srgbClr val="1F262E"/>
                </a:solidFill>
                <a:latin typeface="Microsoft YaHei"/>
              </a:defRPr>
            </a:pPr>
            <a:r>
              <a:t>DM-DMS 的反应性变化。</a:t>
            </a:r>
          </a:p>
          <a:p>
            <a:pPr>
              <a:spcAft>
                <a:spcPts val="400"/>
              </a:spcAft>
              <a:defRPr sz="919">
                <a:solidFill>
                  <a:srgbClr val="1F262E"/>
                </a:solidFill>
                <a:latin typeface="Microsoft YaHei"/>
              </a:defRPr>
            </a:pPr>
            <a:r>
              <a:t>修饰酶敲除或标准品作为标签。</a:t>
            </a:r>
          </a:p>
        </p:txBody>
      </p:sp>
      <p:sp>
        <p:nvSpPr>
          <p:cNvPr id="25" name="Rounded Rectangle 24"/>
          <p:cNvSpPr/>
          <p:nvPr/>
        </p:nvSpPr>
        <p:spPr>
          <a:xfrm>
            <a:off x="4434840" y="2514600"/>
            <a:ext cx="3246120" cy="2487168"/>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1" y="2642616"/>
            <a:ext cx="2916936" cy="237744"/>
          </a:xfrm>
          <a:prstGeom prst="rect">
            <a:avLst/>
          </a:prstGeom>
          <a:noFill/>
        </p:spPr>
        <p:txBody>
          <a:bodyPr wrap="square" anchor="t">
            <a:spAutoFit/>
          </a:bodyPr>
          <a:lstStyle/>
          <a:p>
            <a:pPr>
              <a:defRPr sz="1050" b="1">
                <a:solidFill>
                  <a:srgbClr val="2D5D7B"/>
                </a:solidFill>
                <a:latin typeface="Microsoft YaHei"/>
              </a:defRPr>
            </a:pPr>
            <a:r>
              <a:t>建模策略</a:t>
            </a:r>
          </a:p>
        </p:txBody>
      </p:sp>
      <p:sp>
        <p:nvSpPr>
          <p:cNvPr id="27" name="TextBox 26"/>
          <p:cNvSpPr txBox="1"/>
          <p:nvPr/>
        </p:nvSpPr>
        <p:spPr>
          <a:xfrm>
            <a:off x="4599431" y="2953512"/>
            <a:ext cx="2916936" cy="1984248"/>
          </a:xfrm>
          <a:prstGeom prst="rect">
            <a:avLst/>
          </a:prstGeom>
          <a:noFill/>
        </p:spPr>
        <p:txBody>
          <a:bodyPr wrap="square">
            <a:spAutoFit/>
          </a:bodyPr>
          <a:lstStyle/>
          <a:p>
            <a:pPr>
              <a:spcAft>
                <a:spcPts val="400"/>
              </a:spcAft>
              <a:defRPr sz="919">
                <a:solidFill>
                  <a:srgbClr val="1F262E"/>
                </a:solidFill>
                <a:latin typeface="Microsoft YaHei"/>
              </a:defRPr>
            </a:pPr>
            <a:r>
              <a:t>site × tRNA × sample 三维张量。</a:t>
            </a:r>
          </a:p>
          <a:p>
            <a:pPr>
              <a:spcAft>
                <a:spcPts val="400"/>
              </a:spcAft>
              <a:defRPr sz="919">
                <a:solidFill>
                  <a:srgbClr val="1F262E"/>
                </a:solidFill>
                <a:latin typeface="Microsoft YaHei"/>
              </a:defRPr>
            </a:pPr>
            <a:r>
              <a:t>beta-binomial 处理比例信号。</a:t>
            </a:r>
          </a:p>
          <a:p>
            <a:pPr>
              <a:spcAft>
                <a:spcPts val="400"/>
              </a:spcAft>
              <a:defRPr sz="919">
                <a:solidFill>
                  <a:srgbClr val="1F262E"/>
                </a:solidFill>
                <a:latin typeface="Microsoft YaHei"/>
              </a:defRPr>
            </a:pPr>
            <a:r>
              <a:t>ML/校准曲线处理纳米孔特征。</a:t>
            </a:r>
          </a:p>
          <a:p>
            <a:pPr>
              <a:spcAft>
                <a:spcPts val="400"/>
              </a:spcAft>
              <a:defRPr sz="919">
                <a:solidFill>
                  <a:srgbClr val="1F262E"/>
                </a:solidFill>
                <a:latin typeface="Microsoft YaHei"/>
              </a:defRPr>
            </a:pPr>
            <a:r>
              <a:t>输出 modification probability 而非硬标签。</a:t>
            </a:r>
          </a:p>
        </p:txBody>
      </p:sp>
      <p:sp>
        <p:nvSpPr>
          <p:cNvPr id="28" name="Rounded Rectangle 27"/>
          <p:cNvSpPr/>
          <p:nvPr/>
        </p:nvSpPr>
        <p:spPr>
          <a:xfrm>
            <a:off x="8046720" y="2514600"/>
            <a:ext cx="3246120" cy="2487168"/>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11312" y="2642616"/>
            <a:ext cx="2916936" cy="237744"/>
          </a:xfrm>
          <a:prstGeom prst="rect">
            <a:avLst/>
          </a:prstGeom>
          <a:noFill/>
        </p:spPr>
        <p:txBody>
          <a:bodyPr wrap="square" anchor="t">
            <a:spAutoFit/>
          </a:bodyPr>
          <a:lstStyle/>
          <a:p>
            <a:pPr>
              <a:defRPr sz="1050" b="1">
                <a:solidFill>
                  <a:srgbClr val="2D5D7B"/>
                </a:solidFill>
                <a:latin typeface="Microsoft YaHei"/>
              </a:defRPr>
            </a:pPr>
            <a:r>
              <a:t>风险控制</a:t>
            </a:r>
          </a:p>
        </p:txBody>
      </p:sp>
      <p:sp>
        <p:nvSpPr>
          <p:cNvPr id="30" name="TextBox 29"/>
          <p:cNvSpPr txBox="1"/>
          <p:nvPr/>
        </p:nvSpPr>
        <p:spPr>
          <a:xfrm>
            <a:off x="8211312" y="2953512"/>
            <a:ext cx="2916936" cy="1984248"/>
          </a:xfrm>
          <a:prstGeom prst="rect">
            <a:avLst/>
          </a:prstGeom>
          <a:noFill/>
        </p:spPr>
        <p:txBody>
          <a:bodyPr wrap="square">
            <a:spAutoFit/>
          </a:bodyPr>
          <a:lstStyle/>
          <a:p>
            <a:pPr>
              <a:spcAft>
                <a:spcPts val="400"/>
              </a:spcAft>
              <a:defRPr sz="919">
                <a:solidFill>
                  <a:srgbClr val="1F262E"/>
                </a:solidFill>
                <a:latin typeface="Microsoft YaHei"/>
              </a:defRPr>
            </a:pPr>
            <a:r>
              <a:t>区分覆盖不足与真实缺失。</a:t>
            </a:r>
          </a:p>
          <a:p>
            <a:pPr>
              <a:spcAft>
                <a:spcPts val="400"/>
              </a:spcAft>
              <a:defRPr sz="919">
                <a:solidFill>
                  <a:srgbClr val="1F262E"/>
                </a:solidFill>
                <a:latin typeface="Microsoft YaHei"/>
              </a:defRPr>
            </a:pPr>
            <a:r>
              <a:t>控制 RT 酶、批次和相邻序列效应。</a:t>
            </a:r>
          </a:p>
          <a:p>
            <a:pPr>
              <a:spcAft>
                <a:spcPts val="400"/>
              </a:spcAft>
              <a:defRPr sz="919">
                <a:solidFill>
                  <a:srgbClr val="1F262E"/>
                </a:solidFill>
                <a:latin typeface="Microsoft YaHei"/>
              </a:defRPr>
            </a:pPr>
            <a:r>
              <a:t>跨平台验证高置信位点。</a:t>
            </a:r>
          </a:p>
        </p:txBody>
      </p:sp>
      <p:sp>
        <p:nvSpPr>
          <p:cNvPr id="31" name="Rounded Rectangle 30"/>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修饰 caller 的目标应是可校准概率，而不是把所有异常读段归因给某一种修饰。</a:t>
            </a:r>
          </a:p>
        </p:txBody>
      </p:sp>
      <p:sp>
        <p:nvSpPr>
          <p:cNvPr id="33" name="TextBox 32"/>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33581077: High-resolution quantitative profiling of tRNA abundance and modification status in eukaryotes by mim-tRNAseq. | PMID 37024678: Quantitative analysis of tRNA abundance and modifications by nan...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建议方向三：面向汇报和项目复用的标准 pipeline</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234440"/>
            <a:ext cx="2423160" cy="3566160"/>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362456"/>
            <a:ext cx="2093976" cy="237744"/>
          </a:xfrm>
          <a:prstGeom prst="rect">
            <a:avLst/>
          </a:prstGeom>
          <a:noFill/>
        </p:spPr>
        <p:txBody>
          <a:bodyPr wrap="square" anchor="t">
            <a:spAutoFit/>
          </a:bodyPr>
          <a:lstStyle/>
          <a:p>
            <a:pPr>
              <a:defRPr sz="1050" b="1">
                <a:solidFill>
                  <a:srgbClr val="2D5D7B"/>
                </a:solidFill>
                <a:latin typeface="Microsoft YaHei"/>
              </a:defRPr>
            </a:pPr>
            <a:r>
              <a:t>输入标准</a:t>
            </a:r>
          </a:p>
        </p:txBody>
      </p:sp>
      <p:sp>
        <p:nvSpPr>
          <p:cNvPr id="7" name="TextBox 6"/>
          <p:cNvSpPr txBox="1"/>
          <p:nvPr/>
        </p:nvSpPr>
        <p:spPr>
          <a:xfrm>
            <a:off x="896112" y="1673352"/>
            <a:ext cx="2093976" cy="3063239"/>
          </a:xfrm>
          <a:prstGeom prst="rect">
            <a:avLst/>
          </a:prstGeom>
          <a:noFill/>
        </p:spPr>
        <p:txBody>
          <a:bodyPr wrap="square">
            <a:spAutoFit/>
          </a:bodyPr>
          <a:lstStyle/>
          <a:p>
            <a:pPr>
              <a:spcAft>
                <a:spcPts val="400"/>
              </a:spcAft>
              <a:defRPr sz="919">
                <a:solidFill>
                  <a:srgbClr val="1F262E"/>
                </a:solidFill>
                <a:latin typeface="Microsoft YaHei"/>
              </a:defRPr>
            </a:pPr>
            <a:r>
              <a:t>FASTQ/FAST5/POD5</a:t>
            </a:r>
          </a:p>
          <a:p>
            <a:pPr>
              <a:spcAft>
                <a:spcPts val="400"/>
              </a:spcAft>
              <a:defRPr sz="919">
                <a:solidFill>
                  <a:srgbClr val="1F262E"/>
                </a:solidFill>
                <a:latin typeface="Microsoft YaHei"/>
              </a:defRPr>
            </a:pPr>
            <a:r>
              <a:t>sample sheet</a:t>
            </a:r>
          </a:p>
          <a:p>
            <a:pPr>
              <a:spcAft>
                <a:spcPts val="400"/>
              </a:spcAft>
              <a:defRPr sz="919">
                <a:solidFill>
                  <a:srgbClr val="1F262E"/>
                </a:solidFill>
                <a:latin typeface="Microsoft YaHei"/>
              </a:defRPr>
            </a:pPr>
            <a:r>
              <a:t>species/reference version</a:t>
            </a:r>
          </a:p>
          <a:p>
            <a:pPr>
              <a:spcAft>
                <a:spcPts val="400"/>
              </a:spcAft>
              <a:defRPr sz="919">
                <a:solidFill>
                  <a:srgbClr val="1F262E"/>
                </a:solidFill>
                <a:latin typeface="Microsoft YaHei"/>
              </a:defRPr>
            </a:pPr>
            <a:r>
              <a:t>spike-in/UMI 设置</a:t>
            </a:r>
          </a:p>
          <a:p>
            <a:pPr>
              <a:spcAft>
                <a:spcPts val="400"/>
              </a:spcAft>
              <a:defRPr sz="919">
                <a:solidFill>
                  <a:srgbClr val="1F262E"/>
                </a:solidFill>
                <a:latin typeface="Microsoft YaHei"/>
              </a:defRPr>
            </a:pPr>
            <a:r>
              <a:t>method-specific metadata</a:t>
            </a:r>
          </a:p>
        </p:txBody>
      </p:sp>
      <p:sp>
        <p:nvSpPr>
          <p:cNvPr id="8" name="Rounded Rectangle 7"/>
          <p:cNvSpPr/>
          <p:nvPr/>
        </p:nvSpPr>
        <p:spPr>
          <a:xfrm>
            <a:off x="3474720" y="1234440"/>
            <a:ext cx="2423160" cy="3566160"/>
          </a:xfrm>
          <a:prstGeom prst="roundRect">
            <a:avLst/>
          </a:prstGeom>
          <a:solidFill>
            <a:srgbClr val="E8F1EA"/>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1362456"/>
            <a:ext cx="2093976" cy="237744"/>
          </a:xfrm>
          <a:prstGeom prst="rect">
            <a:avLst/>
          </a:prstGeom>
          <a:noFill/>
        </p:spPr>
        <p:txBody>
          <a:bodyPr wrap="square" anchor="t">
            <a:spAutoFit/>
          </a:bodyPr>
          <a:lstStyle/>
          <a:p>
            <a:pPr>
              <a:defRPr sz="1050" b="1">
                <a:solidFill>
                  <a:srgbClr val="587C5D"/>
                </a:solidFill>
                <a:latin typeface="Microsoft YaHei"/>
              </a:defRPr>
            </a:pPr>
            <a:r>
              <a:t>流程标准</a:t>
            </a:r>
          </a:p>
        </p:txBody>
      </p:sp>
      <p:sp>
        <p:nvSpPr>
          <p:cNvPr id="10" name="TextBox 9"/>
          <p:cNvSpPr txBox="1"/>
          <p:nvPr/>
        </p:nvSpPr>
        <p:spPr>
          <a:xfrm>
            <a:off x="3639312" y="1673352"/>
            <a:ext cx="2093976" cy="3063239"/>
          </a:xfrm>
          <a:prstGeom prst="rect">
            <a:avLst/>
          </a:prstGeom>
          <a:noFill/>
        </p:spPr>
        <p:txBody>
          <a:bodyPr wrap="square">
            <a:spAutoFit/>
          </a:bodyPr>
          <a:lstStyle/>
          <a:p>
            <a:pPr>
              <a:spcAft>
                <a:spcPts val="400"/>
              </a:spcAft>
              <a:defRPr sz="919">
                <a:solidFill>
                  <a:srgbClr val="1F262E"/>
                </a:solidFill>
                <a:latin typeface="Microsoft YaHei"/>
              </a:defRPr>
            </a:pPr>
            <a:r>
              <a:t>QC + trimming</a:t>
            </a:r>
          </a:p>
          <a:p>
            <a:pPr>
              <a:spcAft>
                <a:spcPts val="400"/>
              </a:spcAft>
              <a:defRPr sz="919">
                <a:solidFill>
                  <a:srgbClr val="1F262E"/>
                </a:solidFill>
                <a:latin typeface="Microsoft YaHei"/>
              </a:defRPr>
            </a:pPr>
            <a:r>
              <a:t>reference graph</a:t>
            </a:r>
          </a:p>
          <a:p>
            <a:pPr>
              <a:spcAft>
                <a:spcPts val="400"/>
              </a:spcAft>
              <a:defRPr sz="919">
                <a:solidFill>
                  <a:srgbClr val="1F262E"/>
                </a:solidFill>
                <a:latin typeface="Microsoft YaHei"/>
              </a:defRPr>
            </a:pPr>
            <a:r>
              <a:t>read assignment</a:t>
            </a:r>
          </a:p>
          <a:p>
            <a:pPr>
              <a:spcAft>
                <a:spcPts val="400"/>
              </a:spcAft>
              <a:defRPr sz="919">
                <a:solidFill>
                  <a:srgbClr val="1F262E"/>
                </a:solidFill>
                <a:latin typeface="Microsoft YaHei"/>
              </a:defRPr>
            </a:pPr>
            <a:r>
              <a:t>signal/signature extraction</a:t>
            </a:r>
          </a:p>
          <a:p>
            <a:pPr>
              <a:spcAft>
                <a:spcPts val="400"/>
              </a:spcAft>
              <a:defRPr sz="919">
                <a:solidFill>
                  <a:srgbClr val="1F262E"/>
                </a:solidFill>
                <a:latin typeface="Microsoft YaHei"/>
              </a:defRPr>
            </a:pPr>
            <a:r>
              <a:t>differential module</a:t>
            </a:r>
          </a:p>
          <a:p>
            <a:pPr>
              <a:spcAft>
                <a:spcPts val="400"/>
              </a:spcAft>
              <a:defRPr sz="919">
                <a:solidFill>
                  <a:srgbClr val="1F262E"/>
                </a:solidFill>
                <a:latin typeface="Microsoft YaHei"/>
              </a:defRPr>
            </a:pPr>
            <a:r>
              <a:t>HTML/PPT report</a:t>
            </a:r>
          </a:p>
        </p:txBody>
      </p:sp>
      <p:sp>
        <p:nvSpPr>
          <p:cNvPr id="11" name="Rounded Rectangle 10"/>
          <p:cNvSpPr/>
          <p:nvPr/>
        </p:nvSpPr>
        <p:spPr>
          <a:xfrm>
            <a:off x="6217920" y="1234440"/>
            <a:ext cx="2423160" cy="3566160"/>
          </a:xfrm>
          <a:prstGeom prst="roundRect">
            <a:avLst/>
          </a:prstGeom>
          <a:solidFill>
            <a:srgbClr val="F6F0E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1362456"/>
            <a:ext cx="2093976" cy="237744"/>
          </a:xfrm>
          <a:prstGeom prst="rect">
            <a:avLst/>
          </a:prstGeom>
          <a:noFill/>
        </p:spPr>
        <p:txBody>
          <a:bodyPr wrap="square" anchor="t">
            <a:spAutoFit/>
          </a:bodyPr>
          <a:lstStyle/>
          <a:p>
            <a:pPr>
              <a:defRPr sz="1050" b="1">
                <a:solidFill>
                  <a:srgbClr val="AB813F"/>
                </a:solidFill>
                <a:latin typeface="Microsoft YaHei"/>
              </a:defRPr>
            </a:pPr>
            <a:r>
              <a:t>输出标准</a:t>
            </a:r>
          </a:p>
        </p:txBody>
      </p:sp>
      <p:sp>
        <p:nvSpPr>
          <p:cNvPr id="13" name="TextBox 12"/>
          <p:cNvSpPr txBox="1"/>
          <p:nvPr/>
        </p:nvSpPr>
        <p:spPr>
          <a:xfrm>
            <a:off x="6382512" y="1673352"/>
            <a:ext cx="2093976" cy="3063239"/>
          </a:xfrm>
          <a:prstGeom prst="rect">
            <a:avLst/>
          </a:prstGeom>
          <a:noFill/>
        </p:spPr>
        <p:txBody>
          <a:bodyPr wrap="square">
            <a:spAutoFit/>
          </a:bodyPr>
          <a:lstStyle/>
          <a:p>
            <a:pPr>
              <a:spcAft>
                <a:spcPts val="400"/>
              </a:spcAft>
              <a:defRPr sz="919">
                <a:solidFill>
                  <a:srgbClr val="1F262E"/>
                </a:solidFill>
                <a:latin typeface="Microsoft YaHei"/>
              </a:defRPr>
            </a:pPr>
            <a:r>
              <a:t>layered count table</a:t>
            </a:r>
          </a:p>
          <a:p>
            <a:pPr>
              <a:spcAft>
                <a:spcPts val="400"/>
              </a:spcAft>
              <a:defRPr sz="919">
                <a:solidFill>
                  <a:srgbClr val="1F262E"/>
                </a:solidFill>
                <a:latin typeface="Microsoft YaHei"/>
              </a:defRPr>
            </a:pPr>
            <a:r>
              <a:t>modification probability</a:t>
            </a:r>
          </a:p>
          <a:p>
            <a:pPr>
              <a:spcAft>
                <a:spcPts val="400"/>
              </a:spcAft>
              <a:defRPr sz="919">
                <a:solidFill>
                  <a:srgbClr val="1F262E"/>
                </a:solidFill>
                <a:latin typeface="Microsoft YaHei"/>
              </a:defRPr>
            </a:pPr>
            <a:r>
              <a:t>structure reactivity</a:t>
            </a:r>
          </a:p>
          <a:p>
            <a:pPr>
              <a:spcAft>
                <a:spcPts val="400"/>
              </a:spcAft>
              <a:defRPr sz="919">
                <a:solidFill>
                  <a:srgbClr val="1F262E"/>
                </a:solidFill>
                <a:latin typeface="Microsoft YaHei"/>
              </a:defRPr>
            </a:pPr>
            <a:r>
              <a:t>charging ratio</a:t>
            </a:r>
          </a:p>
          <a:p>
            <a:pPr>
              <a:spcAft>
                <a:spcPts val="400"/>
              </a:spcAft>
              <a:defRPr sz="919">
                <a:solidFill>
                  <a:srgbClr val="1F262E"/>
                </a:solidFill>
                <a:latin typeface="Microsoft YaHei"/>
              </a:defRPr>
            </a:pPr>
            <a:r>
              <a:t>tDRnamer names</a:t>
            </a:r>
          </a:p>
          <a:p>
            <a:pPr>
              <a:spcAft>
                <a:spcPts val="400"/>
              </a:spcAft>
              <a:defRPr sz="919">
                <a:solidFill>
                  <a:srgbClr val="1F262E"/>
                </a:solidFill>
                <a:latin typeface="Microsoft YaHei"/>
              </a:defRPr>
            </a:pPr>
            <a:r>
              <a:t>uncertainty columns</a:t>
            </a:r>
          </a:p>
        </p:txBody>
      </p:sp>
      <p:sp>
        <p:nvSpPr>
          <p:cNvPr id="14" name="Rounded Rectangle 13"/>
          <p:cNvSpPr/>
          <p:nvPr/>
        </p:nvSpPr>
        <p:spPr>
          <a:xfrm>
            <a:off x="8961120" y="1234440"/>
            <a:ext cx="2423160" cy="3566160"/>
          </a:xfrm>
          <a:prstGeom prst="roundRect">
            <a:avLst/>
          </a:prstGeom>
          <a:solidFill>
            <a:srgbClr val="F6E9E7"/>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1362456"/>
            <a:ext cx="2093976" cy="237744"/>
          </a:xfrm>
          <a:prstGeom prst="rect">
            <a:avLst/>
          </a:prstGeom>
          <a:noFill/>
        </p:spPr>
        <p:txBody>
          <a:bodyPr wrap="square" anchor="t">
            <a:spAutoFit/>
          </a:bodyPr>
          <a:lstStyle/>
          <a:p>
            <a:pPr>
              <a:defRPr sz="1050" b="1">
                <a:solidFill>
                  <a:srgbClr val="994943"/>
                </a:solidFill>
                <a:latin typeface="Microsoft YaHei"/>
              </a:defRPr>
            </a:pPr>
            <a:r>
              <a:t>验证标准</a:t>
            </a:r>
          </a:p>
        </p:txBody>
      </p:sp>
      <p:sp>
        <p:nvSpPr>
          <p:cNvPr id="16" name="TextBox 15"/>
          <p:cNvSpPr txBox="1"/>
          <p:nvPr/>
        </p:nvSpPr>
        <p:spPr>
          <a:xfrm>
            <a:off x="9125712" y="1673352"/>
            <a:ext cx="2093976" cy="3063239"/>
          </a:xfrm>
          <a:prstGeom prst="rect">
            <a:avLst/>
          </a:prstGeom>
          <a:noFill/>
        </p:spPr>
        <p:txBody>
          <a:bodyPr wrap="square">
            <a:spAutoFit/>
          </a:bodyPr>
          <a:lstStyle/>
          <a:p>
            <a:pPr>
              <a:spcAft>
                <a:spcPts val="400"/>
              </a:spcAft>
              <a:defRPr sz="919">
                <a:solidFill>
                  <a:srgbClr val="1F262E"/>
                </a:solidFill>
                <a:latin typeface="Microsoft YaHei"/>
              </a:defRPr>
            </a:pPr>
            <a:r>
              <a:t>synthetic controls</a:t>
            </a:r>
          </a:p>
          <a:p>
            <a:pPr>
              <a:spcAft>
                <a:spcPts val="400"/>
              </a:spcAft>
              <a:defRPr sz="919">
                <a:solidFill>
                  <a:srgbClr val="1F262E"/>
                </a:solidFill>
                <a:latin typeface="Microsoft YaHei"/>
              </a:defRPr>
            </a:pPr>
            <a:r>
              <a:t>enzyme knockouts</a:t>
            </a:r>
          </a:p>
          <a:p>
            <a:pPr>
              <a:spcAft>
                <a:spcPts val="400"/>
              </a:spcAft>
              <a:defRPr sz="919">
                <a:solidFill>
                  <a:srgbClr val="1F262E"/>
                </a:solidFill>
                <a:latin typeface="Microsoft YaHei"/>
              </a:defRPr>
            </a:pPr>
            <a:r>
              <a:t>cross-platform concordance</a:t>
            </a:r>
          </a:p>
          <a:p>
            <a:pPr>
              <a:spcAft>
                <a:spcPts val="400"/>
              </a:spcAft>
              <a:defRPr sz="919">
                <a:solidFill>
                  <a:srgbClr val="1F262E"/>
                </a:solidFill>
                <a:latin typeface="Microsoft YaHei"/>
              </a:defRPr>
            </a:pPr>
            <a:r>
              <a:t>read-level audit plots</a:t>
            </a:r>
          </a:p>
          <a:p>
            <a:pPr>
              <a:spcAft>
                <a:spcPts val="400"/>
              </a:spcAft>
              <a:defRPr sz="919">
                <a:solidFill>
                  <a:srgbClr val="1F262E"/>
                </a:solidFill>
                <a:latin typeface="Microsoft YaHei"/>
              </a:defRPr>
            </a:pPr>
            <a:r>
              <a:t>benchmark dataset</a:t>
            </a:r>
          </a:p>
        </p:txBody>
      </p:sp>
      <p:sp>
        <p:nvSpPr>
          <p:cNvPr id="17" name="Rounded Rectangle 16"/>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真正可推广的工具，需要把算法结果、来源证据和不确定性一起交付。</a:t>
            </a:r>
          </a:p>
        </p:txBody>
      </p:sp>
      <p:sp>
        <p:nvSpPr>
          <p:cNvPr id="19" name="TextBox 18"/>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34417604: tRNAscan-SE 2.0: improved detection and functional classification of transfer RNA genes | PMID 32796835: Quantitative tRNA-sequencing uncovers metazoan tissue-specific tRNA regulation. | PMID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10332720" cy="502920"/>
          </a:xfrm>
          <a:prstGeom prst="rect">
            <a:avLst/>
          </a:prstGeom>
          <a:noFill/>
        </p:spPr>
        <p:txBody>
          <a:bodyPr wrap="square" anchor="t">
            <a:spAutoFit/>
          </a:bodyPr>
          <a:lstStyle/>
          <a:p>
            <a:pPr>
              <a:defRPr sz="2300" b="1">
                <a:solidFill>
                  <a:srgbClr val="1F262E"/>
                </a:solidFill>
                <a:latin typeface="Microsoft YaHei"/>
              </a:defRPr>
            </a:pPr>
            <a:r>
              <a:t>结论：tRNA 分析工具的下一步是“多证据、层级化、可复现”</a:t>
            </a:r>
          </a:p>
        </p:txBody>
      </p:sp>
      <p:sp>
        <p:nvSpPr>
          <p:cNvPr id="4" name="Rectangle 3"/>
          <p:cNvSpPr/>
          <p:nvPr/>
        </p:nvSpPr>
        <p:spPr>
          <a:xfrm>
            <a:off x="502920" y="950976"/>
            <a:ext cx="11155680" cy="13716"/>
          </a:xfrm>
          <a:prstGeom prst="rect">
            <a:avLst/>
          </a:prstGeom>
          <a:solidFill>
            <a:srgbClr val="D6D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325880"/>
            <a:ext cx="3246120" cy="3520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453895"/>
            <a:ext cx="2916936" cy="237744"/>
          </a:xfrm>
          <a:prstGeom prst="rect">
            <a:avLst/>
          </a:prstGeom>
          <a:noFill/>
        </p:spPr>
        <p:txBody>
          <a:bodyPr wrap="square" anchor="t">
            <a:spAutoFit/>
          </a:bodyPr>
          <a:lstStyle/>
          <a:p>
            <a:pPr>
              <a:defRPr sz="1050" b="1">
                <a:solidFill>
                  <a:srgbClr val="2D5D7B"/>
                </a:solidFill>
                <a:latin typeface="Microsoft YaHei"/>
              </a:defRPr>
            </a:pPr>
            <a:r>
              <a:t>1. 分析对象要分层</a:t>
            </a:r>
          </a:p>
        </p:txBody>
      </p:sp>
      <p:sp>
        <p:nvSpPr>
          <p:cNvPr id="7" name="TextBox 6"/>
          <p:cNvSpPr txBox="1"/>
          <p:nvPr/>
        </p:nvSpPr>
        <p:spPr>
          <a:xfrm>
            <a:off x="1033271" y="1764792"/>
            <a:ext cx="2916936" cy="3017520"/>
          </a:xfrm>
          <a:prstGeom prst="rect">
            <a:avLst/>
          </a:prstGeom>
          <a:noFill/>
        </p:spPr>
        <p:txBody>
          <a:bodyPr wrap="square">
            <a:spAutoFit/>
          </a:bodyPr>
          <a:lstStyle/>
          <a:p>
            <a:pPr>
              <a:spcAft>
                <a:spcPts val="400"/>
              </a:spcAft>
              <a:defRPr sz="919">
                <a:solidFill>
                  <a:srgbClr val="1F262E"/>
                </a:solidFill>
                <a:latin typeface="Microsoft YaHei"/>
              </a:defRPr>
            </a:pPr>
            <a:r>
              <a:t>gene、mature tRNA、modification、structure、charging、tDR 不能混为同一层。</a:t>
            </a:r>
          </a:p>
          <a:p>
            <a:pPr>
              <a:spcAft>
                <a:spcPts val="400"/>
              </a:spcAft>
              <a:defRPr sz="919">
                <a:solidFill>
                  <a:srgbClr val="1F262E"/>
                </a:solidFill>
                <a:latin typeface="Microsoft YaHei"/>
              </a:defRPr>
            </a:pPr>
            <a:r>
              <a:t>每个层级都需要明确 reference 与 uncertainty。</a:t>
            </a:r>
          </a:p>
        </p:txBody>
      </p:sp>
      <p:sp>
        <p:nvSpPr>
          <p:cNvPr id="8" name="Rounded Rectangle 7"/>
          <p:cNvSpPr/>
          <p:nvPr/>
        </p:nvSpPr>
        <p:spPr>
          <a:xfrm>
            <a:off x="4480560" y="1325880"/>
            <a:ext cx="3246120" cy="3520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1453895"/>
            <a:ext cx="2916936" cy="237744"/>
          </a:xfrm>
          <a:prstGeom prst="rect">
            <a:avLst/>
          </a:prstGeom>
          <a:noFill/>
        </p:spPr>
        <p:txBody>
          <a:bodyPr wrap="square" anchor="t">
            <a:spAutoFit/>
          </a:bodyPr>
          <a:lstStyle/>
          <a:p>
            <a:pPr>
              <a:defRPr sz="1050" b="1">
                <a:solidFill>
                  <a:srgbClr val="2D5D7B"/>
                </a:solidFill>
                <a:latin typeface="Microsoft YaHei"/>
              </a:defRPr>
            </a:pPr>
            <a:r>
              <a:t>2. 偏差也是信号</a:t>
            </a:r>
          </a:p>
        </p:txBody>
      </p:sp>
      <p:sp>
        <p:nvSpPr>
          <p:cNvPr id="10" name="TextBox 9"/>
          <p:cNvSpPr txBox="1"/>
          <p:nvPr/>
        </p:nvSpPr>
        <p:spPr>
          <a:xfrm>
            <a:off x="4645152" y="1764792"/>
            <a:ext cx="2916936" cy="3017520"/>
          </a:xfrm>
          <a:prstGeom prst="rect">
            <a:avLst/>
          </a:prstGeom>
          <a:noFill/>
        </p:spPr>
        <p:txBody>
          <a:bodyPr wrap="square">
            <a:spAutoFit/>
          </a:bodyPr>
          <a:lstStyle/>
          <a:p>
            <a:pPr>
              <a:spcAft>
                <a:spcPts val="400"/>
              </a:spcAft>
              <a:defRPr sz="919">
                <a:solidFill>
                  <a:srgbClr val="1F262E"/>
                </a:solidFill>
                <a:latin typeface="Microsoft YaHei"/>
              </a:defRPr>
            </a:pPr>
            <a:r>
              <a:t>RT-stop、mismatch、纳米孔电流扰动和 DMS reactivity 是方法学核心。</a:t>
            </a:r>
          </a:p>
          <a:p>
            <a:pPr>
              <a:spcAft>
                <a:spcPts val="400"/>
              </a:spcAft>
              <a:defRPr sz="919">
                <a:solidFill>
                  <a:srgbClr val="1F262E"/>
                </a:solidFill>
                <a:latin typeface="Microsoft YaHei"/>
              </a:defRPr>
            </a:pPr>
            <a:r>
              <a:t>关键是校准，而不是简单过滤。</a:t>
            </a:r>
          </a:p>
        </p:txBody>
      </p:sp>
      <p:sp>
        <p:nvSpPr>
          <p:cNvPr id="11" name="Rounded Rectangle 10"/>
          <p:cNvSpPr/>
          <p:nvPr/>
        </p:nvSpPr>
        <p:spPr>
          <a:xfrm>
            <a:off x="8092440" y="1325880"/>
            <a:ext cx="3246120" cy="3520440"/>
          </a:xfrm>
          <a:prstGeom prst="roundRect">
            <a:avLst/>
          </a:prstGeom>
          <a:solidFill>
            <a:srgbClr val="FFFFFF"/>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1" y="1453895"/>
            <a:ext cx="2916936" cy="237744"/>
          </a:xfrm>
          <a:prstGeom prst="rect">
            <a:avLst/>
          </a:prstGeom>
          <a:noFill/>
        </p:spPr>
        <p:txBody>
          <a:bodyPr wrap="square" anchor="t">
            <a:spAutoFit/>
          </a:bodyPr>
          <a:lstStyle/>
          <a:p>
            <a:pPr>
              <a:defRPr sz="1050" b="1">
                <a:solidFill>
                  <a:srgbClr val="2D5D7B"/>
                </a:solidFill>
                <a:latin typeface="Microsoft YaHei"/>
              </a:defRPr>
            </a:pPr>
            <a:r>
              <a:t>3. 差异分析要匹配读出</a:t>
            </a:r>
          </a:p>
        </p:txBody>
      </p:sp>
      <p:sp>
        <p:nvSpPr>
          <p:cNvPr id="13" name="TextBox 12"/>
          <p:cNvSpPr txBox="1"/>
          <p:nvPr/>
        </p:nvSpPr>
        <p:spPr>
          <a:xfrm>
            <a:off x="8257031" y="1764792"/>
            <a:ext cx="2916936" cy="3017520"/>
          </a:xfrm>
          <a:prstGeom prst="rect">
            <a:avLst/>
          </a:prstGeom>
          <a:noFill/>
        </p:spPr>
        <p:txBody>
          <a:bodyPr wrap="square">
            <a:spAutoFit/>
          </a:bodyPr>
          <a:lstStyle/>
          <a:p>
            <a:pPr>
              <a:spcAft>
                <a:spcPts val="400"/>
              </a:spcAft>
              <a:defRPr sz="919">
                <a:solidFill>
                  <a:srgbClr val="1F262E"/>
                </a:solidFill>
                <a:latin typeface="Microsoft YaHei"/>
              </a:defRPr>
            </a:pPr>
            <a:r>
              <a:t>counts、fractions、reactivity、classifier probabilities 应使用不同模型。</a:t>
            </a:r>
          </a:p>
          <a:p>
            <a:pPr>
              <a:spcAft>
                <a:spcPts val="400"/>
              </a:spcAft>
              <a:defRPr sz="919">
                <a:solidFill>
                  <a:srgbClr val="1F262E"/>
                </a:solidFill>
                <a:latin typeface="Microsoft YaHei"/>
              </a:defRPr>
            </a:pPr>
            <a:r>
              <a:t>跨方法综合解释应保留不确定性。</a:t>
            </a:r>
          </a:p>
        </p:txBody>
      </p:sp>
      <p:sp>
        <p:nvSpPr>
          <p:cNvPr id="14" name="Rounded Rectangle 13"/>
          <p:cNvSpPr/>
          <p:nvPr/>
        </p:nvSpPr>
        <p:spPr>
          <a:xfrm>
            <a:off x="502920" y="5925312"/>
            <a:ext cx="11155680" cy="384048"/>
          </a:xfrm>
          <a:prstGeom prst="roundRect">
            <a:avLst/>
          </a:prstGeom>
          <a:solidFill>
            <a:srgbClr val="E7EFF4"/>
          </a:solidFill>
          <a:ln>
            <a:solidFill>
              <a:srgbClr val="D6D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5998464"/>
            <a:ext cx="10789920" cy="219456"/>
          </a:xfrm>
          <a:prstGeom prst="rect">
            <a:avLst/>
          </a:prstGeom>
          <a:noFill/>
        </p:spPr>
        <p:txBody>
          <a:bodyPr wrap="none">
            <a:spAutoFit/>
          </a:bodyPr>
          <a:lstStyle/>
          <a:p>
            <a:pPr>
              <a:defRPr sz="1050" b="1">
                <a:solidFill>
                  <a:srgbClr val="2D5D7B"/>
                </a:solidFill>
                <a:latin typeface="Microsoft YaHei"/>
              </a:defRPr>
            </a:pPr>
            <a:r>
              <a:t>Take-home: 以 tRNA 为对象的计算工具，核心竞争力会从“能跑通”转向“能解释、能校准、能复用”。</a:t>
            </a:r>
          </a:p>
        </p:txBody>
      </p:sp>
      <p:sp>
        <p:nvSpPr>
          <p:cNvPr id="16" name="TextBox 15"/>
          <p:cNvSpPr txBox="1"/>
          <p:nvPr/>
        </p:nvSpPr>
        <p:spPr>
          <a:xfrm>
            <a:off x="502920" y="6473952"/>
            <a:ext cx="11201400" cy="256032"/>
          </a:xfrm>
          <a:prstGeom prst="rect">
            <a:avLst/>
          </a:prstGeom>
          <a:noFill/>
        </p:spPr>
        <p:txBody>
          <a:bodyPr wrap="square" anchor="t">
            <a:spAutoFit/>
          </a:bodyPr>
          <a:lstStyle/>
          <a:p>
            <a:pPr>
              <a:defRPr sz="730" b="0">
                <a:solidFill>
                  <a:srgbClr val="5C6670"/>
                </a:solidFill>
                <a:latin typeface="Microsoft YaHei"/>
              </a:defRPr>
            </a:pPr>
            <a:r>
              <a:t>Source: PMID 34417604: tRNAscan-SE 2.0: improved detection and functional classification of transfer RNA genes | PMID 32796835: Quantitative tRNA-sequencing uncovers metazoan tissue-specific tRNA regulation. | PMID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tRNA 分析工具与算法汇报</dc:title>
  <dc:subject>tRNA analysis tools and algorithms</dc:subject>
  <dc:creator>Codex</dc:creator>
  <cp:keywords/>
  <dc:description>Generated from local literature package and selected added method sources.</dc:description>
  <cp:lastModifiedBy>Steve Canny</cp:lastModifiedBy>
  <cp:revision>1</cp:revision>
  <dcterms:created xsi:type="dcterms:W3CDTF">2013-01-27T09:14:16Z</dcterms:created>
  <dcterms:modified xsi:type="dcterms:W3CDTF">2013-01-27T09:15:58Z</dcterms:modified>
  <cp:category/>
</cp:coreProperties>
</file>