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972eb50efb4097" /><Relationship Type="http://schemas.openxmlformats.org/officeDocument/2006/relationships/extended-properties" Target="/docProps/app.xml" Id="R73c6be88959f4687" /><Relationship Type="http://schemas.openxmlformats.org/officeDocument/2006/relationships/officeDocument" Target="/ppt/presentation.xml" Id="R6b0f06a6eb3f49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f0d359584c4922"/>
  </p:sldMasterIdLst>
  <p:notesMasterIdLst>
    <p:notesMasterId xmlns:r="http://schemas.openxmlformats.org/officeDocument/2006/relationships" r:id="R6db91274c352468e"/>
  </p:notesMasterIdLst>
  <p:sldIdLst>
    <p:sldId xmlns:r="http://schemas.openxmlformats.org/officeDocument/2006/relationships" id="256" r:id="Rce775f6589334b93"/>
    <p:sldId xmlns:r="http://schemas.openxmlformats.org/officeDocument/2006/relationships" id="257" r:id="R13fbc16dc66c45d8"/>
    <p:sldId xmlns:r="http://schemas.openxmlformats.org/officeDocument/2006/relationships" id="258" r:id="R4f138c48a19a4677"/>
    <p:sldId xmlns:r="http://schemas.openxmlformats.org/officeDocument/2006/relationships" id="259" r:id="Rd819e40322794902"/>
    <p:sldId xmlns:r="http://schemas.openxmlformats.org/officeDocument/2006/relationships" id="260" r:id="Rd8330654bbe4441c"/>
    <p:sldId xmlns:r="http://schemas.openxmlformats.org/officeDocument/2006/relationships" id="261" r:id="R8b96092047d844f8"/>
    <p:sldId xmlns:r="http://schemas.openxmlformats.org/officeDocument/2006/relationships" id="262" r:id="Rbbbcd15d96914613"/>
    <p:sldId xmlns:r="http://schemas.openxmlformats.org/officeDocument/2006/relationships" id="263" r:id="Rd3397bd5fb604b8d"/>
    <p:sldId xmlns:r="http://schemas.openxmlformats.org/officeDocument/2006/relationships" id="264" r:id="R5b05cd2d45d545ef"/>
    <p:sldId xmlns:r="http://schemas.openxmlformats.org/officeDocument/2006/relationships" id="265" r:id="Rcbf104d592f84009"/>
    <p:sldId xmlns:r="http://schemas.openxmlformats.org/officeDocument/2006/relationships" id="266" r:id="Rfe9d53a386f641da"/>
    <p:sldId xmlns:r="http://schemas.openxmlformats.org/officeDocument/2006/relationships" id="267" r:id="R418b7a32782246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c5cd8192674751" /><Relationship Type="http://schemas.openxmlformats.org/officeDocument/2006/relationships/slideMaster" Target="/ppt/slideMasters/slideMaster1.xml" Id="R5df0d359584c4922" /><Relationship Type="http://schemas.openxmlformats.org/officeDocument/2006/relationships/notesMaster" Target="/ppt/notesMasters/notesMaster1.xml" Id="R6db91274c352468e" /><Relationship Type="http://schemas.openxmlformats.org/officeDocument/2006/relationships/presProps" Target="/ppt/presProps.xml" Id="R08d727b371634e24" /><Relationship Type="http://schemas.openxmlformats.org/officeDocument/2006/relationships/viewProps" Target="/ppt/viewProps.xml" Id="Re76acf50bd8444cf" /><Relationship Type="http://schemas.openxmlformats.org/officeDocument/2006/relationships/tableStyles" Target="/ppt/tableStyles.xml" Id="Redcc01b513c84f8d" /><Relationship Type="http://schemas.openxmlformats.org/officeDocument/2006/relationships/slide" Target="/ppt/slides/slide1.xml" Id="Rce775f6589334b93" /><Relationship Type="http://schemas.openxmlformats.org/officeDocument/2006/relationships/slide" Target="/ppt/slides/slide2.xml" Id="R13fbc16dc66c45d8" /><Relationship Type="http://schemas.openxmlformats.org/officeDocument/2006/relationships/slide" Target="/ppt/slides/slide3.xml" Id="R4f138c48a19a4677" /><Relationship Type="http://schemas.openxmlformats.org/officeDocument/2006/relationships/slide" Target="/ppt/slides/slide4.xml" Id="Rd819e40322794902" /><Relationship Type="http://schemas.openxmlformats.org/officeDocument/2006/relationships/slide" Target="/ppt/slides/slide5.xml" Id="Rd8330654bbe4441c" /><Relationship Type="http://schemas.openxmlformats.org/officeDocument/2006/relationships/slide" Target="/ppt/slides/slide6.xml" Id="R8b96092047d844f8" /><Relationship Type="http://schemas.openxmlformats.org/officeDocument/2006/relationships/slide" Target="/ppt/slides/slide7.xml" Id="Rbbbcd15d96914613" /><Relationship Type="http://schemas.openxmlformats.org/officeDocument/2006/relationships/slide" Target="/ppt/slides/slide8.xml" Id="Rd3397bd5fb604b8d" /><Relationship Type="http://schemas.openxmlformats.org/officeDocument/2006/relationships/slide" Target="/ppt/slides/slide9.xml" Id="R5b05cd2d45d545ef" /><Relationship Type="http://schemas.openxmlformats.org/officeDocument/2006/relationships/slide" Target="/ppt/slides/slide10.xml" Id="Rcbf104d592f84009" /><Relationship Type="http://schemas.openxmlformats.org/officeDocument/2006/relationships/slide" Target="/ppt/slides/slide11.xml" Id="Rfe9d53a386f641da" /><Relationship Type="http://schemas.openxmlformats.org/officeDocument/2006/relationships/slide" Target="/ppt/slides/slide12.xml" Id="R418b7a327822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8da90412794f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b13cc9083448b1" /><Relationship Type="http://schemas.openxmlformats.org/officeDocument/2006/relationships/notesMaster" Target="/ppt/notesMasters/notesMaster1.xml" Id="R299d2a71324e45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deb8c9859d4a23" /><Relationship Type="http://schemas.openxmlformats.org/officeDocument/2006/relationships/notesMaster" Target="/ppt/notesMasters/notesMaster1.xml" Id="Ra46a6d15030d43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5f46f5d8c04d8e" /><Relationship Type="http://schemas.openxmlformats.org/officeDocument/2006/relationships/notesMaster" Target="/ppt/notesMasters/notesMaster1.xml" Id="Rcd01af9a4be448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83da7e3d6c44f3" /><Relationship Type="http://schemas.openxmlformats.org/officeDocument/2006/relationships/notesMaster" Target="/ppt/notesMasters/notesMaster1.xml" Id="Re11580cdf5c14e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5bf35781245db" /><Relationship Type="http://schemas.openxmlformats.org/officeDocument/2006/relationships/notesMaster" Target="/ppt/notesMasters/notesMaster1.xml" Id="R7a686b49671347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4c3df2970c4f5f" /><Relationship Type="http://schemas.openxmlformats.org/officeDocument/2006/relationships/notesMaster" Target="/ppt/notesMasters/notesMaster1.xml" Id="R1d3a0c12d63247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3ef0556144413f" /><Relationship Type="http://schemas.openxmlformats.org/officeDocument/2006/relationships/notesMaster" Target="/ppt/notesMasters/notesMaster1.xml" Id="R32922e3618024b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a70d2d55cc4d48" /><Relationship Type="http://schemas.openxmlformats.org/officeDocument/2006/relationships/notesMaster" Target="/ppt/notesMasters/notesMaster1.xml" Id="R6d3e46a76a5644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20e3182d2e4888" /><Relationship Type="http://schemas.openxmlformats.org/officeDocument/2006/relationships/notesMaster" Target="/ppt/notesMasters/notesMaster1.xml" Id="R24212d02c74847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0f9f7a09b7422b" /><Relationship Type="http://schemas.openxmlformats.org/officeDocument/2006/relationships/notesMaster" Target="/ppt/notesMasters/notesMaster1.xml" Id="R382854273d6f4a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aee63176c44769" /><Relationship Type="http://schemas.openxmlformats.org/officeDocument/2006/relationships/notesMaster" Target="/ppt/notesMasters/notesMaster1.xml" Id="Ree22e618fa0c4f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9304cf4bef484a" /><Relationship Type="http://schemas.openxmlformats.org/officeDocument/2006/relationships/notesMaster" Target="/ppt/notesMasters/notesMaster1.xml" Id="Re090b7125d71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61b623c5647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bed2c55544e8f" /><Relationship Type="http://schemas.openxmlformats.org/officeDocument/2006/relationships/slideLayout" Target="/ppt/slideLayouts/slideLayout1.xml" Id="Rcc558b18cd4f4a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58b18cd4f4a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ab7a4ccae4431" /><Relationship Type="http://schemas.openxmlformats.org/officeDocument/2006/relationships/notesSlide" Target="/ppt/notesSlides/notesSlide1.xml" Id="Rb5d48935ade044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a1f072d124282" /><Relationship Type="http://schemas.openxmlformats.org/officeDocument/2006/relationships/notesSlide" Target="/ppt/notesSlides/notesSlide2.xml" Id="R3769c7f0f501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4c09848134c12" /><Relationship Type="http://schemas.openxmlformats.org/officeDocument/2006/relationships/notesSlide" Target="/ppt/notesSlides/notesSlide3.xml" Id="Rb799bb36621c49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03f5e0dc04343" /><Relationship Type="http://schemas.openxmlformats.org/officeDocument/2006/relationships/notesSlide" Target="/ppt/notesSlides/notesSlide4.xml" Id="Ra14444326c1043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ab7d9b5ea41b5" /><Relationship Type="http://schemas.openxmlformats.org/officeDocument/2006/relationships/notesSlide" Target="/ppt/notesSlides/notesSlide5.xml" Id="R299560465b9949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dfab3f66443f6" /><Relationship Type="http://schemas.openxmlformats.org/officeDocument/2006/relationships/notesSlide" Target="/ppt/notesSlides/notesSlide6.xml" Id="R9bc2a444c371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1086235bf46fa" /><Relationship Type="http://schemas.openxmlformats.org/officeDocument/2006/relationships/notesSlide" Target="/ppt/notesSlides/notesSlide7.xml" Id="R402814c645b648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24e14ae754296" /><Relationship Type="http://schemas.openxmlformats.org/officeDocument/2006/relationships/notesSlide" Target="/ppt/notesSlides/notesSlide8.xml" Id="Rac5061ba5d6240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88d507f584e30" /><Relationship Type="http://schemas.openxmlformats.org/officeDocument/2006/relationships/notesSlide" Target="/ppt/notesSlides/notesSlide9.xml" Id="Rce988326e52a4c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9b4fe410f468d" /><Relationship Type="http://schemas.openxmlformats.org/officeDocument/2006/relationships/notesSlide" Target="/ppt/notesSlides/notesSlide10.xml" Id="R42ec4c15300943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fb83ae71a4b22" /><Relationship Type="http://schemas.openxmlformats.org/officeDocument/2006/relationships/notesSlide" Target="/ppt/notesSlides/notesSlide11.xml" Id="Rc5647a64d23543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320d40e5d4a07" /><Relationship Type="http://schemas.openxmlformats.org/officeDocument/2006/relationships/notesSlide" Target="/ppt/notesSlides/notesSlide12.xml" Id="Re4e65b407bfc42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3178F-BC0B-4BB0-A39C-A23EC0B6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77341-ACBF-4318-A26F-CAF4EB59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5761D-1934-4254-B33D-86B651BF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EFB9-18A5-4869-9641-F757EAA7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D3BD8-C15C-4EE7-A38D-C56DDA38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885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tRNA 修饰把早期胚胎的翻译控制，和冷冻精子的父源 RNA 风险接在了一起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A7B3F-8C3B-464A-A5F1-4A843DCE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28950"/>
            <a:ext cx="7953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胚胎发育需要在 MZT/ZGA、快速卵裂、命运转换和氧化应激中维持精准翻译；冷冻-复苏可能改变精子 tRNA 修饰、tRF/tsRNA 货物和获能期翻译能力。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F9212-9241-424D-A588-0E5B2300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723900"/>
            <a:ext cx="21336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87425-7428-4801-BACE-1018AB82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181100"/>
            <a:ext cx="1381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tRNA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mod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78B5B-33FA-412B-8E2A-6EDE79E1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3048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2689A-CBCC-47FC-9429-623FF2CE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A844E-08A8-4D5B-94CF-F0EC12D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33900"/>
            <a:ext cx="3048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06C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F5414-4153-400F-8A8F-E57EF0A7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48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C9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375A3-98C1-4CD4-85EA-72A34CF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38700"/>
            <a:ext cx="3048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79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3DB68-C5BE-4883-BEE2-DD2E77AB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529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B2EA9-3BEB-4708-BF92-94D8FE5C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3048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34B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8B496-16BF-4B64-9549-7B43F5DE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0577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FA6CD-D8B3-40C8-8EE7-7DD91E8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143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CCEB5-D297-437C-A795-A08F5F8F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胚胎 MZT/ZGA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AC2B3-331C-4D92-B983-B3323DDC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62500"/>
            <a:ext cx="2143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4FE4F-42E5-4889-A732-E40BF600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14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tRNA 修饰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BCBB9-3821-4CD4-BB96-63F3A18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62500"/>
            <a:ext cx="2143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BFEAA-BCF3-40DC-BF30-B26A18BD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14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精子 tRF/tsRNA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95D2BD-DEA4-465D-88E4-19967D1A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2143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77CFF-0398-4D1E-A502-122460E3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冷冻损伤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4FF9A-2A0A-412A-A81E-463A75E4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资料包检索日期：2026-06-04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9F0AF-71DE-4600-B596-2A3BB863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294256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DD324-5275-4381-BED7-E0A3C8FB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E70B8-1CDC-4490-AA1E-DF529BC3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1AEA1-A9ED-4759-B116-35238B2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5FEBC-AC10-44F2-BE38-6A1CE778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WHY IT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26E3C-6E88-4AA7-BEE3-3D1EC435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B4266-8417-407D-B224-6D34C23F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tRNA 修饰不是背景噪音，而是胚胎发育的翻译调度层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8200F-3E5F-4DD3-8F6F-C2F9E25F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6BF6F-0175-46B5-A7BE-E0AE3E51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46144-3769-446D-854E-DD94B1F5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2F7D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EB224-79E3-4624-A1E8-F2698FB8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母源-合子转换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87702-2A84-437A-913F-AC784D6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repertoire 与 ZGA 和染色质重塑同步切换。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77571-C716-45C8-A0F6-1D10BC3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94A16-3972-4CA3-A17A-71183D61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C9A"/>
          </a:solidFill>
          <a:ln xmlns:a="http://schemas.openxmlformats.org/drawingml/2006/main" w="0">
            <a:solidFill>
              <a:srgbClr val="406C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AE987-A37F-42C3-A58E-9E68F8B2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快速卵裂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38EDC-6D81-437E-85E8-398166EB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anticodon pool 匹配高翻译效率基因群，支持短时间窗蛋白供应。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979CE-FC41-4752-9D68-2FB48F29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0F4C2-253F-4BC9-A91C-53B3803F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5F47B-174A-4D8B-BC31-30885C67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命运分化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7BA2D-B605-4973-90DA-2DB56A9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m7G、m5C、U34 等修饰影响干细胞自我更新和分化。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46187-11A8-42AE-988D-74640359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FC824-46F8-4967-A5A0-CEC4B41F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0">
            <a:solidFill>
              <a:srgbClr val="B34B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620E4-6560-46EE-97A8-8417F540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应激耐受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BFEA8-1D6F-4A2C-A8B0-61CE55CD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稳定性和裂解阈值影响 tRF/tsRNA 生成。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E1A1B1-98C4-423A-BFDD-D63F6B6A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8EDBE-125B-4899-87BD-5836EFF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338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4D"/>
          </a:solidFill>
          <a:ln xmlns:a="http://schemas.openxmlformats.org/drawingml/2006/main" w="0">
            <a:solidFill>
              <a:srgbClr val="4F7D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818A4-D8C4-426A-8C01-DFC539F9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433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线粒体代谢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28E4CB-CDCB-4DC7-AFC8-C956EA0E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mt-tRNA/mt-tRF 与早期胚胎代谢和父源信息相关。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44731-4E36-4C08-BF4F-A091787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5C9757-66A3-4A11-AC1B-C545CAEA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A95"/>
          </a:solidFill>
          <a:ln xmlns:a="http://schemas.openxmlformats.org/drawingml/2006/main" w="0">
            <a:solidFill>
              <a:srgbClr val="7A5A9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913856-C053-442D-A012-6ECE05D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父源 RNA 传递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C4A845-76DA-4549-88EB-89FABADF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精子 tsRNA 可影响早期胚胎转录和子代表型。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389D93-45D2-49C5-BC50-46E8C31F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Li 2026; Rappol 2024; Chen 2016; Tomar 2024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4514BB-8178-435A-82B6-951FB480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16761968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B0CACB-AEC7-460A-ACCB-E482CAA0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61EF8-20AE-4BD0-864C-D4CE150B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8CEC1-91C2-460F-B09E-79B8C28E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BCBB6-EACC-4787-82AC-DA774054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DEVELOPMENTAL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9DAA2-D5E9-44D1-B41C-1CC44E0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F298D-38F5-43C0-89FE-FF1057D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关键窗口集中在 MZT/ZGA、胃胚化和受精后父源 RNA 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BB371-E15B-47E4-A49F-58D8EF9D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B193E-8D4F-4543-B46C-951A4477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98964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72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1A275-432C-44F1-90E8-BD5B6C0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57113-ECE0-4EA5-BE7B-48FCD282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447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卵母细胞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4FE63-07D8-490A-A7DF-43F09FB4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51460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母源 RNA 储备；tRNA pool 为最初翻译做准备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D599C-F977-4A84-8580-467D818B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0" cy="-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8A77B-DE4B-4645-B05C-0700A8D9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C9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E6F5A-F7CD-4B15-AF09-A340F51E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62150"/>
            <a:ext cx="1447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2-cell / 4-cell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67B4E-C69C-45A0-B453-72A20495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1475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major ZGA；tRNA pseudogene 与 embryonic tRNA genes 激活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E7889-88C0-45B4-A667-B260A02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11F9F-FFC3-4D4D-84C7-1A7A09A8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C7944-B897-4556-8104-6513E8F6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62150"/>
            <a:ext cx="1447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桑椹胚 / 囊胚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830D7-F9DC-471D-A1F8-39158672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1460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高翻译效率基因群与 anticodon pool 协调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67DB8-8C09-45A0-98F0-13AB93C9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43250"/>
            <a:ext cx="0" cy="-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6F1B8-E186-432B-BAA1-F638875B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AFB7B-266A-4A04-8BE1-2C19ECB8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62150"/>
            <a:ext cx="1447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胃胚化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7E911-858C-4AAF-86A5-69FB8520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1475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核编码与线粒体 tRNA 表达、修饰谱动态重编程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415E4-22D2-4991-9E9C-635F2731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E21A5-7969-47F7-AFA6-1918E4A6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14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1680E-2DD6-4E8A-86D7-4B23680D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62150"/>
            <a:ext cx="1447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受精输入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5507E-6D5B-4326-BE11-DECDA392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1460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精子 tsRNA/mt-tRNA cargo 进入卵母细胞并可能影响早期转录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CF9A4-B845-4AC7-B052-07BF13E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143250"/>
            <a:ext cx="0" cy="-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EC429B-C33F-4418-A02C-81041DF9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Mouse ORACLE-tRNAseq 2026; zebrafish tRAM-seq 2024; Nature 2024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D4C19-28EF-4550-AD53-54AFDBF6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16401817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1C4B1-CA21-4DDA-B1D4-152C5C55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F8C4E-458A-465F-B537-96CE3E2E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F6E87-DE0E-4CB0-BB44-34F2BE5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4A541-BA3F-43AB-9A4E-5D681C3A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MECHANISMS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2A70C-E4CD-4B51-8331-76AE89EB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4CF08-A1D2-4D2A-AAD0-E8A3568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四类机制共同决定“哪些蛋白在什么时候被翻译出来”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403D0-893D-442B-9EA4-1163E0CD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EC603-061B-4EA7-9B27-95C89335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14B4B-D1C4-4B57-A82B-1EF32BAF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28875"/>
            <a:ext cx="1762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阶段特异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精准翻译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D7EDF-FEBD-4535-A9BD-D165097D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132AA-AC05-4B40-A4D2-E41579CE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rPr>
              <a:t>tRNA abundance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8DE03-D6B7-4F5A-89C6-96B4E9BE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isoacceptor / isodecoder 丰度改变密码子可用性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7326B-399F-40B2-8EB0-BABA0E04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09825"/>
            <a:ext cx="92392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49AA8-B680-4BCB-BCE5-479ED84B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90700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17BAB-9FB5-47CC-B210-6AB071DA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6C9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406C9A"/>
                </a:solidFill>
                <a:latin typeface="Noto Sans SC"/>
                <a:ea typeface="Noto Sans SC"/>
                <a:cs typeface="Noto Sans SC"/>
              </a:rPr>
              <a:t>anticodon modification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FF291-D087-4F6C-AD4C-629C3AAB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431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U34、m7G、m5C 等修饰改变解码效率和准确性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09B87-2883-47D6-9BC2-C216AC4B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5238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21685-805C-4DFF-98C0-AB676438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2AB92-2E33-4AF1-8C58-D5B65BC1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tRNA stability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9CBC8-3541-42C2-90B1-404DFBD8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修饰降低或提高 tRNA 被应激核酸酶裂解的倾向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C5FF9-4C59-4140-921F-836C757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92392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FB37B-EFE5-4C21-8AC3-070E398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91000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B008E-3482-4A44-BDDE-8FA60D4B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005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4B4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B34B42"/>
                </a:solidFill>
                <a:latin typeface="Noto Sans SC"/>
                <a:ea typeface="Noto Sans SC"/>
                <a:cs typeface="Noto Sans SC"/>
              </a:rPr>
              <a:t>tRF / tsRNA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31201-986A-41B1-8B8B-CF901297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434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裂解产物进入转录后调控、转座子/染色质和父源遗传信息传递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0D42B-6B79-4BD0-8D2E-488382EF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0125"/>
            <a:ext cx="5238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333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3332B-14A1-4A19-AF37-8E02FE7C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NSUN2; METTL1/WDR4; ALKBH8; sperm tsRNA studies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3F1E3-3592-4652-BBB0-D0D633A2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20911219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B3B6C-540D-4F88-9FEC-0836CC7E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CF741-922C-4EC7-9F88-8177F48E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45805-1526-4F42-A10A-996C2C8F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06EAC-AD9D-4112-BFCD-7627E124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EVIDENCE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4F1FC-D146-4873-8CBE-A4C3F570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DFF36-014A-4F55-A6C5-39741CE7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胚胎证据已经从“单个修饰酶”走向“低输入 tRNA 全图谱”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303DC-C256-4342-BB2E-14B03929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2247D-220E-464A-8BFA-2A42488A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2F7D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73483-F025-4E3D-8D33-4B0088F3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ORACLE-tRNAseq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FE7A7-BC4C-4678-A81D-86F4DBF2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24025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小鼠早期胚胎 tRNA repertoire 与翻译效率协调，ZGA 阶段重塑最明显。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E002C-EFA2-4D95-A8BF-FB7CF44B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05000"/>
            <a:ext cx="1333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667D2-2735-4E81-93BC-402740D6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C9A"/>
          </a:solidFill>
          <a:ln xmlns:a="http://schemas.openxmlformats.org/drawingml/2006/main" w="0">
            <a:solidFill>
              <a:srgbClr val="406C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060A0-C419-4094-A421-28773664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tRAM-seq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8AA87-4074-44F1-88BC-A1B498B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62225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斑马鱼发育中 tRNA expression 与 modification profile 在胃胚化前后重编程。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E8888-3BB3-4A2F-9B6E-9EEE33CA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3200"/>
            <a:ext cx="1333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EFF60-24DB-4A09-AAF8-A6E3E234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06833-CF56-4C36-8BB0-67F7F3B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METTL1/WDR4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2DB9E-D83F-4F10-A6C8-13DF0A3A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00425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m7G tRNA methylome 支持 mESC 自我更新、分化和正常翻译。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885D9-4915-4CDB-9C85-2C022D1F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81400"/>
            <a:ext cx="1333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F7654-4436-45AA-97F2-A69267B5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0">
            <a:solidFill>
              <a:srgbClr val="B34B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49E4D9-B2A4-4342-85A7-5CD4441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NSUN2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58E68-32AE-410C-93CD-624E3928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38625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m5C 缺失导致 tRNA cleavage 增加，影响神经干细胞迁移和分化。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D29CEA-7E69-4D57-BC8F-83C8843B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19600"/>
            <a:ext cx="1333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B86D7-7750-4730-92B2-20257B5B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4D"/>
          </a:solidFill>
          <a:ln xmlns:a="http://schemas.openxmlformats.org/drawingml/2006/main" w="0">
            <a:solidFill>
              <a:srgbClr val="4F7D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7DD87-8CD6-417F-A525-109161BE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ALKBH8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F99B08-657D-4374-90F0-62DCF47D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76825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U34 修饰影响胚胎生长、红系分化、ROS 相关硒蛋白翻译。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DA219-D527-408C-AD53-D087E1BA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57800"/>
            <a:ext cx="1333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12D99D-FB10-4CBA-8795-8C005B6C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Nat Commun 2026; NAR 2024; Cell Rep 2017; iScience 2024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E0D627-135A-4093-80E8-7FC87A6B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3834990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688E51-E7C8-42F6-9D71-AE99A7D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F26FC-E82E-4F7B-945D-36028B8B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7525-0EA2-4A2E-AADC-540BA48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57DFE-3251-41E5-8215-5B1427C4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SPERM DOGMA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46FB3-AB2E-4C30-8481-A34CBFDF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3D9BF-A291-4B97-A233-16A455C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成熟精子“完全沉默”的旧观点正在被修正，但重点是翻译和 RNA 货物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0E802-D85A-4ACD-90EE-12522AC8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212FA-BB17-498A-9F67-A991DCB2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619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2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3D413-426C-464C-9005-8BB54699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4619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577BE-A0A5-49EC-B14E-A9BC65E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34B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B34B42"/>
                </a:solidFill>
                <a:latin typeface="Noto Sans SC"/>
                <a:ea typeface="Noto Sans SC"/>
                <a:cs typeface="Noto Sans SC"/>
              </a:rPr>
              <a:t>传统观点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62B11-9168-4030-984B-AC38606D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rPr>
              <a:t>新证据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9E4CE-E8C3-4FF5-B919-0FB60F71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997FE-0E82-4483-B45F-70E59E1F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染色质高度压缩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0C05C-8C84-4132-AF7C-D9CE8893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2DE37-93DB-45F7-A392-53981628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转录基本关闭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FB9DE-8489-4F35-BC31-A585DF9C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7F810-3C7E-494E-9B81-194E5A4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翻译被认为缺乏常规核糖体环境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FD7D2-5F8C-41B0-9EDB-1840041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1F3C6-8C7A-4D4C-B092-9A167E64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精子主要是 DNA 递送载体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654D7-3AB5-435C-AD39-43DA41C2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02D0B-7D7B-4780-9CB9-E4AA9330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精子携带复杂 RNA cargo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52144-8C83-4165-B1E1-7473465E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289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462D8-1060-4B65-8921-C6CC68C5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获能期可检测 de novo protein synthesis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C1823-41E6-4CB8-9089-343BFE91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56718-33DF-424A-BAE8-68D7DC5F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cytoplasmic translation 证据增强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95225-4539-4921-863A-2BE94053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195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B45F7-2684-49D3-BDEA-80F3937E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4335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small RNA / tRNA cargo 可影响早期胚胎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B26BD-9C56-4ABE-A036-967C6B7B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97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879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03C5B-52C0-4992-BE68-50414A03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95900"/>
            <a:ext cx="704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谨慎点：成熟精子的广泛 de novo transcription 证据仍弱于 translation/RNA cargo，需要严控体细胞、精浆和残留 RNA 污染。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3259AA-BE5A-404F-A046-9DE9808B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Corda 2025; Tiwari 2025; Park 2025; sperm RNA reviews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5F67C-4A39-452B-AB6E-3E7EF1CE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17220316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4C2CB-BE1A-48C5-8790-7B322BD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BCB04-9082-425F-A184-1B677596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6C269-AE5E-4210-B66A-43618C0F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834FB-B254-450E-9E17-4018E497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CRYO 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9066B-37AC-4B23-BAC2-FE40F03B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880A7-FED2-48B4-B11C-1A3AEE0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冷冻-复苏的核心损伤，正好会打到 tRNA 修饰和 tRF 生成的敏感点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2129C-230B-4360-B0A6-19ADF05E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6293B-F6F7-4660-BA0C-D6AA0A24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9525">
            <a:solidFill>
              <a:srgbClr val="172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63F47-181A-4362-ACA8-E874DF2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冷冻-复苏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4DD3A-598C-4FAF-9F79-F2A8456E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7E0D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E7E0D5"/>
                </a:solidFill>
                <a:latin typeface="Noto Sans SC"/>
                <a:ea typeface="Noto Sans SC"/>
                <a:cs typeface="Noto Sans SC"/>
              </a:rPr>
              <a:t>渗透压冲击 / 低温 / 冰晶风险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48785-2C63-4C18-8E0C-FD8F76DA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14675"/>
            <a:ext cx="3333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F7D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DC625-90D8-4F97-AEF5-9208DAA2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2F7D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D38F0-6D17-47F7-AF37-2452B777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EE264-EBCE-49C8-A07F-1265690A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ROS 与线粒体损伤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CA50D-AFB5-496A-B4F3-E42DD13E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MMP 下降、脂质过氧化、抗氧化压力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A58B7-044B-4767-8988-709218DF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14675"/>
            <a:ext cx="3333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06C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910B5-8234-462F-89EB-2A6EB618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C9A"/>
          </a:solidFill>
          <a:ln xmlns:a="http://schemas.openxmlformats.org/drawingml/2006/main" w="0">
            <a:solidFill>
              <a:srgbClr val="406C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70460-4AD0-4A2A-A921-34BCB58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BE319E-BA8D-4950-AE78-6DAC7C3C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tRNA 修饰与裂解改变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8CC98-07FF-4476-89C7-0D8C0A9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m5C/m1A/m7G/U34/Ψ 变化；5' tRF、tRNA halves、mt-tRF 增加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22236-95BC-452F-8895-11C8F4BD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14675"/>
            <a:ext cx="3333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79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23E90-161E-4617-90AC-59D021B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1C4D4C-31E3-4A9A-B227-47C44F15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05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90A07-1120-496A-B226-1F371C6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765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获能期翻译受损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0FC0F-AE8F-48E0-9183-C08E1DE7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SPACA、运动、顶体反应相关蛋白新生不足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2BD73-4072-4A6F-B8AA-B699FBC1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14675"/>
            <a:ext cx="33337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34B4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4D8C0-45E0-4AC0-922A-80CF50CE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0">
            <a:solidFill>
              <a:srgbClr val="B34B4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B60EF-4992-47FE-8616-A93F3498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050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BA387-049C-4552-9CB8-002AB85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胚胎结局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364EA-C036-4E02-88C4-27213B87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cleavage、blastocyst quality、MZT/ZGA 转录程序改变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CB1A3A-CCD0-418E-B153-1382F90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Cryopreservation small RNA studies; ALKBH8/ROS; sperm translation 2025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C52BDF-4456-4198-BD42-6B575E8C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11509927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07E37-B60A-4F74-9C8B-04B89131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96C37-FC86-428D-B23E-108097D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04C61-1C38-40E9-90DC-9736E2D9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2C49C-D5D9-4817-BCE5-B34D1A31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PROJECT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3C56B-FC9D-4284-8E54-17A66065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96336-114E-4C2E-B0C1-38D6AA5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你的博士背景最适合做“冷冻精子 tRNA/tRF signature + 功能验证”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A524A-C19B-4637-A71D-D745158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FACF2-21F9-4EE0-A586-A4BDFDFB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76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6C9E5-0AE9-48F8-8903-63867595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D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F7D7A"/>
                </a:solidFill>
                <a:latin typeface="Noto Sans SC"/>
                <a:ea typeface="Noto Sans SC"/>
                <a:cs typeface="Noto Sans SC"/>
              </a:rPr>
              <a:t>A. tRF/tsRNA cargo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F1B2B-2A27-486C-A5DE-CDE18728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配对 fresh vs frozen-thawed small RNA-seq，寻找冷冻敏感 tRF/mt-tRF panel。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CFC6C-36DF-44B0-B63D-29E8BC94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476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4B492-8671-4201-A8A9-BC2560A5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06C9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406C9A"/>
                </a:solidFill>
                <a:latin typeface="Noto Sans SC"/>
                <a:ea typeface="Noto Sans SC"/>
                <a:cs typeface="Noto Sans SC"/>
              </a:rPr>
              <a:t>B. 完整 tRNA 修饰谱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33CCE-2DB9-4DBE-AE33-BA123D06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LC-MS/MS 或 demethylation-assisted tRNA-seq 定量 m5C、m1A、m7G、U34 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5944D-BFFE-41B9-950A-EC991B8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76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F8AE6-2FF7-4C83-85F7-60B97810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C. 获能期翻译能力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743E6-F01D-4DB2-AC87-719C1D7C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SUnSET/FUNCAT + CHX/chloramphenicol，检测 cytoplasmic 与 mitochondrial translation。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F0726-587B-4134-BE7B-AE470076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4762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9D0C5C-2333-4448-BE8A-373BB88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34B4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B34B42"/>
                </a:solidFill>
                <a:latin typeface="Noto Sans SC"/>
                <a:ea typeface="Noto Sans SC"/>
                <a:cs typeface="Noto Sans SC"/>
              </a:rPr>
              <a:t>D. 胚胎影响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95210-D2B8-4151-9127-6419DD1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动物 IVF/ICSI；2-cell/4-cell/囊胚 RNA-seq，验证 ZGA 和代谢通路。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9EF25-EDB1-4562-AAEA-EB2937CB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推荐先做 A + C，形成 biomarker 与机制双线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256B9-73C1-44BD-BCB4-FABAF0BE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1404747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8BA16-E372-4647-8185-D4AA5CC9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D2E4E-0D73-46EE-89A2-0DB38EB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ED07C-07AD-4721-BE60-2CF07F5F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FEDAE-EE99-4989-8EDC-079F5A0B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MINIMUM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E2C4A-CC01-4EF3-9A34-D6F2F86F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078F9-0B0D-4EBF-A182-ED35B996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最小可行实验包：同一样本 split design 是成败关键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EF7EF-E548-4116-B517-6789EB61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414A8-A29A-4726-AE55-D523D459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F0E5B-F9B9-4B6C-9D04-165D3FDB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7269C-3A9C-464C-B4B8-26DA7F4E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配对样本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AD9D7-2DB6-4689-A9A0-F6559420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700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fresh / equilibration / frozen-thawed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C0850-EAC1-4E42-9210-1A7904CD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7FF1F-3A28-434A-ADFD-56C134D8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15413-782E-4ABA-A70B-ED3790F4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DCC10-081D-4ACE-97A6-990E9DA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精子质量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C06AA-932F-4F85-94E4-C3FF3B3E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700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CASA、ROS、MMP、膜完整性、顶体、DNA fragmentation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0CF9A-D738-4825-BA5D-B1EFD3D4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1595D-7531-4BFE-862F-C4938B74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7435B-3B66-464C-AA79-CE48B706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3E6FE-E94B-441A-A338-93FAA27F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RNA 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14571-606E-474F-B93C-1643BD0F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700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small RNA-seq 聚焦 tRF/tsRNA/mt-tRF；关键 tRF qPCR/Northern 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C2AB5-CC55-4CFD-BD64-23C4C7A6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B585B-081D-4127-8268-3EAF4DAC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DBE81-58BB-48D9-8EBF-7D2730FD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048BE-7340-4FA2-B7EB-3243264D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修饰层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28A79F-82A1-4071-B4FB-93D1ED6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700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LC-MS/MS 或专用 tRNA-seq 验证 m5C、m1A、m7G、U34 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CEF92-FB5C-440E-B926-4AD26A5F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56E92-A9B9-41D8-9368-AD70C77C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9C038-99DD-4C33-9794-6056774B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D4200-CE1F-49C6-A151-67BC8712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功能层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1E80AE-17F3-4FD8-B2B4-80EC8EDD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700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获能翻译标记 + IVF/精卵结合/早期胚胎质量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90C987-4254-449C-8B60-AAFFBFE8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建议动物模型先行，再扩展到人类临床样本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38B364-2CEC-4F46-98D4-01B0236A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20224525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E18A9-21D4-4F68-9571-44B80BF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76F4F-4A69-4196-A08D-EE6626C6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EB7AE-8185-4B26-82BF-AC7FEF5B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A7E3B-B98C-4485-A082-28BB5696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ASSAY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15882-3BAA-41A6-92CB-C130AF7E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1838E-2323-4F48-91D6-7140242B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普通 small RNA-seq 不够：tRNA 修饰会制造强烈测序偏差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09042-5582-42E3-B4AE-64D7BF43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74216-D015-4F30-A305-C5FCBDBD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E0FDA-1207-428E-B44C-F2DF0332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192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rPr>
              <a:t>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49EC0-2427-4984-B430-CE6FAAD3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146E0-87BC-454F-A03B-4DA38684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192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同一射精样本 split；密度梯度或 swim-up；体细胞污染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F40BB-4DCA-43A5-90E3-8225C94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9F1C8-8B2B-4515-8211-0578B978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RNA 提取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47FA4-0C2C-4D62-A6E1-8AD26D0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85297-4355-40F0-915C-0E3C179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03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DTT / Proteinase K / 机械破碎优化，记录精子裂解效率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83EA8-9610-48AA-8629-F5A7240D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7FD1A-985C-4797-9D90-58EA1865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rPr>
              <a:t>测序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64C05-2A0B-44C6-A7AA-95137C63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667FB-437F-4AB0-94A6-09912BB1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813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tRF mapper + demethylation/ARM/DM-tRNAseq 类策略，避免只按 miRNA 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DCF34-53A8-4DE0-948C-EB67D8F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2DAF2-B1CB-474B-89B7-C9081B8D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修饰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01A6E-E3B9-4262-9200-FC4D8FB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09181-691C-41A1-B41D-E615FF18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624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LC-MS/MS 做修饰核苷定量；必要时分离小 RNA 与完整 tRNA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8C655-68EA-4266-BA7D-48B5EB0A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9B025-FCA2-41D1-86B0-1AA49D80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F7D7A"/>
                </a:solidFill>
                <a:latin typeface="Noto Sans SC"/>
                <a:ea typeface="Noto Sans SC"/>
                <a:cs typeface="Noto Sans SC"/>
              </a:rPr>
              <a:t>因果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A567A1-8D95-4C7C-9EB6-982C979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96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7EE8E5-26AE-43C3-B2B6-511700EC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4347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tRF mimic/inhibitor 或 small RNA fraction 微注射，注意天然修饰缺失问题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C0A4E-3469-48EC-82E3-6BADCC82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技术路线用于降低 RT block、mapping 和污染解释风险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22905-ADB9-4758-93C6-717DD906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195910016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652CA-266F-44EE-8BCB-2EA06988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5B903-E31F-4903-9067-DA62A2C3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658E7-2924-47DC-B29C-0C633EE9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BC7BE-B691-4579-AB55-EAD9ED2E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STORY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CAD85-010F-414A-8376-114D0F40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CF919-6C13-446D-BE67-5F92096F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可形成一条完整机制链：冷冻应激 → tRNA/tRF 重塑 → 翻译/胚胎结局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5B1FD-DB45-4C39-818C-E21013D2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215E4-CA95-4B18-82F9-D9A7137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54F92-81EE-40C0-A62A-FE880C6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冷冻压力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1143B-9205-49A0-AAFC-AE4EE0D1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1E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8F1E8"/>
                </a:solidFill>
                <a:latin typeface="Noto Sans SC"/>
                <a:ea typeface="Noto Sans SC"/>
                <a:cs typeface="Noto Sans SC"/>
              </a:rPr>
              <a:t>ROS、线粒体损伤、膜和染色质应激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4476E-F1AF-41AD-B34A-8F3F21D9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4000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EAD20-2B38-4309-93BB-DB2C4A21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897C2-1939-4933-9969-02BCBD4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7A"/>
          </a:solidFill>
          <a:ln xmlns:a="http://schemas.openxmlformats.org/drawingml/2006/main" w="0">
            <a:solidFill>
              <a:srgbClr val="2F7D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F3818-72A2-49C4-9FD5-E9C7EC2D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tRNA 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C747A-3AFD-42F7-B7E0-8FF50199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1E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8F1E8"/>
                </a:solidFill>
                <a:latin typeface="Noto Sans SC"/>
                <a:ea typeface="Noto Sans SC"/>
                <a:cs typeface="Noto Sans SC"/>
              </a:rPr>
              <a:t>修饰谱变化 + tRNA cleavage + mt-tRF cargo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54E48-3B07-4907-B376-62CAE753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52750"/>
            <a:ext cx="4000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A6395-A473-45D1-B579-84B25C1D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0249C-6F91-46CF-97F1-C56919C2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C9A"/>
          </a:solidFill>
          <a:ln xmlns:a="http://schemas.openxmlformats.org/drawingml/2006/main" w="0">
            <a:solidFill>
              <a:srgbClr val="406C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E761E-52C7-43C0-B4AA-01BCA7DD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精子功能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D01E0-ABA1-496C-A9AB-250C4950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1E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8F1E8"/>
                </a:solidFill>
                <a:latin typeface="Noto Sans SC"/>
                <a:ea typeface="Noto Sans SC"/>
                <a:cs typeface="Noto Sans SC"/>
              </a:rPr>
              <a:t>获能期翻译、运动、顶体反应、精卵识别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37F5E-1B78-40E5-B2E8-1726068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4000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A4A8A-094A-4288-A3F2-A690FDAD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B748C-651E-4ACB-A4E6-EC8BC3D2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5265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1C05F0-7A74-4416-AC57-5EB37C3A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胚胎层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CD255-3DC6-4242-95F3-AA07605B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1E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8F1E8"/>
                </a:solidFill>
                <a:latin typeface="Noto Sans SC"/>
                <a:ea typeface="Noto Sans SC"/>
                <a:cs typeface="Noto Sans SC"/>
              </a:rPr>
              <a:t>MZT/ZGA、代谢基因、translation machinery、囊胚质量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E55FA-047D-4B99-9E0E-0CCA368E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00550"/>
            <a:ext cx="885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879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0A683-D012-4BAA-BD7E-2681FBAE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62475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论文故事线：从冷冻效率优化出发，找到可量化 signature，再用获能期翻译和早期胚胎窗口做机制闭环。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2D6AC1-27F9-4EF2-AF65-CA397239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这条链条可同时支撑 biomarker、机制和冷冻效率优化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9DC73C-AA68-49D6-8F47-6719D32E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13344638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8777C5-5D52-43A6-B860-A3F29877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0">
            <a:solidFill>
              <a:srgbClr val="FFFCF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604D0-2588-4BF1-8057-D180FBC8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B51F6-7567-439A-8B0B-84E3C50D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2A"/>
          </a:solidFill>
          <a:ln xmlns:a="http://schemas.openxmlformats.org/drawingml/2006/main" w="0">
            <a:solidFill>
              <a:srgbClr val="B8792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C7F46-2A65-4EC4-BDA7-BB9AED34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KEY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21CBE-5725-40E8-8674-20AE0645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BBB34-434E-44A1-8754-54E81667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066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优先精读这 8 篇，足够支撑开题框架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F375C-BC1F-4D44-BF95-E7D74FEF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2A7E4-1716-46F3-B143-21280B70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D05F9-04AF-4C51-ACC9-33EF9EB3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Li et al., Nat Commun 2026: mouse ORACLE-tRNAseq and MZT/ZGA translation coordination.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D313B-524F-466A-8949-802A036F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08B01-CFD1-41A2-B374-2177C6E1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Rappol et al., NAR 2024: zebrafish embryo tRNA expression and modification dynamics.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861FD-8CC9-482B-A4E0-267A440E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5C3EE-92B4-481D-819B-4F698C9F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Lin et al., 2018: METTL1/WDR4-mediated m7G tRNA methylome in mESCs.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07E5E-7704-40D6-9544-BFC91FC4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279D9-A8F3-48A5-8A86-43641090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Flores et al., Cell Rep 2017; Blanco et al., EMBO J 2014: NSUN2, tRNA cleavage and neurodevelopment.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391C8-3F78-4E47-BB3F-0F5F1DA3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E33FE-C5E0-46ED-B27C-0ED1FC45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Nakai et al., iScience 2024; Endres et al., PLoS ONE 2015: ALKBH8, U34, ROS and embryo phenotypes.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9105C-B719-4C89-BE25-83EEA17A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BA6AC-1576-4EDE-B2E0-C5015E92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14825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Corda et al., J Cell Physiol 2025; Tiwari et al., Commun Biol 2025: sperm cytoplasmic translation.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30F6F-FF8B-47B9-8254-5C8D1139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7.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48D52-4C12-4666-A7EC-BC4F515A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Chen et al., Science 2016; Sharma et al., Dev Cell 2018: sperm tsRNA and embryo development.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AE57D-6B04-4720-9072-61204562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B8792A"/>
                </a:solidFill>
                <a:latin typeface="Noto Sans SC"/>
                <a:ea typeface="Noto Sans SC"/>
                <a:cs typeface="Noto Sans SC"/>
              </a:rPr>
              <a:t>8.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71227-98B6-4EAE-81A7-FCE37646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17212B"/>
                </a:solidFill>
                <a:latin typeface="Noto Sans SC"/>
                <a:ea typeface="Noto Sans SC"/>
                <a:cs typeface="Noto Sans SC"/>
              </a:rPr>
              <a:t>Tomar et al., Nature 2024: sperm-borne mitochondrial RNAs and paternal diet inheritance.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8F7CB-1735-45C1-A0C5-8F15AAB4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完整表格见 references.tsv；开放全文 PDF 见 literature_pdfs/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A895A-215A-48E4-87FB-1E848512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543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defRPr>
            </a:pPr>
            <a:r>
              <a:rPr sz="638" b="0">
                <a:solidFill>
                  <a:srgbClr val="53606C"/>
                </a:solidFill>
                <a:latin typeface="Noto Sans SC"/>
                <a:ea typeface="Noto Sans SC"/>
                <a:cs typeface="Noto Sans SC"/>
              </a:rPr>
              <a:t>tRNA modification / embryo development / sperm cryopreservation</a:t>
            </a:r>
          </a:p>
        </p:txBody>
      </p:sp>
    </p:spTree>
    <p:extLst>
      <p:ext uri="{BB962C8B-B14F-4D97-AF65-F5344CB8AC3E}">
        <p14:creationId xmlns:p14="http://schemas.microsoft.com/office/powerpoint/2010/main" val="12686548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2026-06-04T15:40:12.2960000Z</dcterms:created>
  <dcterms:modified xsi:type="dcterms:W3CDTF">2026-06-04T15:40:12.2960000Z</dcterms:modified>
</coreProperties>
</file>