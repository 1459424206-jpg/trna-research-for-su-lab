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85800"/>
            <a:ext cx="164592" cy="5257800"/>
          </a:xfrm>
          <a:prstGeom prst="rect">
            <a:avLst/>
          </a:prstGeom>
          <a:solidFill>
            <a:srgbClr val="2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91440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324D"/>
                </a:solidFill>
                <a:latin typeface="Microsoft YaHei"/>
              </a:rPr>
              <a:t>tRNA结构与修饰如何决定识别/解码方式，以及如何构建可查询的修饰指纹数据库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3317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16173"/>
                </a:solidFill>
                <a:latin typeface="Microsoft YaHei"/>
              </a:rPr>
              <a:t>基于当前工作区已收集材料的专题提取与整合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926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Microsoft YaHei"/>
              </a:rPr>
              <a:t>聚焦两个问题：
1. 识别/解码机制
2. 修饰指纹数据库</a:t>
            </a:r>
          </a:p>
        </p:txBody>
      </p:sp>
      <p:pic>
        <p:nvPicPr>
          <p:cNvPr id="7" name="Picture 6" descr="tRNA_structure_schematic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914400"/>
            <a:ext cx="356616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1. 提取范围与回答框架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457200"/>
            <a:ext cx="7863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E6F7"/>
                </a:solidFill>
                <a:latin typeface="Microsoft YaHei"/>
              </a:rPr>
              <a:t>材料来源：当前工作区已整理的四专题报告、paper_extraction、图注索引与深度摘要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1F2937"/>
                </a:solidFill>
                <a:latin typeface="Microsoft YaHei"/>
              </a:defRPr>
            </a:pPr>
            <a:r>
              <a:t>问题 A：tRNA 的结构与修饰，如何决定其被识别和进一步影响解码？</a:t>
            </a:r>
          </a:p>
          <a:p>
            <a:pPr>
              <a:defRPr sz="2100">
                <a:solidFill>
                  <a:srgbClr val="1F2937"/>
                </a:solidFill>
                <a:latin typeface="Microsoft YaHei"/>
              </a:defRPr>
            </a:pPr>
            <a:r>
              <a:t>问题 B：如何把这些分散在文献、质谱、测序和结构研究中的证据整理为可查询数据库？</a:t>
            </a:r>
          </a:p>
          <a:p>
            <a:pPr>
              <a:defRPr sz="2100">
                <a:solidFill>
                  <a:srgbClr val="1F2937"/>
                </a:solidFill>
                <a:latin typeface="Microsoft YaHei"/>
              </a:defRPr>
            </a:pPr>
            <a:r>
              <a:t>回答思路：先提取“识别/解码机制”，再抽象成“数据库字段与证据模型”。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029200" cy="4389120"/>
          </a:xfrm>
          <a:prstGeom prst="roundRect">
            <a:avLst/>
          </a:prstGeom>
          <a:solidFill>
            <a:srgbClr val="EAF2F9"/>
          </a:solidFill>
          <a:ln>
            <a:solidFill>
              <a:srgbClr val="B5C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554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Microsoft YaHei"/>
              </a:rPr>
              <a:t>本次高频使用的代表性论文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96596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Microsoft YaHei"/>
              </a:defRPr>
            </a:pPr>
            <a:r>
              <a:t>METTL6–SerRS–tRNA（PMID 38918637）</a:t>
            </a:r>
          </a:p>
          <a:p>
            <a:pPr>
              <a:defRPr sz="1800">
                <a:solidFill>
                  <a:srgbClr val="1F2937"/>
                </a:solidFill>
                <a:latin typeface="Microsoft YaHei"/>
              </a:defRPr>
            </a:pPr>
            <a:r>
              <a:t>OB-fold / Trbp111（PMID 39075051）</a:t>
            </a:r>
          </a:p>
          <a:p>
            <a:pPr>
              <a:defRPr sz="1800">
                <a:solidFill>
                  <a:srgbClr val="1F2937"/>
                </a:solidFill>
                <a:latin typeface="Microsoft YaHei"/>
              </a:defRPr>
            </a:pPr>
            <a:r>
              <a:t>Trl1 ligase（PMID 40563009）</a:t>
            </a:r>
          </a:p>
          <a:p>
            <a:pPr>
              <a:defRPr sz="1800">
                <a:solidFill>
                  <a:srgbClr val="1F2937"/>
                </a:solidFill>
                <a:latin typeface="Microsoft YaHei"/>
              </a:defRPr>
            </a:pPr>
            <a:r>
              <a:t>DM-DMS-MaPseq（PMID 40447571）</a:t>
            </a:r>
          </a:p>
          <a:p>
            <a:pPr>
              <a:defRPr sz="1800">
                <a:solidFill>
                  <a:srgbClr val="1F2937"/>
                </a:solidFill>
                <a:latin typeface="Microsoft YaHei"/>
              </a:defRPr>
            </a:pPr>
            <a:r>
              <a:t>Cas12a3 / PARIS / METTL1 / oxidative desulfuration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2. 识别与解码的总体框架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tRNA被识别并不依赖单一信号，而是由三级结构、反密码子环、3'端、可变臂、氨酰化状态和修饰状态共同决定。</a:t>
            </a:r>
          </a:p>
          <a:p>
            <a:pPr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tRNA修饰既改变局部化学环境，也改变空间构象与柔性，从而影响修饰酶、连接酶、核糖体、病毒/免疫系统和装配复合体的读取方式。</a:t>
            </a:r>
          </a:p>
          <a:p>
            <a:pPr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决定“识别”的结构标记与决定“解码”的翻译标记高度耦合：同一修饰既可能被酶识别，也可能改变氨酰化、核糖体进入或密码子选择。</a:t>
            </a:r>
          </a:p>
        </p:txBody>
      </p:sp>
      <p:pic>
        <p:nvPicPr>
          <p:cNvPr id="5" name="Picture 4" descr="tRNA_structure_schematic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34440"/>
            <a:ext cx="4709160" cy="3139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37960" y="54864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A7D"/>
                </a:solidFill>
                <a:latin typeface="Microsoft YaHei"/>
              </a:rPr>
              <a:t>结构定位是后续理解修饰、末端和解码差异的基础。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3. 哪些因素在决定“被谁识别、如何解码”？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965960" cy="3520440"/>
          </a:xfrm>
          <a:prstGeom prst="roundRect">
            <a:avLst/>
          </a:prstGeom>
          <a:solidFill>
            <a:srgbClr val="EEF4FA"/>
          </a:solidFill>
          <a:ln>
            <a:solidFill>
              <a:srgbClr val="C7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83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Microsoft YaHei"/>
              </a:rPr>
              <a:t>结构骨架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331720"/>
            <a:ext cx="1645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3B4C"/>
                </a:solidFill>
                <a:latin typeface="Microsoft YaHei"/>
              </a:rPr>
              <a:t>三叶草/ L 型折叠、受体臂、反密码子臂、可变臂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554480"/>
            <a:ext cx="1965960" cy="3520440"/>
          </a:xfrm>
          <a:prstGeom prst="roundRect">
            <a:avLst/>
          </a:prstGeom>
          <a:solidFill>
            <a:srgbClr val="EEF4FA"/>
          </a:solidFill>
          <a:ln>
            <a:solidFill>
              <a:srgbClr val="C7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783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Microsoft YaHei"/>
              </a:rPr>
              <a:t>末端与化学状态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2331720"/>
            <a:ext cx="1645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3B4C"/>
                </a:solidFill>
                <a:latin typeface="Microsoft YaHei"/>
              </a:rPr>
              <a:t>3' CCA 尾、2'-phosphate、是否氨酰化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554480"/>
            <a:ext cx="1965960" cy="3520440"/>
          </a:xfrm>
          <a:prstGeom prst="roundRect">
            <a:avLst/>
          </a:prstGeom>
          <a:solidFill>
            <a:srgbClr val="EEF4FA"/>
          </a:solidFill>
          <a:ln>
            <a:solidFill>
              <a:srgbClr val="C7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68112" y="1783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Microsoft YaHei"/>
              </a:rPr>
              <a:t>局部修饰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8112" y="2331720"/>
            <a:ext cx="1645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3B4C"/>
                </a:solidFill>
                <a:latin typeface="Microsoft YaHei"/>
              </a:rPr>
              <a:t>C32、A37、U34、G46 等关键位点修饰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554480"/>
            <a:ext cx="1965960" cy="3520440"/>
          </a:xfrm>
          <a:prstGeom prst="roundRect">
            <a:avLst/>
          </a:prstGeom>
          <a:solidFill>
            <a:srgbClr val="EEF4FA"/>
          </a:solidFill>
          <a:ln>
            <a:solidFill>
              <a:srgbClr val="C7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54112" y="1783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Microsoft YaHei"/>
              </a:rPr>
              <a:t>动态环境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2" y="2331720"/>
            <a:ext cx="1645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3B4C"/>
                </a:solidFill>
                <a:latin typeface="Microsoft YaHei"/>
              </a:rPr>
              <a:t>氧化应激、感染、衰老、线粒体/病毒环境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5E91"/>
                </a:solidFill>
                <a:latin typeface="Microsoft YaHei"/>
              </a:rPr>
              <a:t>结论：tRNA 识别不是看一个点，而是读取“结构 + 修饰 + 状态”的组合条形码。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4. 结构识别案例：METTL6、OB-fold 与 Trl1</a:t>
            </a:r>
          </a:p>
        </p:txBody>
      </p:sp>
      <p:pic>
        <p:nvPicPr>
          <p:cNvPr id="4" name="Picture 3" descr="PMC11479938_41594_2024_1341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365760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63440" y="128016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Microsoft YaHei"/>
              </a:defRPr>
            </a:pPr>
            <a:r>
              <a:t>METTL6–SerRS：SerRS不是旁观者，而是tRNASer底物选择因子；C32、A37与可变臂一起被读取。</a:t>
            </a:r>
          </a:p>
          <a:p>
            <a:pPr>
              <a:defRPr sz="1900">
                <a:solidFill>
                  <a:srgbClr val="1F2937"/>
                </a:solidFill>
                <a:latin typeface="Microsoft YaHei"/>
              </a:defRPr>
            </a:pPr>
            <a:r>
              <a:t>OB-fold / Trbp111：并非主要识别tRNA elbow，而是抓取成熟tRNA 3'端，说明3'末端是强通用标志。</a:t>
            </a:r>
          </a:p>
          <a:p>
            <a:pPr>
              <a:defRPr sz="1900">
                <a:solidFill>
                  <a:srgbClr val="1F2937"/>
                </a:solidFill>
                <a:latin typeface="Microsoft YaHei"/>
              </a:defRPr>
            </a:pPr>
            <a:r>
              <a:t>Trl1：对剪接后末端、2'-phosphate和空间构象敏感，说明末端化学状态本身可定义底物身份。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1663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icrosoft YaHei"/>
              </a:rPr>
              <a:t>本地图示：METTL6–SerRS–tRNA 结构（PMID 38918637）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5. 修饰如何改写解码：m3C32、m7G46、mcm5s2U34</a:t>
            </a:r>
          </a:p>
        </p:txBody>
      </p:sp>
      <p:pic>
        <p:nvPicPr>
          <p:cNvPr id="4" name="Picture 3" descr="PMC11231295_41467_2024_49796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325880"/>
            <a:ext cx="3474720" cy="19197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28016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m3C32：影响抗密码子环微环境和翻译保真度，是“局部构象重塑”的经典例子。</a:t>
            </a:r>
          </a:p>
          <a:p>
            <a:pPr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m7G46：METTL1/WDR4缺失会导致特定tRNA下调、密码子停顿增加和翻译效率下降，并引发衰老表型。</a:t>
            </a:r>
          </a:p>
          <a:p>
            <a:pPr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mcm5s2U34：增强对A/G结尾双密码子的解码；与mRNA上的m6A状态耦合，影响核糖体碰撞与mRNA降解。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52120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icrosoft YaHei"/>
              </a:rPr>
              <a:t>METTL1 / m7G46 衰老工作（PMID 38977661）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6. 动态状态与非经典识别：氧化、免疫、病毒装配</a:t>
            </a:r>
          </a:p>
        </p:txBody>
      </p:sp>
      <p:pic>
        <p:nvPicPr>
          <p:cNvPr id="4" name="Picture 3" descr="PMC12976133_41467_2026_70126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3474720" cy="4105133"/>
          </a:xfrm>
          <a:prstGeom prst="rect">
            <a:avLst/>
          </a:prstGeom>
        </p:spPr>
      </p:pic>
      <p:pic>
        <p:nvPicPr>
          <p:cNvPr id="5" name="Picture 4" descr="PMC12851939_41586_2025_9852_Fig1_HTM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71600"/>
            <a:ext cx="3474720" cy="30993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0" y="14173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氧化去硫化把 xm5s2U → xm5h2U，降低氨酰化和A位点识别。</a:t>
            </a:r>
          </a:p>
          <a:p>
            <a:pPr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Cas12a3 切除 3' CCA tail，把tRNA作为免疫靶标。</a:t>
            </a:r>
          </a:p>
          <a:p>
            <a:pPr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PARIS 切宿主 tRNALys；poxvirus选择缺失 mcm5s2U34 的 tRNA 做装配伴侣。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7. 主题一的可提炼结论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识别/解码的核心并非“哪一个修饰存在”，而是“哪个结构单元在什么状态下被谁读取”。</a:t>
            </a:r>
          </a:p>
          <a:p>
            <a:pPr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3'端、反密码子环、可变臂和关键修饰位点是最常见的被读取区域。</a:t>
            </a:r>
          </a:p>
          <a:p>
            <a:pPr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修饰既能作为识别标签，也能作为翻译开关，甚至在氧化/感染/衰老条件下发生二次转换。</a:t>
            </a:r>
          </a:p>
          <a:p>
            <a:pPr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因此，后续整理不能只收“修饰位点”，必须同时收“结构位置、条件、证据和功能后果”。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8. 为什么需要“修饰指纹数据库”？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1F2937"/>
                </a:solidFill>
                <a:latin typeface="Microsoft YaHei"/>
              </a:defRPr>
            </a:pPr>
            <a:r>
              <a:t>因为同一修饰可能同时有结构、生化、测序和功能多种证据。</a:t>
            </a:r>
          </a:p>
          <a:p>
            <a:pPr>
              <a:defRPr sz="2100">
                <a:solidFill>
                  <a:srgbClr val="1F2937"/>
                </a:solidFill>
                <a:latin typeface="Microsoft YaHei"/>
              </a:defRPr>
            </a:pPr>
            <a:r>
              <a:t>因为同一位点在不同条件下会表现为不同状态：存在/缺失/转化/片段继承。</a:t>
            </a:r>
          </a:p>
          <a:p>
            <a:pPr>
              <a:defRPr sz="2100">
                <a:solidFill>
                  <a:srgbClr val="1F2937"/>
                </a:solidFill>
                <a:latin typeface="Microsoft YaHei"/>
              </a:defRPr>
            </a:pPr>
            <a:r>
              <a:t>因为后续查询通常不是“有没有修饰”，而是“什么条件下、以什么证据、导致什么后果”。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463040"/>
            <a:ext cx="4754880" cy="4297680"/>
          </a:xfrm>
          <a:prstGeom prst="roundRect">
            <a:avLst/>
          </a:prstGeom>
          <a:solidFill>
            <a:srgbClr val="F2F7FB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7830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Microsoft YaHei"/>
              </a:rPr>
              <a:t>数据库要回答的典型问题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24028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Microsoft YaHei"/>
              </a:defRPr>
            </a:pPr>
            <a:r>
              <a:t>哪些修饰位于U34且会在应激下转化？</a:t>
            </a:r>
          </a:p>
          <a:p>
            <a:pPr>
              <a:defRPr sz="1800">
                <a:solidFill>
                  <a:srgbClr val="1F2937"/>
                </a:solidFill>
                <a:latin typeface="Microsoft YaHei"/>
              </a:defRPr>
            </a:pPr>
            <a:r>
              <a:t>哪些条目同时有LC-MS和结构证据？</a:t>
            </a:r>
          </a:p>
          <a:p>
            <a:pPr>
              <a:defRPr sz="1800">
                <a:solidFill>
                  <a:srgbClr val="1F2937"/>
                </a:solidFill>
                <a:latin typeface="Microsoft YaHei"/>
              </a:defRPr>
            </a:pPr>
            <a:r>
              <a:t>哪些tsRNA片段保留了来源tRNA的修饰并具备表型作用？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9. 数据库的最小实体模型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920240" cy="1828800"/>
          </a:xfrm>
          <a:prstGeom prst="roundRect">
            <a:avLst/>
          </a:prstGeom>
          <a:solidFill>
            <a:srgbClr val="EAF2F9"/>
          </a:solidFill>
          <a:ln>
            <a:solidFill>
              <a:srgbClr val="9CB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2148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Microsoft YaHei"/>
              </a:rPr>
              <a:t>tRNA实体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633472"/>
            <a:ext cx="1700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34155"/>
                </a:solidFill>
                <a:latin typeface="Microsoft YaHei"/>
              </a:rPr>
              <a:t>成熟体 / 前体 / 线粒体 / tsRNA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874519"/>
            <a:ext cx="1920240" cy="1828800"/>
          </a:xfrm>
          <a:prstGeom prst="roundRect">
            <a:avLst/>
          </a:prstGeom>
          <a:solidFill>
            <a:srgbClr val="EAF2F9"/>
          </a:solidFill>
          <a:ln>
            <a:solidFill>
              <a:srgbClr val="9CB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2148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Microsoft YaHei"/>
              </a:rPr>
              <a:t>位点实体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8648" y="2633472"/>
            <a:ext cx="1700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34155"/>
                </a:solidFill>
                <a:latin typeface="Microsoft YaHei"/>
              </a:rPr>
              <a:t>Sprinzl位置 + 结构域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874519"/>
            <a:ext cx="1920240" cy="1828800"/>
          </a:xfrm>
          <a:prstGeom prst="roundRect">
            <a:avLst/>
          </a:prstGeom>
          <a:solidFill>
            <a:srgbClr val="EAF2F9"/>
          </a:solidFill>
          <a:ln>
            <a:solidFill>
              <a:srgbClr val="9CB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148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Microsoft YaHei"/>
              </a:rPr>
              <a:t>修饰实体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633472"/>
            <a:ext cx="1700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34155"/>
                </a:solidFill>
                <a:latin typeface="Microsoft YaHei"/>
              </a:rPr>
              <a:t>标准名 + 化学类别 + writer/eraser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874519"/>
            <a:ext cx="1920240" cy="1828800"/>
          </a:xfrm>
          <a:prstGeom prst="roundRect">
            <a:avLst/>
          </a:prstGeom>
          <a:solidFill>
            <a:srgbClr val="EAF2F9"/>
          </a:solidFill>
          <a:ln>
            <a:solidFill>
              <a:srgbClr val="9CB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2148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Microsoft YaHei"/>
              </a:rPr>
              <a:t>证据实体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2633472"/>
            <a:ext cx="1700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34155"/>
                </a:solidFill>
                <a:latin typeface="Microsoft YaHei"/>
              </a:rPr>
              <a:t>MS / seq / structure / function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874519"/>
            <a:ext cx="2148840" cy="1828800"/>
          </a:xfrm>
          <a:prstGeom prst="roundRect">
            <a:avLst/>
          </a:prstGeom>
          <a:solidFill>
            <a:srgbClr val="EAF2F9"/>
          </a:solidFill>
          <a:ln>
            <a:solidFill>
              <a:srgbClr val="9CB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1488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Microsoft YaHei"/>
              </a:rPr>
              <a:t>条件实体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7" y="2633472"/>
            <a:ext cx="19293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34155"/>
                </a:solidFill>
                <a:latin typeface="Microsoft YaHei"/>
              </a:rPr>
              <a:t>物种 / 组织 / 感染 / 应激 / 发育阶段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5E91"/>
                </a:solidFill>
                <a:latin typeface="Microsoft YaHei"/>
              </a:rPr>
              <a:t>最小原则：一条修饰记录必须能回答“是什么tRNA、哪个位点、什么修饰、在什么条件下、被什么方法看见、带来什么后果”。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10. 建议字段：从位点表升级为证据对象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24D"/>
                </a:solidFill>
                <a:latin typeface="Microsoft YaHei"/>
              </a:rPr>
              <a:t>建议字段组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10972800" cy="512064"/>
          </a:xfrm>
          <a:prstGeom prst="rect">
            <a:avLst/>
          </a:prstGeom>
          <a:solidFill>
            <a:srgbClr val="F7FAFD"/>
          </a:solidFill>
          <a:ln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Microsoft YaHei"/>
              </a:rPr>
              <a:t>tRNA身份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490472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Microsoft YaHei"/>
              </a:rPr>
              <a:t>物种、亚细胞定位、tRNA基因、isodecoder、氨基酸、anticodon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29384"/>
            <a:ext cx="10972800" cy="512064"/>
          </a:xfrm>
          <a:prstGeom prst="rect">
            <a:avLst/>
          </a:prstGeom>
          <a:solidFill>
            <a:srgbClr val="EDF4FA"/>
          </a:solidFill>
          <a:ln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0253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Microsoft YaHei"/>
              </a:rPr>
              <a:t>位点坐标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02536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Microsoft YaHei"/>
              </a:rPr>
              <a:t>canonical位点、Sprinzl位点、所在结构域（反密码子环/D环/T环/可变臂/受体臂）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41448"/>
            <a:ext cx="10972800" cy="512064"/>
          </a:xfrm>
          <a:prstGeom prst="rect">
            <a:avLst/>
          </a:prstGeom>
          <a:solidFill>
            <a:srgbClr val="F7FAFD"/>
          </a:solidFill>
          <a:ln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Microsoft YaHei"/>
              </a:rPr>
              <a:t>修饰定义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51460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Microsoft YaHei"/>
              </a:rPr>
              <a:t>MODOMICS符号、标准短名、化学类别、writer/eraser/reader、前体与转化产物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953512"/>
            <a:ext cx="10972800" cy="512064"/>
          </a:xfrm>
          <a:prstGeom prst="rect">
            <a:avLst/>
          </a:prstGeom>
          <a:solidFill>
            <a:srgbClr val="EDF4FA"/>
          </a:solidFill>
          <a:ln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2666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Microsoft YaHei"/>
              </a:rPr>
              <a:t>检测方法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026664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Microsoft YaHei"/>
              </a:rPr>
              <a:t>LC-MS/MS、MLC-seq、mim-tRNAseq、TRAC-seq、PANDORA-seq、Nanopore RNA004等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465576"/>
            <a:ext cx="10972800" cy="512064"/>
          </a:xfrm>
          <a:prstGeom prst="rect">
            <a:avLst/>
          </a:prstGeom>
          <a:solidFill>
            <a:srgbClr val="F7FAFD"/>
          </a:solidFill>
          <a:ln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3872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Microsoft YaHei"/>
              </a:rPr>
              <a:t>指纹特征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538728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Microsoft YaHei"/>
              </a:rPr>
              <a:t>mismatch谱、RT stop、cleavage score、basecalling error、indel、termination、coverage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977640"/>
            <a:ext cx="10972800" cy="512064"/>
          </a:xfrm>
          <a:prstGeom prst="rect">
            <a:avLst/>
          </a:prstGeom>
          <a:solidFill>
            <a:srgbClr val="EDF4FA"/>
          </a:solidFill>
          <a:ln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05079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Microsoft YaHei"/>
              </a:rPr>
              <a:t>证据等级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050792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Microsoft YaHei"/>
              </a:rPr>
              <a:t>直接质谱、测序推断、结构生物学、扰动实验证据、计算预测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489704"/>
            <a:ext cx="10972800" cy="512064"/>
          </a:xfrm>
          <a:prstGeom prst="rect">
            <a:avLst/>
          </a:prstGeom>
          <a:solidFill>
            <a:srgbClr val="F7FAFD"/>
          </a:solidFill>
          <a:ln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56285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Microsoft YaHei"/>
              </a:rPr>
              <a:t>功能后果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562856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Microsoft YaHei"/>
              </a:rPr>
              <a:t>aminoacylation、codon decoding、ribosome stalling、translation efficiency、RNA stability、stress phenotype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001768"/>
            <a:ext cx="10972800" cy="512064"/>
          </a:xfrm>
          <a:prstGeom prst="rect">
            <a:avLst/>
          </a:prstGeom>
          <a:solidFill>
            <a:srgbClr val="EDF4FA"/>
          </a:solidFill>
          <a:ln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Microsoft YaHei"/>
              </a:rPr>
              <a:t>来源追踪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507492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Microsoft YaHei"/>
              </a:rPr>
              <a:t>PMID/DOI、图号、GitHub工具、数据集编号、处理参数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11. 数据摄取与证据分层流程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325880"/>
            <a:ext cx="438912" cy="438912"/>
          </a:xfrm>
          <a:prstGeom prst="ellipse">
            <a:avLst/>
          </a:prstGeom>
          <a:solidFill>
            <a:srgbClr val="2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3716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307592"/>
            <a:ext cx="9875520" cy="475488"/>
          </a:xfrm>
          <a:prstGeom prst="roundRect">
            <a:avLst/>
          </a:prstGeom>
          <a:solidFill>
            <a:srgbClr val="EEF4FA"/>
          </a:solidFill>
          <a:ln>
            <a:solidFill>
              <a:srgbClr val="C7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371600"/>
            <a:ext cx="9235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Microsoft YaHei"/>
              </a:rPr>
              <a:t>统一参考层：tRNAscan-SE / GtRNAdb / MODOMICS / reference construction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075688"/>
            <a:ext cx="438912" cy="438912"/>
          </a:xfrm>
          <a:prstGeom prst="ellipse">
            <a:avLst/>
          </a:prstGeom>
          <a:solidFill>
            <a:srgbClr val="2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1214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2057400"/>
            <a:ext cx="9875520" cy="475488"/>
          </a:xfrm>
          <a:prstGeom prst="roundRect">
            <a:avLst/>
          </a:prstGeom>
          <a:solidFill>
            <a:srgbClr val="EEF4FA"/>
          </a:solidFill>
          <a:ln>
            <a:solidFill>
              <a:srgbClr val="C7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2121408"/>
            <a:ext cx="9235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Microsoft YaHei"/>
              </a:rPr>
              <a:t>直接化学层：LC-MS/MS / MLC-seq / 文献补充表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825496"/>
            <a:ext cx="438912" cy="438912"/>
          </a:xfrm>
          <a:prstGeom prst="ellipse">
            <a:avLst/>
          </a:prstGeom>
          <a:solidFill>
            <a:srgbClr val="2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871215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2807208"/>
            <a:ext cx="9875520" cy="475488"/>
          </a:xfrm>
          <a:prstGeom prst="roundRect">
            <a:avLst/>
          </a:prstGeom>
          <a:solidFill>
            <a:srgbClr val="EEF4FA"/>
          </a:solidFill>
          <a:ln>
            <a:solidFill>
              <a:srgbClr val="C7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2871215"/>
            <a:ext cx="9235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Microsoft YaHei"/>
              </a:rPr>
              <a:t>测序指纹层：mim-tRNAseq / TRAC-seq / PANDORA-seq / Nanopore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575303"/>
            <a:ext cx="438912" cy="438912"/>
          </a:xfrm>
          <a:prstGeom prst="ellipse">
            <a:avLst/>
          </a:prstGeom>
          <a:solidFill>
            <a:srgbClr val="2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621023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3557015"/>
            <a:ext cx="9875520" cy="475488"/>
          </a:xfrm>
          <a:prstGeom prst="roundRect">
            <a:avLst/>
          </a:prstGeom>
          <a:solidFill>
            <a:srgbClr val="EEF4FA"/>
          </a:solidFill>
          <a:ln>
            <a:solidFill>
              <a:srgbClr val="C7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3621023"/>
            <a:ext cx="9235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Microsoft YaHei"/>
              </a:rPr>
              <a:t>结构层：cryo-EM / X-ray / 突变验证 / 图号索引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325112"/>
            <a:ext cx="438912" cy="438912"/>
          </a:xfrm>
          <a:prstGeom prst="ellipse">
            <a:avLst/>
          </a:prstGeom>
          <a:solidFill>
            <a:srgbClr val="2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4370831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306824"/>
            <a:ext cx="9875520" cy="475488"/>
          </a:xfrm>
          <a:prstGeom prst="roundRect">
            <a:avLst/>
          </a:prstGeom>
          <a:solidFill>
            <a:srgbClr val="EEF4FA"/>
          </a:solidFill>
          <a:ln>
            <a:solidFill>
              <a:srgbClr val="C7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4370831"/>
            <a:ext cx="9235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Microsoft YaHei"/>
              </a:rPr>
              <a:t>功能层：aminoacylation / Ribo-seq / translation / phenotype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5074920"/>
            <a:ext cx="438912" cy="438912"/>
          </a:xfrm>
          <a:prstGeom prst="ellipse">
            <a:avLst/>
          </a:prstGeom>
          <a:solidFill>
            <a:srgbClr val="2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12064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63040" y="5056632"/>
            <a:ext cx="9875520" cy="475488"/>
          </a:xfrm>
          <a:prstGeom prst="roundRect">
            <a:avLst/>
          </a:prstGeom>
          <a:solidFill>
            <a:srgbClr val="EEF4FA"/>
          </a:solidFill>
          <a:ln>
            <a:solidFill>
              <a:srgbClr val="C7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91640" y="5120640"/>
            <a:ext cx="9235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Microsoft YaHei"/>
              </a:rPr>
              <a:t>查询层：按修饰、位点、条件、方法、表型联合过滤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12. 优先收录条目：先做一版最小可用库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24D"/>
                </a:solidFill>
                <a:latin typeface="Microsoft YaHei"/>
              </a:rPr>
              <a:t>条目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7480" y="10972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24D"/>
                </a:solidFill>
                <a:latin typeface="Microsoft YaHei"/>
              </a:rPr>
              <a:t>因子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10972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24D"/>
                </a:solidFill>
                <a:latin typeface="Microsoft YaHei"/>
              </a:rPr>
              <a:t>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1097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24D"/>
                </a:solidFill>
                <a:latin typeface="Microsoft YaHei"/>
              </a:rPr>
              <a:t>功能场景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10789920" cy="530352"/>
          </a:xfrm>
          <a:prstGeom prst="rect">
            <a:avLst/>
          </a:prstGeom>
          <a:solidFill>
            <a:srgbClr val="F7FAFD"/>
          </a:solidFill>
          <a:ln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44752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Microsoft YaHei"/>
              </a:rPr>
              <a:t>m7G46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44475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icrosoft YaHei"/>
              </a:rPr>
              <a:t>METTL1/WDR4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44475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icrosoft YaHei"/>
              </a:rPr>
              <a:t>TRAC-seq + HPLC-MS + Ribo-seq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44475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icrosoft YaHei"/>
              </a:rPr>
              <a:t>senescence / aging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1901952"/>
            <a:ext cx="10789920" cy="530352"/>
          </a:xfrm>
          <a:prstGeom prst="rect">
            <a:avLst/>
          </a:prstGeom>
          <a:solidFill>
            <a:srgbClr val="EDF4FA"/>
          </a:solidFill>
          <a:ln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975104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Microsoft YaHei"/>
              </a:rPr>
              <a:t>m3C32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1975104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icrosoft YaHei"/>
              </a:rPr>
              <a:t>METTL6 + SerRS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975104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icrosoft YaHei"/>
              </a:rPr>
              <a:t>cryo-EM + mutagenesis +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1975104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icrosoft YaHei"/>
              </a:rPr>
              <a:t>translation fidelity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432304"/>
            <a:ext cx="10789920" cy="530352"/>
          </a:xfrm>
          <a:prstGeom prst="rect">
            <a:avLst/>
          </a:prstGeom>
          <a:solidFill>
            <a:srgbClr val="F7FAFD"/>
          </a:solidFill>
          <a:ln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5054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Microsoft YaHei"/>
              </a:rPr>
              <a:t>mcm5s2U34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250545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icrosoft YaHei"/>
              </a:rPr>
              <a:t>ELP3/ALKHB8相关通路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505456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icrosoft YaHei"/>
              </a:rPr>
              <a:t>LC-MS/MS + functional decoding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505456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icrosoft YaHei"/>
              </a:rPr>
              <a:t>oxidative stress / codon readout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962656"/>
            <a:ext cx="10789920" cy="530352"/>
          </a:xfrm>
          <a:prstGeom prst="rect">
            <a:avLst/>
          </a:prstGeom>
          <a:solidFill>
            <a:srgbClr val="EDF4FA"/>
          </a:solidFill>
          <a:ln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035808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Microsoft YaHei"/>
              </a:rPr>
              <a:t>mcm5h2U34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3035808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icrosoft YaHei"/>
              </a:rPr>
              <a:t>氧化去硫化产物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035808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icrosoft YaHei"/>
              </a:rPr>
              <a:t>LC-MS/MS + aminoacylation assay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03580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icrosoft YaHei"/>
              </a:rPr>
              <a:t>stress-responsive translation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493008"/>
            <a:ext cx="10789920" cy="530352"/>
          </a:xfrm>
          <a:prstGeom prst="rect">
            <a:avLst/>
          </a:prstGeom>
          <a:solidFill>
            <a:srgbClr val="F7FAFD"/>
          </a:solidFill>
          <a:ln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56616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Microsoft YaHei"/>
              </a:rPr>
              <a:t>I/Q/mcm5U/mcm5s2U/m5C/f5C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3566160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icrosoft YaHei"/>
              </a:rPr>
              <a:t>多种修饰酶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566160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icrosoft YaHei"/>
              </a:rPr>
              <a:t>LC-MS/MS + mim-tRNAseq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3566160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icrosoft YaHei"/>
              </a:rPr>
              <a:t>viral infection reprogramming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023360"/>
            <a:ext cx="10789920" cy="530352"/>
          </a:xfrm>
          <a:prstGeom prst="rect">
            <a:avLst/>
          </a:prstGeom>
          <a:solidFill>
            <a:srgbClr val="EDF4FA"/>
          </a:solidFill>
          <a:ln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096512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Microsoft YaHei"/>
              </a:rPr>
              <a:t>tsRNA-Glu-CTC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09651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icrosoft YaHei"/>
              </a:rPr>
              <a:t>片段实体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409651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icrosoft YaHei"/>
              </a:rPr>
              <a:t>PANDORA-seq + MLC-seq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409651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icrosoft YaHei"/>
              </a:rPr>
              <a:t>cholesterol / atherosclerosis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553712"/>
            <a:ext cx="10789920" cy="530352"/>
          </a:xfrm>
          <a:prstGeom prst="rect">
            <a:avLst/>
          </a:prstGeom>
          <a:solidFill>
            <a:srgbClr val="F7FAFD"/>
          </a:solidFill>
          <a:ln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4626864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Microsoft YaHei"/>
              </a:rPr>
              <a:t>m1A相关位点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97480" y="4626864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icrosoft YaHei"/>
              </a:rPr>
              <a:t>ALKB-1/ALKBH1轴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2040" y="4626864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icrosoft YaHei"/>
              </a:rPr>
              <a:t>RNC-seq + proteomics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4626864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icrosoft YaHei"/>
              </a:rPr>
              <a:t>mitochondrial quality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13. 最终建议与典型查询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Microsoft YaHei"/>
              </a:defRPr>
            </a:pPr>
            <a:r>
              <a:t>查询所有位于U34 wobble位点、在氧化应激下可发生化学转化的修饰及其对应tRNA家族。</a:t>
            </a:r>
          </a:p>
          <a:p>
            <a:pPr>
              <a:defRPr sz="1900">
                <a:solidFill>
                  <a:srgbClr val="1F2937"/>
                </a:solidFill>
                <a:latin typeface="Microsoft YaHei"/>
              </a:defRPr>
            </a:pPr>
            <a:r>
              <a:t>查询所有由TRAC-seq支持、且在METTL1缺失时cleavage score显著变化的m7G46条目。</a:t>
            </a:r>
          </a:p>
          <a:p>
            <a:pPr>
              <a:defRPr sz="1900">
                <a:solidFill>
                  <a:srgbClr val="1F2937"/>
                </a:solidFill>
                <a:latin typeface="Microsoft YaHei"/>
              </a:defRPr>
            </a:pPr>
            <a:r>
              <a:t>查询所有同时拥有结构证据和功能证据的m3C32条目，并显示对应SerRS或相关因子。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508760"/>
            <a:ext cx="4572000" cy="3931920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783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收束结论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286000"/>
            <a:ext cx="3840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主题一告诉我们：识别/解码是结构—修饰—状态的组合读取。</a:t>
            </a:r>
          </a:p>
          <a:p>
            <a:pPr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主题二告诉我们：数据库必须保存多模态证据，而不是只存位点。</a:t>
            </a:r>
          </a:p>
          <a:p>
            <a:pPr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最先值得落地的是：m7G46、m3C32、U34去硫化和感染重编程相关条目。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