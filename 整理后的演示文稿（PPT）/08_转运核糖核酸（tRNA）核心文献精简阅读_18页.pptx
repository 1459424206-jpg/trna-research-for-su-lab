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960120"/>
            <a:ext cx="10789920" cy="10515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</a:rPr>
              <a:t>tRNA 文献阅读汇报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057400"/>
            <a:ext cx="10607040" cy="5486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0">
                <a:solidFill>
                  <a:srgbClr val="A5A5A5"/>
                </a:solidFill>
                <a:latin typeface="Microsoft YaHei"/>
              </a:rPr>
              <a:t>功能、结构识别、免疫调控与治疗工程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349240"/>
            <a:ext cx="10607040" cy="6400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000" b="0">
                <a:solidFill>
                  <a:srgbClr val="A5A5A5"/>
                </a:solidFill>
                <a:latin typeface="Microsoft YaHei"/>
              </a:rPr>
              <a:t>11 篇文献 | 图文对应 | 黑底白字简版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</a:rPr>
              <a:t>总论点：tRNA 是可编程的结构平台，不只是翻译适配器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512064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结构识别：不同蛋白读取 3' CA、CCA tail、反密码子臂、可变臂或剪接末端。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动态修饰：m3C32、U34 硫修饰/脱硫、缺失 mcm5s2U34 都会改变 tRNA 的功能命运。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免疫节点：PARIS 和 Cas12a3 通过切割 tRNA 快速压低翻译。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治疗载体：工程化 suppressor tRNA 已能通过 AAV 在体内恢复蛋白功能。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417320"/>
            <a:ext cx="5029200" cy="44805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结构论文：METTL6、OB-fold、Trl1、PYROXD1、Cas12a3、vRNAP。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组学论文：DM-DMS-MaPseq 给出体内 tRNA 结构/互作图谱。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功能论文：PARIS、Cas12a3、氧化脱硫解释翻译调控和抗病毒。</a:t>
            </a:r>
          </a:p>
          <a:p>
            <a:pPr>
              <a:spcAft>
                <a:spcPts val="400"/>
              </a:spcAft>
              <a:defRPr sz="2100">
                <a:solidFill>
                  <a:srgbClr val="FFFFFF"/>
                </a:solidFill>
                <a:latin typeface="Microsoft YaHei"/>
              </a:defRPr>
            </a:pPr>
            <a:r>
              <a:t>转化论文：两篇 AAV/sup-tRNA 证明递送、表达、charging 和安全性是关键。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1. METTL6 通过 SerRS 精准选择 tRNASer 并写入 m3C32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38918637_METTL6_SerRS_tRNASer_m3C32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93" y="1024128"/>
            <a:ext cx="3749293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SerRS 不只是氨酰化酶，而是 METTL6 的 tRNASer 选择因子；METTL6 通过 m3C-RBD 重塑反密码子臂，使 C32 进入催化位点。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整体复合物：SerRS-tRNA-METTL6 的空间组织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m3C-RBD：夹持反密码子臂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反密码子臂重塑：让 C32/A37 区域可被催化读取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活性中心：C32 与 SAM/SAH 口袋的催化关系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Fig.5 可变臂界面：SerRS 与 METTL6 协同识别 tRNASer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2. OB-fold 蛋白主要读取成熟 tRNA 的 3' CA 末端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2_39075051_OB_fold_tRNA_3_CA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95" y="1024128"/>
            <a:ext cx="5657088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Trbp111 并非主要识别 elbow 或反密码子，而是抓住 tRNA 3' CA；Arc1p 在此基础上加入额外接触增强亲和力。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Fig.1 Trbp111/相关 OB-fold 与 tRNA 结合能力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Fig.2 共晶结构：Trbp111 二聚体捕获 tRNA 3' 端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Fig.3 突变验证 3' 端接触界面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Fig.4 Arc1p 结构域和点突变影响结合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Fig.5 改变 tRNA 3' 端会削弱 Arc1p 识别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Fig.6 minihelix/microhelix 说明局部末端结构足以贡献识别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Fig.7 OB-fold 核酸识别模式的结构比较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3. 病毒 tRNALys 变体可中和 PARIS 抗噬菌体防御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3_39111359_tRNALys_PARIS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8475"/>
            <a:ext cx="6903720" cy="4314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PARIS 感知病毒 Ocr 后释放 AriB，AriB 切割宿主 tRNALys 抑制翻译；T5 编码不易切割的 tRNALys 变体实现逃逸。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AriA/AriB 组装成大型螺旋桨状免疫复合物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AriA-AriB 界面是防御功能前提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Ocr 触发 AriB 从 PARIS 释放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PARIS 激活导致细胞死亡和翻译抑制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Fig.5 关键证据：PARIS 切 tRNALys，T5 tRNALys 抗切割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Fig.6 PARIS 类系统广泛分化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4. PYROXD1 以氧化还原依赖方式保护 RTCB tRNA 连接酶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4_40069351_PYROXD1_RTCB_tRNA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192" y="1024128"/>
            <a:ext cx="4654296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PYROXD1 的 C 端尾部遮挡 RTCB 催化中心；NADH/FAD 状态调控结合与释放，使保护和 Archease 激活可以错时发生。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RTCB-PYROXD1 复合物整体结构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PYROXD1 CTD 物理遮挡 RTCB 活性中心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FAD/NADH 状态驱动 PYROXD1 变构和 RTCB 招募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定时解离让 Archease 接管并激活 RTCB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5. DM-DMS-MaPseq 在活细胞中读取 tRNA 结构组和互作组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5_40447571_DM_DMS_MaPseq_tRNA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518475"/>
            <a:ext cx="6903720" cy="4314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体内 tRNA 折叠稳定，但 DMS 可及性与体外差异大，主要反映蛋白/核糖体互作；砷酸盐应激重塑细胞质和线粒体 tRNA 互作。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方法验证：DM-DMS-MaPseq 捕捉 RNA 可及性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核编码 tRNA 的体内/体外 DMS 图谱差异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DMS 保护信号对应蛋白和核糖体互作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氧化应激改变细胞质 tRNA 互作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Fig.5 线粒体 tRNA 的体内结构图谱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Fig.6 应激下线粒体 tRNA 互作变化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6. Trl1-LIG 结构揭示 tRNA 剪接末端的保守连接逻辑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6_40563009_Trl1_LIG_tRNA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95" y="1024128"/>
            <a:ext cx="5657088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CtTrl1-LIG 与活化 RNA 中间体结构定义了保守 RNA 结合界面，并解释 NTD/CTD 在底物定位、磷酸转移和 2'-P 识别中的分工。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Fig.1 Trl1 连接反应和 tRNA exon halves 底物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Fig.2 CtTrl1-LIG 与活化 RNA 的结构快照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Fig.3 RNA 结合界面和突变验证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Fig.4 将短 RNA 结构建模到 tRNA 剪接底物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Fig.5 与 T4 Rnl2 比较出保守末端定位逻辑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Fig.6 CTD 影响底物结合和连接效率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Fig.7 保守 Arg 识别 2'-phosphate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7. tRNA 可作为痘病毒 vRNAP 的装配伴侣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7_40908366_tRNA_vRNAP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95" y="1024128"/>
            <a:ext cx="5657088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缺少 mcm5s2U34 的 tRNAGln/Arg 被选择性招募，通过非经典反密码子构象桥接转录和 mRNA 加工因子，推动 vRNAP 装配。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Fig.1 体外重构 vRNAP 装配中间体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Fig.2 tRNA 参与的早期 PIC 结构中间体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Fig.3 tRNA-chaperoned assembly cycle 模型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Fig.4 完整 vRNAP 高分辨率结构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Fig.5 tRNAGln(UUG) 的非经典构象和多点接触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Fig.6 tRNA 修饰状态影响复合物形成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Fig.7 cryo-EM 密度中识别 tRNA 修饰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Fig.8 完整 vRNAP 被整体包装入病毒颗粒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8. AAV 递送 sup-tRNAArg 可恢复 RPE65-R44X 小鼠视觉功能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8_41407712_AAV_sup_tRNAArg_RPE65_R44X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93" y="1024128"/>
            <a:ext cx="3749293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工程化 sup-tRNAArg 识别 UGA PTC；scAAV8 递送恢复 RPE65 蛋白、ERG 和视觉行为，且未见明显全局 readthrough 毒性。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细胞中筛选更强的 sup-tRNAArg readthrough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scAAV8.A4T1 恢复 RPE65 蛋白表达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ERG 和锥细胞保护证明视网膜功能恢复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视觉 cliff 行为改善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Fig.5 H&amp;E、转录组和 ribosome profiling 支持安全性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9. Cas12a3 被目标 RNA 激活后优先切割 tRNA 3' CCA tail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9_41501459_Cas12a3_RNA_tRNA_3_CCA_tail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93" y="1024128"/>
            <a:ext cx="3749293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Cas12a3 识别 target RNA 后不主要清除 target，而是广泛切 tRNA 保守 3' CCA tail，造成生长停滞和抗噬菌体防御。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Cas12a3/Cas12a4 是 RNA 激活的 type V nuclease clade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直接证据：Cas12a3 优先切 tRNA 3' CCA tail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四元结构显示 tRNA 被装载到 Cas12a3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比较不同状态解析 tRNA 结合/切割机制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Fig.5 tRNA-like reporter 扩展多重 RNA 检测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10. AAV-NoSTOP(UGA) 将 UGA sup-tRNA 推向泛疾病递送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0_41555020_AAV_NoSTOP_UGA_UGA_sup_tRNA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693" y="1024128"/>
            <a:ext cx="3749293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NFS context、CuO-CymR 生产抑制系统和载体优化解决 UGA sup-tRNA 包装难题；单次 AAV 给药在两种 LSD 模型中恢复酶活。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Fig.1 NFS context 增强 UGA-sup-tRNAArg potency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Fig.2 CuO-CymR 在生产阶段压低 sup-tRNA 功能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Fig.3 优化 AAV 产量、纯度和基因组完整性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Fig.4 IduaKI/KI 小鼠中恢复 IDUA 活性</a:t>
            </a:r>
          </a:p>
          <a:p>
            <a:pPr>
              <a:spcAft>
                <a:spcPts val="400"/>
              </a:spcAft>
              <a:defRPr sz="1300">
                <a:solidFill>
                  <a:srgbClr val="FFFFFF"/>
                </a:solidFill>
                <a:latin typeface="Microsoft YaHei"/>
              </a:defRPr>
            </a:pPr>
            <a:r>
              <a:t>Fig.5 组织表达与 charging efficiency 解释疗效差异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50292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2300" b="1">
                <a:solidFill>
                  <a:srgbClr val="FFFFFF"/>
                </a:solidFill>
                <a:latin typeface="Microsoft YaHei"/>
              </a:rPr>
              <a:t>11. 氧化脱硫把 tRNA U34 修饰转化为翻译调控开关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841248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1_41807381_tRNA_U34__figur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795" y="1024128"/>
            <a:ext cx="5657088" cy="53035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3800" y="1024128"/>
            <a:ext cx="4160520" cy="12344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800" b="0">
                <a:solidFill>
                  <a:srgbClr val="FFFFFF"/>
                </a:solidFill>
                <a:latin typeface="Microsoft YaHei"/>
              </a:rPr>
              <a:t>xm5s2U34 在氧化环境中脱硫为 xm5h2U34，削弱部分 tRNA 的氨酰化和 AAR 解码效率，从而重塑氧化压力下的翻译输出。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43800" y="2359152"/>
            <a:ext cx="4160520" cy="310896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700" b="1">
                <a:solidFill>
                  <a:srgbClr val="A5A5A5"/>
                </a:solidFill>
                <a:latin typeface="Microsoft YaHei"/>
              </a:rPr>
              <a:t>图像对应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43800" y="2697480"/>
            <a:ext cx="4160520" cy="36118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Fig.1 2-thiouridine 衍生物及其脱硫产物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Fig.2 spike-in 实验证明脱硫产物可在细胞环境形成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Fig.3 质谱检测细胞质/线粒体 tRNA 的 h2U 衍生物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Fig.4 脱硫修饰降低特定翻译输出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Fig.5 Lys/Gln/Glu 等 tRNA 氨酰化下降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Fig.6 tRNALys 的 AAA/AAG 识别受影响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Fig.7 cryo-EM 解释 mcm5s2U34 与 mcm5h2U34 的解码差异</a:t>
            </a:r>
          </a:p>
          <a:p>
            <a:pPr>
              <a:spcAft>
                <a:spcPts val="400"/>
              </a:spcAft>
              <a:defRPr sz="1200">
                <a:solidFill>
                  <a:srgbClr val="FFFFFF"/>
                </a:solidFill>
                <a:latin typeface="Microsoft YaHei"/>
              </a:defRPr>
            </a:pPr>
            <a:r>
              <a:t>Fig.8 氧化压力-脱硫修饰-翻译调控模型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355080"/>
            <a:ext cx="1097280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00" b="0">
                <a:solidFill>
                  <a:srgbClr val="A5A5A5"/>
                </a:solidFill>
                <a:latin typeface="Microsoft YaHei"/>
              </a:rPr>
              <a:t>左侧为该论文主文图所在 PDF 页面缩略图；右侧为每张主文图的阅读结论。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结构识别：tRNA 的不同局部标志被不同机器读取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149840" cy="3474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METTL6：C32/反密码子臂 + SerRS 介导的 tRNASer 选择。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OB-fold：成熟 tRNA 的 3' CA 是通用成熟标志。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Trl1：剪接 exon halves 的末端化学状态和 2'-P 决定连接。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Cas12a3：受体茎、T 臂与 3' CCA tail 被装载到 RuvC 位点。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免疫与病毒：切 tRNA 是快速关闭翻译的有效策略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149840" cy="3474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PARIS：AriA 感知 Ocr 后释放 AriB，切 tRNALys。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T5：用不易切割的 tRNALys 变体逃逸 PARIS。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Cas12a3：目标 RNA 激活后切多种 tRNA 的 3' CCA tail。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共同逻辑：不需要降解所有 RNA，只要打断 tRNA 池即可压低翻译。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修饰与应激：tRNA 修饰把环境信号转成翻译变化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149840" cy="3474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m3C32：影响反密码子环结构和翻译保真度。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U34 硫修饰：提升 AAR 解码和氨酰化；氧化脱硫后效率下降。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vRNAP：选择缺少 mcm5s2U34 的 tRNAGln/Arg 作装配伴侣。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DM-DMS-MaPseq：可在体内读出应激下 tRNA 互作变化。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94360"/>
            <a:ext cx="1088136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</a:rPr>
              <a:t>治疗工程：suppressor tRNA 的瓶颈从 readthrough 转向递送与安全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17320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0149840" cy="34747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视网膜模型：scAAV8.sup-tRNAArg 恢复 RPE65 和视觉功能。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泛疾病 UGA 平台：NFS + CuO-CymR 改善 AAV 生产和体内活性。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关键变量：组织表达、charging efficiency、正常终止密码子 readthrough。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下一步问题：长期安全性、组织特异递送、不同 PTC context 的可预测性。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640080"/>
            <a:ext cx="10972800" cy="6858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结论：tRNA 是结构、调控和工程化治疗的交汇点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463040"/>
            <a:ext cx="11064240" cy="10972"/>
          </a:xfrm>
          <a:prstGeom prst="rect">
            <a:avLst/>
          </a:prstGeom>
          <a:solidFill>
            <a:srgbClr val="5A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0332720" cy="329184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看结构：tRNA 局部构象、末端和修饰是蛋白识别的主要信息层。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看功能：免疫系统和病毒都把 tRNA 当作翻译控制的高杠杆节点。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看应用：suppressor tRNA 已有体内疗效证据，但递送、charging 和安全性决定转化上限。</a:t>
            </a:r>
          </a:p>
          <a:p>
            <a:pPr>
              <a:spcAft>
                <a:spcPts val="400"/>
              </a:spcAft>
              <a:defRPr sz="2400">
                <a:solidFill>
                  <a:srgbClr val="FFFFFF"/>
                </a:solidFill>
                <a:latin typeface="Microsoft YaHei"/>
              </a:defRPr>
            </a:pPr>
            <a:r>
              <a:t>最值得深挖的方向：体内 tRNA structurome 如何预测工程 tRNA 的功能和副作用。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5715000"/>
            <a:ext cx="10607040" cy="384048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0">
                <a:solidFill>
                  <a:srgbClr val="A5A5A5"/>
                </a:solidFill>
                <a:latin typeface="Microsoft YaHei"/>
              </a:rPr>
              <a:t>建议精读顺序：METTL6 / Cas12a3 / 氧化脱硫 / AAV suppressor tRNA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